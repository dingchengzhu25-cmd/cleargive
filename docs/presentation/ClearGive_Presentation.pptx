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DFC35A11-1A07-3BAD-6A89-8455363EFCE1}">
          <p14:sldIdLst>
            <p14:sldId id="256"/>
          </p14:sldIdLst>
        </p14:section>
        <p14:section name="1 Background" id="{023B48BD-9214-AA22-57E8-37A3909D6C15}">
          <p14:sldIdLst>
            <p14:sldId id="257"/>
          </p14:sldIdLst>
        </p14:section>
        <p14:section name="2 Market &amp; competitors" id="{177ED787-0362-97FC-4025-853955BD4D45}">
          <p14:sldIdLst>
            <p14:sldId id="258"/>
            <p14:sldId id="259"/>
          </p14:sldIdLst>
        </p14:section>
        <p14:section name="3 Blockchain &amp; business model" id="{76AAB1DE-14B9-9547-B7E2-E55F7907C870}">
          <p14:sldIdLst>
            <p14:sldId id="260"/>
            <p14:sldId id="261"/>
          </p14:sldIdLst>
        </p14:section>
        <p14:section name="4 Technical model" id="{69F6931C-A9F0-64DF-9139-90913ABB0650}">
          <p14:sldIdLst>
            <p14:sldId id="262"/>
            <p14:sldId id="263"/>
            <p14:sldId id="264"/>
          </p14:sldIdLst>
        </p14:section>
        <p14:section name="5 Workflow &amp; demo" id="{609DF755-68FA-2621-ABC0-4392EF856924}">
          <p14:sldIdLst>
            <p14:sldId id="265"/>
            <p14:sldId id="266"/>
          </p14:sldIdLst>
        </p14:section>
        <p14:section name="6 Conclusion &amp; limitations" id="{633FA708-FB6E-4812-4FA9-B7A37C94043C}">
          <p14:sldIdLst>
            <p14:sldId id="267"/>
            <p14:sldId id="268"/>
          </p14:sldIdLst>
        </p14:section>
        <p14:section name="References" id="{CE53EC2E-CAFD-559E-B493-A953686A1B34}">
          <p14:sldIdLst>
            <p14:sldId id="269"/>
          </p14:sldIdLst>
        </p14:section>
        <p14:section name="Thank you" id="{3AF516C7-65A8-8DA9-EED2-6C050F482D4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48"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Donations (S$ bn)</c:v>
                </c:pt>
              </c:strCache>
            </c:strRef>
          </c:tx>
          <c:spPr>
            <a:solidFill>
              <a:srgbClr val="2B8060"/>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zh-CN" sz="1600" b="0" i="0" u="none" strike="noStrike" kern="1200" baseline="0">
                    <a:solidFill>
                      <a:srgbClr val="174D3A"/>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FY2021</c:v>
                </c:pt>
                <c:pt idx="1">
                  <c:v>FY2022</c:v>
                </c:pt>
                <c:pt idx="2">
                  <c:v>FY2023</c:v>
                </c:pt>
                <c:pt idx="3">
                  <c:v>FY2024</c:v>
                </c:pt>
              </c:strCache>
            </c:strRef>
          </c:cat>
          <c:val>
            <c:numRef>
              <c:f>Sheet1!$B$2:$B$5</c:f>
              <c:numCache>
                <c:formatCode>General</c:formatCode>
                <c:ptCount val="4"/>
                <c:pt idx="0">
                  <c:v>2.8</c:v>
                </c:pt>
                <c:pt idx="1">
                  <c:v>3.39</c:v>
                </c:pt>
                <c:pt idx="2">
                  <c:v>3.55</c:v>
                </c:pt>
                <c:pt idx="3">
                  <c:v>3.68</c:v>
                </c:pt>
              </c:numCache>
            </c:numRef>
          </c:val>
          <c:extLst>
            <c:ext xmlns:c16="http://schemas.microsoft.com/office/drawing/2014/chart" uri="{C3380CC4-5D6E-409C-BE32-E72D297353CC}">
              <c16:uniqueId val="{00000000-AB1E-47ED-8F60-0E87827F7E78}"/>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400" b="0" i="0" u="none" strike="noStrike" kern="1200" baseline="0">
                <a:solidFill>
                  <a:srgbClr val="1C2A23"/>
                </a:solidFill>
                <a:latin typeface="+mn-lt"/>
                <a:ea typeface="+mn-ea"/>
                <a:cs typeface="+mn-cs"/>
              </a:defRPr>
            </a:pPr>
            <a:endParaRPr lang="zh-CN"/>
          </a:p>
        </c:txPr>
        <c:crossAx val="2094734552"/>
        <c:crosses val="autoZero"/>
        <c:auto val="1"/>
        <c:lblAlgn val="ctr"/>
        <c:lblOffset val="100"/>
        <c:noMultiLvlLbl val="1"/>
      </c:catAx>
      <c:valAx>
        <c:axId val="2094734552"/>
        <c:scaling>
          <c:orientation val="minMax"/>
          <c:max val="4.5"/>
          <c:min val="0"/>
        </c:scaling>
        <c:delete val="0"/>
        <c:axPos val="l"/>
        <c:majorGridlines>
          <c:spPr>
            <a:ln w="9525" cap="flat" cmpd="sng" algn="ctr">
              <a:solidFill>
                <a:srgbClr val="C4DCCB"/>
              </a:solidFill>
              <a:prstDash val="solid"/>
              <a:round/>
            </a:ln>
          </c:spPr>
        </c:majorGridlines>
        <c:numFmt formatCode="0.0"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1C2A23"/>
                </a:solidFill>
                <a:latin typeface="+mn-lt"/>
                <a:ea typeface="+mn-ea"/>
                <a:cs typeface="+mn-cs"/>
              </a:defRPr>
            </a:pPr>
            <a:endParaRPr lang="zh-CN"/>
          </a:p>
        </c:txPr>
        <c:crossAx val="2094734554"/>
        <c:crosses val="autoZero"/>
        <c:crossBetween val="between"/>
        <c:majorUnit val="1"/>
      </c:valAx>
      <c:spPr>
        <a:solidFill>
          <a:srgbClr val="DDEFE2"/>
        </a:solidFill>
        <a:ln>
          <a:noFill/>
        </a:ln>
        <a:effectLst/>
      </c:spPr>
    </c:plotArea>
    <c:plotVisOnly val="1"/>
    <c:dispBlanksAs val="span"/>
    <c:showDLblsOverMax val="1"/>
    <c:extLst>
      <c:ext uri="{0b15fc19-7d7d-44ad-8c2d-2c3a37ce22c3}">
        <chartProps xmlns="https://web.wps.cn/et/2018/main" chartId="{1491ecca-0545-4ca8-b66c-ffcbd97e3f87}"/>
      </c:ext>
    </c:extLst>
  </c:chart>
  <c:spPr>
    <a:noFill/>
    <a:ln>
      <a:noFill/>
    </a:ln>
    <a:effectLst/>
  </c:spPr>
  <c:txPr>
    <a:bodyPr/>
    <a:lstStyle/>
    <a:p>
      <a:pPr>
        <a:defRPr lang="zh-CN"/>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Before donation</c:v>
                </c:pt>
              </c:strCache>
            </c:strRef>
          </c:tx>
          <c:spPr>
            <a:solidFill>
              <a:srgbClr val="A6C8B1"/>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rgbClr val="174D3A"/>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Donor</c:v>
                </c:pt>
                <c:pt idx="1">
                  <c:v>Campaign escrow</c:v>
                </c:pt>
                <c:pt idx="2">
                  <c:v>Fee vault</c:v>
                </c:pt>
                <c:pt idx="3">
                  <c:v>Supplier</c:v>
                </c:pt>
              </c:strCache>
            </c:strRef>
          </c:cat>
          <c:val>
            <c:numRef>
              <c:f>Sheet1!$B$2:$B$5</c:f>
              <c:numCache>
                <c:formatCode>General</c:formatCode>
                <c:ptCount val="4"/>
                <c:pt idx="0">
                  <c:v>200</c:v>
                </c:pt>
                <c:pt idx="1">
                  <c:v>0</c:v>
                </c:pt>
                <c:pt idx="2">
                  <c:v>0</c:v>
                </c:pt>
                <c:pt idx="3">
                  <c:v>0</c:v>
                </c:pt>
              </c:numCache>
            </c:numRef>
          </c:val>
          <c:extLst>
            <c:ext xmlns:c16="http://schemas.microsoft.com/office/drawing/2014/chart" uri="{C3380CC4-5D6E-409C-BE32-E72D297353CC}">
              <c16:uniqueId val="{00000000-DB67-4311-AB60-B1D072BBADA4}"/>
            </c:ext>
          </c:extLst>
        </c:ser>
        <c:ser>
          <c:idx val="1"/>
          <c:order val="1"/>
          <c:tx>
            <c:strRef>
              <c:f>Sheet1!$C$1</c:f>
              <c:strCache>
                <c:ptCount val="1"/>
                <c:pt idx="0">
                  <c:v>After donating 100</c:v>
                </c:pt>
              </c:strCache>
            </c:strRef>
          </c:tx>
          <c:spPr>
            <a:solidFill>
              <a:srgbClr val="2B8060"/>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1400" b="0" i="0" u="none" strike="noStrike" kern="1200" baseline="0">
                    <a:solidFill>
                      <a:srgbClr val="174D3A"/>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Donor</c:v>
                </c:pt>
                <c:pt idx="1">
                  <c:v>Campaign escrow</c:v>
                </c:pt>
                <c:pt idx="2">
                  <c:v>Fee vault</c:v>
                </c:pt>
                <c:pt idx="3">
                  <c:v>Supplier</c:v>
                </c:pt>
              </c:strCache>
            </c:strRef>
          </c:cat>
          <c:val>
            <c:numRef>
              <c:f>Sheet1!$C$2:$C$5</c:f>
              <c:numCache>
                <c:formatCode>General</c:formatCode>
                <c:ptCount val="4"/>
                <c:pt idx="0">
                  <c:v>99</c:v>
                </c:pt>
                <c:pt idx="1">
                  <c:v>100</c:v>
                </c:pt>
                <c:pt idx="2">
                  <c:v>1</c:v>
                </c:pt>
                <c:pt idx="3">
                  <c:v>0</c:v>
                </c:pt>
              </c:numCache>
            </c:numRef>
          </c:val>
          <c:extLst>
            <c:ext xmlns:c16="http://schemas.microsoft.com/office/drawing/2014/chart" uri="{C3380CC4-5D6E-409C-BE32-E72D297353CC}">
              <c16:uniqueId val="{00000001-DB67-4311-AB60-B1D072BBADA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300" b="0" i="0" u="none" strike="noStrike" kern="1200" baseline="0">
                <a:solidFill>
                  <a:srgbClr val="1C2A23"/>
                </a:solidFill>
                <a:latin typeface="+mn-lt"/>
                <a:ea typeface="+mn-ea"/>
                <a:cs typeface="+mn-cs"/>
              </a:defRPr>
            </a:pPr>
            <a:endParaRPr lang="zh-CN"/>
          </a:p>
        </c:txPr>
        <c:crossAx val="2094734552"/>
        <c:crosses val="autoZero"/>
        <c:auto val="1"/>
        <c:lblAlgn val="ctr"/>
        <c:lblOffset val="100"/>
        <c:noMultiLvlLbl val="1"/>
      </c:catAx>
      <c:valAx>
        <c:axId val="2094734552"/>
        <c:scaling>
          <c:orientation val="minMax"/>
          <c:max val="24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rot="0" spcFirstLastPara="0" vertOverflow="ellipsis" vert="horz" wrap="square" anchor="ctr" anchorCtr="1"/>
        <a:lstStyle/>
        <a:p>
          <a:pPr>
            <a:defRPr lang="zh-CN" sz="1300" b="0" i="0" u="none" strike="noStrike" kern="1200" baseline="0">
              <a:solidFill>
                <a:srgbClr val="1C2A23"/>
              </a:solidFill>
              <a:latin typeface="+mn-lt"/>
              <a:ea typeface="+mn-ea"/>
              <a:cs typeface="+mn-lt"/>
            </a:defRPr>
          </a:pPr>
          <a:endParaRPr lang="zh-CN"/>
        </a:p>
      </c:txPr>
    </c:legend>
    <c:plotVisOnly val="1"/>
    <c:dispBlanksAs val="span"/>
    <c:showDLblsOverMax val="1"/>
    <c:extLst>
      <c:ext uri="{0b15fc19-7d7d-44ad-8c2d-2c3a37ce22c3}">
        <chartProps xmlns="https://web.wps.cn/et/2018/main" chartId="{57e1794e-7960-4755-8fee-392ff7b92615}"/>
      </c:ext>
    </c:extLst>
  </c:chart>
  <c:spPr>
    <a:noFill/>
    <a:ln>
      <a:noFill/>
    </a:ln>
    <a:effectLst/>
  </c:spPr>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(≈15 s)</a:t>
            </a:r>
          </a:p>
          <a:p>
            <a:r>
              <a:t>Good afternoon. We are presenting ClearGive, a prototype for milestone-based donations, where money is released under predefined rules and every key approval and payment can be checked.</a:t>
            </a:r>
          </a:p>
          <a:p>
            <a:endParaRPr/>
          </a:p>
          <a:p>
            <a:r>
              <a:t>EVIDENCE STATUS</a:t>
            </a:r>
          </a:p>
          <a:p>
            <a:r>
              <a:t>Cover artwork is AI-generated conceptual illustration reused from the team’s draft deck; it is not a photograph of a real project.</a:t>
            </a:r>
          </a:p>
          <a:p>
            <a:endParaRPr/>
          </a:p>
          <a:p>
            <a:r>
              <a:t>SOURCES</a:t>
            </a:r>
          </a:p>
          <a:p>
            <a:r>
              <a:t>ClearGive demo, https://cleargive.pages.dev/demo (accessed 17 Oct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(≈40 s)</a:t>
            </a:r>
          </a:p>
          <a:p>
            <a:r>
              <a:t>Once a donation is made, three things are hard to see: the spending plan and its approvals, who controls the pooled money, and what was actually delivered. Surveys suggest this matters. In Singapore, 32 percent of non-donors cited fear of scams as a major reason for not giving. Globally, 36 percent said knowing how their money would be spent would encourage them to give. These are attitudes, not fraud rates. So our question is: how can donations be released under predefined conditions, with key decisions and payments independently verifiable?</a:t>
            </a:r>
          </a:p>
          <a:p>
            <a:endParaRPr/>
          </a:p>
          <a:p>
            <a:r>
              <a:t>EVIDENCE STATUS</a:t>
            </a:r>
          </a:p>
          <a:p>
            <a:r>
              <a:t>External survey statistics. NVPC figure: base = non-donors, a reason for not donating; +9 percentage points vs 2021 as reported by NVPC. CAF figure: one of the three things most likely to encourage donations; CAF does not state the base for this item, so it is not presented as a share of all respondents. No claim is made that this is the largest pain point or that blockchain prevents fraud. Illustration: AI-generated conceptual artwork.</a:t>
            </a:r>
          </a:p>
          <a:p>
            <a:endParaRPr/>
          </a:p>
          <a:p>
            <a:r>
              <a:t>SOURCES</a:t>
            </a:r>
          </a:p>
          <a:p>
            <a:r>
              <a:t>NVPC (2024). Giving in Singapore remains resilient: National Giving Study 2023. 12 June 2024. https://nvpc.org.sg/newsroom/national-giving-study-2023/</a:t>
            </a:r>
          </a:p>
          <a:p>
            <a:r>
              <a:t>Charities Aid Foundation (2025). World Giving Report 2025, p. 20 (55,836 respondents, 101 countries and territories). https://cdn.prod.website-files.com/67d1838beb72321adb3f57fc/684fe35981883f8156643c23_b73e54c572856504aefb9b02749ab5a0_CAF%20World%20Giving%20Report%202025.pdf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(≈35 s)</a:t>
            </a:r>
          </a:p>
          <a:p>
            <a:r>
              <a:t>Next, the market. We keep three numbers apart. Singapore charities received 3.68 billion dollars in donations in financial year 2024. Separately, global non-profit crowdfunding platforms earned about 294 million US dollars in revenue. Our own revenue is not estimated: under our proposal it is one percent of whatever volume runs through ClearGive. None of this is our addressable market. We start narrow, with schools and community groups buying from known suppliers, funded by donors and corporate sponsors.</a:t>
            </a:r>
          </a:p>
          <a:p>
            <a:endParaRPr/>
          </a:p>
          <a:p>
            <a:r>
              <a:t>EVIDENCE STATUS</a:t>
            </a:r>
          </a:p>
          <a:p>
            <a:r>
              <a:t>① and ② are external statistics with different units, regions and definitions; they are not plotted on one axis. ③ is a proposed pricing formula with an illustrative calculation only — no SAM, SOM, market share or demand validation has been measured. Payer roles are proposed.</a:t>
            </a:r>
          </a:p>
          <a:p>
            <a:endParaRPr/>
          </a:p>
          <a:p>
            <a:r>
              <a:t>SOURCES</a:t>
            </a:r>
          </a:p>
          <a:p>
            <a:r>
              <a:t>Office of the Commissioner of Charities (2026). Annual Report 2024, p. 15, chart ‘Annual Donations by Financial Year’ (S$ m: FY2021 2,796.5; FY2022 3,386.7; FY2023 3,547.8; FY2024 3,680.0). Footnote 14: compiled from annual submissions for financial years ended in each year; covers tax-deductible and non-tax-deductible donations. https://www.charities.gov.sg/PublishingImages/Resource-and-Training/Publications/COC-Annual-Reports/Documents/Commissioner%20of%20Charities%20Annual%20Report%202024.pdf</a:t>
            </a:r>
          </a:p>
          <a:p>
            <a:r>
              <a:t>Global Market Insights (2025). Non-profit Crowdfunding Platform Market Size, Forecasts 2034 (GMI13303, March 2025). Metric: revenue; 2024 value USD 293.5 m; CAGR 13.1% 2025–2034. https://www.gminsights.com/industry-analysis/non-profit-crowdfunding-platform-market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(≈35 s)</a:t>
            </a:r>
          </a:p>
          <a:p>
            <a:r>
              <a:t>How do existing platforms compare? According to their own terms, Giving.sg pays charities weekly whether or not a target is met, and donations are non-refundable. GoFundMe pays the organiser and offers its Giving Guarantee. The Giving Block passes crypto gifts to the nonprofit with on-chain transaction IDs. Where we found no official statement, we write ‘not verified’ rather than ‘no’. ClearGive’s difference is the combination: release only after two reviewers approve the same evidence, and a rule-based route for unspent funds.</a:t>
            </a:r>
          </a:p>
          <a:p>
            <a:endParaRPr/>
          </a:p>
          <a:p>
            <a:r>
              <a:t>EVIDENCE STATUS</a:t>
            </a:r>
          </a:p>
          <a:p>
            <a:r>
              <a:t>Competitor cells: documented mechanisms only, from official terms/help pages; ‘Not verified’ means no official source was found — not that the feature is absent. ClearGive column: demonstrated in the live demo, except pro-rata refunds, which are implemented and were verified by executing the demo’s compiled contract on a fresh local chain (two donors 600/400 → refunds 360/240) but are not shown in the guided walkthrough. Not an exhaustive competitor audit.</a:t>
            </a:r>
          </a:p>
          <a:p>
            <a:endParaRPr/>
          </a:p>
          <a:p>
            <a:r>
              <a:t>SOURCES</a:t>
            </a:r>
          </a:p>
          <a:p>
            <a:r>
              <a:t>Giving.sg (2025). Specific Terms of Use for Registered Charities, Organisations and Groundups. Last updated Sept 2025. https://www.giving.sg/doc/policy/4/For%20Registered%20Charities,%20Organisations%20and%20Groundups</a:t>
            </a:r>
          </a:p>
          <a:p>
            <a:r>
              <a:t>Giving.sg (2025). Specific Terms of Use for Donors and Volunteers. Sept 2025. https://www.giving.sg/doc/policy/2/For%20Donors%20&amp;%20Volunteers</a:t>
            </a:r>
          </a:p>
          <a:p>
            <a:r>
              <a:t>GoFundMe Help Centre: Bank transfer deadlines (updated 23 Sep 2026) https://support.gofundme.com/hc/en-us/articles/204119238 ; Receiving charity fundraiser payouts (16 Jul 2026) https://support.gofundme.com/hc/en-gb/articles/360056093332 ; Donor Protection: The GoFundMe Giving Guarantee (27 Jan 2026) https://support.gofundme.com/hc/en-us/articles/203604704 ; Unexpected refund from GoFundMe (17 Jun 2026) https://support.gofundme.com/hc/en-us/articles/360001980367</a:t>
            </a:r>
          </a:p>
          <a:p>
            <a:r>
              <a:t>The Giving Block: How to Accept Bitcoin Donations https://thegivingblock.com/resources/accept-bitcoin-donations ; DAF Donations onboarding (4 Aug 2026) https://docs.thegivingblock.com/docs/daf-donations-nonprofit-onboarding-flow ; Refund policy FAQ https://faq.thegivingblock.com/faq/frequently-asked-questions/what-is-the-giving-blocks-donation-refund-policy ; Receipt/transaction FAQ https://faq.thegivingblock.com/faq/frequently-asked-questions/how-long-should-it-take-for-my-receipt-to-arrive-transaction-to-show-on-dashboard</a:t>
            </a:r>
          </a:p>
          <a:p>
            <a:r>
              <a:t>ClearGive_Code.zip — pnpm test: 72 passed, 0 failed (17 Oct 2026); claim-to-test map in docs/SUBMISSION-VERIFICATION.md: tests/contracts.test.mjs — “factory rejects conflicted reviewers, suppliers, invalid deadlines and empty budgets”.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(≈45 s)</a:t>
            </a:r>
          </a:p>
          <a:p>
            <a:r>
              <a:t>So why a blockchain? A shared record lets every party see the same history. Programmable escrow fixes the supplier, budget and deadlines, so no single operator can redirect funds. Signed approvals make payment authority attributable, and hashing makes changes to evidence detectable. Each has a trade-off: public visibility, rigidity, possible collusion, and a hash cannot prove an invoice is real. If everyone trusts one institution, a database and escrow account is simpler and cheaper. Our contribution is not a new blockchain technology: it combines fixed supplier payments, evidence-version approvals and claims on unspent funds in one campaign escrow workflow. And our local demo proves those rules, not decentralised validation.</a:t>
            </a:r>
          </a:p>
          <a:p>
            <a:endParaRPr/>
          </a:p>
          <a:p>
            <a:r>
              <a:t>EVIDENCE STATUS</a:t>
            </a:r>
          </a:p>
          <a:p>
            <a:r>
              <a:t>Contribution statement: a mechanism combination for a specific donation scenario, implemented in the demo contracts and verified by the code submission’s test suite (72/72 passed); no claim of inventing new blockchain technology. Design reasoning following the Wüst &amp; Gervais decision framework. Contract properties (fixed terms, no withdraw/owner/upgrade function in the ABI, two approvals of the same revision, Keccak-256 evidence hash) are implemented and demonstrated in the local demo. Multi-party validation value applies only to a production deployment on a shared network — proposed, not demonstrated.</a:t>
            </a:r>
          </a:p>
          <a:p>
            <a:endParaRPr/>
          </a:p>
          <a:p>
            <a:r>
              <a:t>SOURCES</a:t>
            </a:r>
          </a:p>
          <a:p>
            <a:r>
              <a:t>Wüst, K., &amp; Gervais, A. (2018). Do you need a blockchain? 2018 Crypto Valley Conference on Blockchain Technology (CVCBT), IEEE, pp. 45–54. https://doi.org/10.1109/CVCBT.2018.00011</a:t>
            </a:r>
          </a:p>
          <a:p>
            <a:r>
              <a:t>ClearGive demo, ‘How it works’ and ‘Rules &amp; responsibilities’ (accessed 17 Oct 2026). ClearGive technical description (team document) ClearGive Technical Description (team document, 2026), §1, §5.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(≈45 s)</a:t>
            </a:r>
          </a:p>
          <a:p>
            <a:r>
              <a:t>Our business model keeps the gift whole. A donor who gives 100 dollars pays 101. The full 100 goes into escrow and reaches the supplier only when the conditions are met. The extra dollar goes to a fee vault: 60 cents for operations and 40 cents for reviewer credits. Why would reviewers take part? They earn donation-only credits to support other charities. Each campaign pays one reward, split equally once both reviewers have reviewed, whether they approve or reject, so a 100-dollar gift gives each reviewer 20 cents. Credits cannot be cashed out. Random pairing, identity checks and appeals are still proposals, and real-world pricing is not yet validated.</a:t>
            </a:r>
          </a:p>
          <a:p>
            <a:endParaRPr/>
          </a:p>
          <a:p>
            <a:r>
              <a:t>EVIDENCE STATUS</a:t>
            </a:r>
          </a:p>
          <a:p>
            <a:r>
              <a:t>BUILT and tested (CGUSD demo tokens): 1% fee added on top; separate fee vault; 60/40 operations/reviewer split; fee retained on refunds; one reviewer award per campaign, split equally after both assigned reviewers participate (rejections included), no extra award for revised invoices; credits are donation-only, cannot be withdrawn or transferred, cannot fund the reviewer’s own campaign; credit-funded refunds return as credits. The operations reserve has no payout function and pays no real server or gas costs. PROPOSED: real-money pricing, sponsor admin fee, reporting services, open reviewer application with identity checks, random assignment, reputation, spot checks and appeals. Random pairing would reduce but not eliminate collusion. Cost coverage, payment charges and taxes are unvalidated.</a:t>
            </a:r>
          </a:p>
          <a:p>
            <a:endParaRPr/>
          </a:p>
          <a:p>
            <a:r>
              <a:t>SOURCES</a:t>
            </a:r>
          </a:p>
          <a:p>
            <a:r>
              <a:t>ClearGive (2026) demo, ‘Rules &amp; responsibilities’ and ‘Demo controls → Prepared presentation scenarios’ (Newborn Essentials: earned reviewer credits donated onward), accessed 17 Oct 2026.</a:t>
            </a:r>
          </a:p>
          <a:p>
            <a:r>
              <a:t>ClearGive_Code.zip — pnpm test: 72 passed, 0 failed (17 Oct 2026); claim-to-test map in docs/SUBMISSION-VERIFICATION.md: tests/fees.test.mjs — “both reviews award equal donation-only credits once, including rejection; credit refunds cannot cash out”; “a 1% fee is atomic, separately backed, correctly allocated and excluded from donation refunds”.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(≈35 s)</a:t>
            </a:r>
          </a:p>
          <a:p>
            <a:r>
              <a:t>Now the technical model. Everything in the demo runs in one browser. Cloudflare serves the site, ethers.js turns clicks into contract calls, and Ganache runs a local Ethereum-compatible chain, chain ID 1337. It hosts the CGUSD demo token, a campaign factory, and one escrow contract per campaign. Full invoices, profiles and delivery statements stay in application storage. The chain keeps balances, rules, approvals and events, plus a Keccak-256 fingerprint linking each approval to one evidence revision. Reviewers judge evidence; they are not blockchain validators.</a:t>
            </a:r>
          </a:p>
          <a:p>
            <a:endParaRPr/>
          </a:p>
          <a:p>
            <a:r>
              <a:t>EVIDENCE STATUS</a:t>
            </a:r>
          </a:p>
          <a:p>
            <a:r>
              <a:t>DEMONSTRATED: website, ethers.js calls, browser Ganache chain (Chain ID 1337), DemoUSD contract (symbol CGUSD), ClearGiveFeeFactory, per-campaign ClearGiveFeeCampaign escrow, ClearGiveFeeVault, off-chain storage of evidence and signed statements, salted Keccak-256 evidence hashes (ethers keccak256 in app code). IMPLEMENTED · NOT DEMONSTRATED: the separate ‘XSGD platform’ page contains code for a Sepolia testnet deployment and an XSGD factory, but no shared contract is configured or deployed — so it is not drawn as a component. PROPOSED: user-owned wallets, bank interface, production evidence service. Discrepancy: the team’s earlier deck described the escrow as ‘virtual SGD token’ and ‘salted hash’ only; this slide uses the technical description’s component names, confirmed against the demo bundle.</a:t>
            </a:r>
          </a:p>
          <a:p>
            <a:endParaRPr/>
          </a:p>
          <a:p>
            <a:r>
              <a:t>SOURCES</a:t>
            </a:r>
          </a:p>
          <a:p>
            <a:r>
              <a:t>ClearGive Technical Description (team document, 2026), §1 System Architecture, §5 Evidence Storage.</a:t>
            </a:r>
          </a:p>
          <a:p>
            <a:r>
              <a:t>ClearGive demo, ‘How it works’ → ‘Your sandbox environment’ (Chain ID 1337, demo token 0x17e9…2352, factory 0xd800…9bF7), accessed 17 Oct 2026; app bundle app.js inspected for contract names.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(≈35 s)</a:t>
            </a:r>
          </a:p>
          <a:p>
            <a:r>
              <a:t>Here is one donation on chain. Mint gives a new donor 200 CGUSD, an internal demo token: the interface says SGD, but no cash or reserve stands behind it. The donation then takes two transactions. Approve authorises the contract to take 101, and nothing moves. Donate moves 100 into escrow and 1 into the fee vault in one step. The receipt records the transaction hash, block number and events. The donor goes from 200 to 99, and escrow holds 100. Ganache provides development ETH for gas.</a:t>
            </a:r>
          </a:p>
          <a:p>
            <a:endParaRPr/>
          </a:p>
          <a:p>
            <a:r>
              <a:t>EVIDENCE STATUS</a:t>
            </a:r>
          </a:p>
          <a:p>
            <a:r>
              <a:t>DEMONSTRATED in a recorded guided walkthrough (17 Oct 2026): mint 200 → approve → donate; wallet 200 → 99; escrow +100; fee vault +1; events FeeCharged (donation 100, fee 1, total 101), Donated and FeeAllocated (operations 0.60, reviewerCredits 0.40). Block numbers depend on the workspace history and will differ in a live run (block 28 in the recorded example). Discrepancy: Technical Description §2 shows Donor 200 → 100 (zero-fee version); the current demo adds the 1% fee, so the balance is 99. Demo-token mechanics only; no real-money fee collection.</a:t>
            </a:r>
          </a:p>
          <a:p>
            <a:endParaRPr/>
          </a:p>
          <a:p>
            <a:r>
              <a:t>SOURCES</a:t>
            </a:r>
          </a:p>
          <a:p>
            <a:r>
              <a:t>ClearGive (2026) demo, guided walkthrough and donation receipt (recorded example).</a:t>
            </a:r>
          </a:p>
          <a:p>
            <a:r>
              <a:t>ClearGive technical description (team document), §2.</a:t>
            </a:r>
          </a:p>
          <a:p>
            <a:r>
              <a:t>ClearGive_Code.zip — pnpm test: 72 passed, 0 failed (17 Oct 2026); claim-to-test map in docs/SUBMISSION-VERIFICATION.md: tests/fees.test.mjs — “insufficient total balance or allowance rolls back the donation, fee and all counters”.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(≈40 s)</a:t>
            </a:r>
          </a:p>
          <a:p>
            <a:r>
              <a:t>Release follows a short chain of checks. The target must be reached. The organiser submits invoice evidence as a hash, and both reviewers must approve that same revision. If a reviewer rejects it, the organiser can submit replacement evidence and approvals start again. Then a transaction calls release, paying the fixed supplier the fixed amount, once. If a deadline is missed, the first donor to claim freezes the unspent balance, and each eligible donor claims a share. Money already paid to a supplier is not refunded. Four cautions: time alone moves nothing, payment is not delivery, a matching hash is not proof of truth, and our local chain can be reset.</a:t>
            </a:r>
          </a:p>
          <a:p>
            <a:endParaRPr/>
          </a:p>
          <a:p>
            <a:r>
              <a:t>EVIDENCE STATUS</a:t>
            </a:r>
          </a:p>
          <a:p>
            <a:r>
              <a:t>BUILT and tested: release needs full funding and two approvals of the current revision; evidence can be replaced only after a rejection, which resets approvals and makes stale signatures invalid; each milestone pays once to its fixed supplier; refunds cannot open before the applicable deadline; claimRefund() opens refunds itself if nobody has called openRefunds(); refunds block later releases; refunds cover unspent principal pro rata, excluding fees and completed supplier payments; duplicate and non-donor claims fail. A campaign can therefore have both supplier payments and refunds.</a:t>
            </a:r>
          </a:p>
          <a:p>
            <a:endParaRPr/>
          </a:p>
          <a:p>
            <a:r>
              <a:t>SOURCES</a:t>
            </a:r>
          </a:p>
          <a:p>
            <a:r>
              <a:t>ClearGive technical description (team document), §3–4.</a:t>
            </a:r>
          </a:p>
          <a:p>
            <a:r>
              <a:t>ClearGive_Code.zip — pnpm test: 72 passed, 0 failed (17 Oct 2026); claim-to-test map in docs/SUBMISSION-VERIFICATION.md: tests/contracts.test.mjs — “current 1% supplier payment requires full funding and two distinct approvals; organiser receives nothing”; “rejection resets both approvals and stale evidence signatures cannot approve revised evidence”; “duplicate approvals and duplicate milestone payments revert”; “partial spending refunds only the remainder, proportionally; no double claims or later releases”.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(≈30 s)</a:t>
            </a:r>
          </a:p>
          <a:p>
            <a:r>
              <a:t>From the user’s side, there are seven steps and five roles. The organiser fixes each milestone’s budget, supplier and reviewers. The donor gives, and the contract holds the funds. The organiser submits the invoice: ten reading kits at ten dollars. Both reviewers approve, anyone triggers payment, and the supplier and organiser sign a delivery statement off-chain. If a deadline is missed, donors can claim only what is still unspent. The contract refuses to create a campaign unless all these roles use different addresses.</a:t>
            </a:r>
          </a:p>
          <a:p>
            <a:endParaRPr/>
          </a:p>
          <a:p>
            <a:r>
              <a:t>EVIDENCE STATUS</a:t>
            </a:r>
          </a:p>
          <a:p>
            <a:r>
              <a:t>DEMONSTRATED in the guided walkthrough: accounts, organisation reviews (signed off-chain statements, not external accreditation), S$100 campaign, donation, invoice ‘10 kits × SGD 10’, two approvals, supplier payment, signed delivery statement (no funds moved). Deadlines are campaign-level. Refunds cover unspent escrow only; already-paid supplier funds are not automatically recoverable. Distinct addresses do not establish independent people.</a:t>
            </a:r>
          </a:p>
          <a:p>
            <a:endParaRPr/>
          </a:p>
          <a:p>
            <a:r>
              <a:t>SOURCES</a:t>
            </a:r>
          </a:p>
          <a:p>
            <a:r>
              <a:t>ClearGive (2026) demo, guided walkthrough, accessed 17 Oct 2026.</a:t>
            </a:r>
          </a:p>
          <a:p>
            <a:r>
              <a:t>ClearGive_Code.zip — pnpm test: 72 passed, 0 failed (17 Oct 2026); claim-to-test map in docs/SUBMISSION-VERIFICATION.md: tests/contracts.test.mjs — “factory rejects conflicted reviewers, suppliers, invalid deadlines and empty budgets”; “donors and organiser cannot review; reviewers cannot submit organiser evidence”.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(≈40 s + ≤45 s live demo)</a:t>
            </a:r>
          </a:p>
          <a:p>
            <a:r>
              <a:t>Let me show the demo. … On the left is a recorded donation: 100 into escrow, a one-dollar fee, 99 left in the wallet, and a trail of evidence, two approvals and the supplier payment. Block numbers will differ in a live workspace. Now a live refund case, Learning Kits for a Fresh Start. It collected 1,000 dollars and paid 400 to its supplier before the deadline passed. Alex gave 600, so he received 360. Mei gave 400 and can still claim 240. The separate 10-dollar fee is kept, and the 400 already paid stays with the supplier.</a:t>
            </a:r>
          </a:p>
          <a:p>
            <a:endParaRPr/>
          </a:p>
          <a:p>
            <a:r>
              <a:t>DEMO CUE</a:t>
            </a:r>
          </a:p>
          <a:p>
            <a:r>
              <a:t>Allow up to 45 seconds. Before presenting, open https://cleargive.pages.dev/demo?admin=1 → Demo controls → Prepared presentation scenarios, and check that ‘Learning Kits for a Fresh Start’ shows ‘Refunds available’. Live: click ‘Open campaign’ for Learning Kits and show raised / paid / refunded; then click ‘Mei’s donations’ and claim her SGD 240 — completed refunds become SGD 600 and the claimable amount becomes zero. If Mei has already claimed, use ‘Rebuild prepared examples’ beforehand (it asks for confirmation and advances the workspace clock by two days). Do not rely on specific block numbers. If the browser stalls, use the slide figures.</a:t>
            </a:r>
          </a:p>
          <a:p>
            <a:endParaRPr/>
          </a:p>
          <a:p>
            <a:r>
              <a:t>EVIDENCE STATUS</a:t>
            </a:r>
          </a:p>
          <a:p>
            <a:r>
              <a:t>Left side: recorded screenshots from a guided walkthrough (virtual SGD); block numbers depend on workspace history. Right side: current prepared demo scenario ‘Learning Kits for a Fresh Start’ — SGD 1,000 collected, SGD 400 paid to the supplier, Alex refunded SGD 360, Mei SGD 240 claimable, SGD 10 fees retained. The same rule is tested in the code submission. A supplier payment confirms a token transfer only — not delivery acceptance or bank settlement.</a:t>
            </a:r>
          </a:p>
          <a:p>
            <a:endParaRPr/>
          </a:p>
          <a:p>
            <a:r>
              <a:t>SOURCES</a:t>
            </a:r>
          </a:p>
          <a:p>
            <a:r>
              <a:t>ClearGive (2026) demo, Demo controls → Prepared presentation scenarios, accessed 17 Oct 2026; docs/DEMO-SCENARIOS.md (partial refund row).</a:t>
            </a:r>
          </a:p>
          <a:p>
            <a:r>
              <a:t>ClearGive_Code.zip — pnpm test: 72 passed, 0 failed (17 Oct 2026); claim-to-test map in docs/SUBMISSION-VERIFICATION.md: tests/contracts.test.mjs — “partial spending refunds only the remainder, proportionally; no double claims or later releases”; tests/fees.test.mjs — “partial supplier payment refunds only the remaining principal and leaves the 60/40 fee reserves intact”.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(≈25 s)</a:t>
            </a:r>
          </a:p>
          <a:p>
            <a:r>
              <a:t>To conclude, ClearGive links an agreed purpose, reviewer decisions and restricted payments. Donors can see where money may go and reclaim unspent funds. Organisers show discipline without holding the pool, and sponsors get one record to check. The demo verified the mechanics. It did not verify reviewer independence, real payments, cost coverage, security, or any effect on donor trust.</a:t>
            </a:r>
          </a:p>
          <a:p>
            <a:endParaRPr/>
          </a:p>
          <a:p>
            <a:r>
              <a:t>EVIDENCE STATUS</a:t>
            </a:r>
          </a:p>
          <a:p>
            <a:r>
              <a:t>Value statements are design claims supported by the demo mechanics; no user study, pilot or fraud-reduction measurement has been done. ‘Verified’ items: demonstrated in the live demo or verified by the code submission’s test suite on a local single-operator chain. No claims of eliminating fraud, trustlessness or guaranteed impact.</a:t>
            </a:r>
          </a:p>
          <a:p>
            <a:endParaRPr/>
          </a:p>
          <a:p>
            <a:r>
              <a:t>SOURCES</a:t>
            </a:r>
          </a:p>
          <a:p>
            <a:r>
              <a:t>ClearGive (2026) demo; ClearGive technical description §6; ClearGive_Code.zip — pnpm test: 72 passed, 0 failed (17 Oct 2026); claim-to-test map in docs/SUBMISSION-VERIFICATION.md.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(≈35 s)</a:t>
            </a:r>
          </a:p>
          <a:p>
            <a:r>
              <a:t>ClearGive is not for every cause. It fits poorly without clear milestones, for aid needed immediately, when review costs more than the gift, or when outcomes are subjective. After launch, the risks include false evidence, collusion, privacy, lost keys, contract bugs, costs and payment integration. The demo itself can be reset, has no independent validators and settles no cash. Our next steps target each gap: a public testnet pilot, independent review, a security review, privacy design, and cost testing.</a:t>
            </a:r>
          </a:p>
          <a:p>
            <a:endParaRPr/>
          </a:p>
          <a:p>
            <a:r>
              <a:t>EVIDENCE STATUS</a:t>
            </a:r>
          </a:p>
          <a:p>
            <a:r>
              <a:t>Limitations from the team’s analysis, the demo’s stated scope (‘How it works’ → ‘Taking ClearGive beyond the demo’) and Technical Description §6. All future improvements are PROPOSED; none is implemented. No legal or regulatory conclusion is drawn.</a:t>
            </a:r>
          </a:p>
          <a:p>
            <a:endParaRPr/>
          </a:p>
          <a:p>
            <a:r>
              <a:t>SOURCES</a:t>
            </a:r>
          </a:p>
          <a:p>
            <a:r>
              <a:t>ClearGive demo, ‘How it works’ (accessed 17 Oct 2026). ClearGive technical description (team document) ClearGive Technical Description §6 Demonstration Scope and Limitations. Ethereum.org (2026) Ethereum.org (2026), Gas and fees, https://ethereum.org/en/developers/docs/gas/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(≈5 s)</a:t>
            </a:r>
          </a:p>
          <a:p>
            <a:r>
              <a:t>Our sources are listed here, with full links in the notes.</a:t>
            </a:r>
          </a:p>
          <a:p>
            <a:endParaRPr/>
          </a:p>
          <a:p>
            <a:r>
              <a:t>EVIDENCE STATUS</a:t>
            </a:r>
          </a:p>
          <a:p>
            <a:r>
              <a:t>External statistics and competitor statements are cited to primary or official sources. Internal material is separated.</a:t>
            </a:r>
          </a:p>
          <a:p>
            <a:endParaRPr/>
          </a:p>
          <a:p>
            <a:r>
              <a:t>SOURCES</a:t>
            </a:r>
          </a:p>
          <a:p>
            <a:r>
              <a:t>National Volunteer &amp; Philanthropy Centre (2024): https://nvpc.org.sg/newsroom/national-giving-study-2023/</a:t>
            </a:r>
          </a:p>
          <a:p>
            <a:r>
              <a:t>Charities Aid Foundation (2025): https://cdn.prod.website-files.com/67d1838beb72321adb3f57fc/684fe35981883f8156643c23_b73e54c572856504aefb9b02749ab5a0_CAF%20World%20Giving%20Report%202025.pdf</a:t>
            </a:r>
          </a:p>
          <a:p>
            <a:r>
              <a:t>Office of the Commissioner of Charities (2026): https://www.charities.gov.sg/PublishingImages/Resource-and-Training/Publications/COC-Annual-Reports/Documents/Commissioner%20of%20Charities%20Annual%20Report%202024.pdf</a:t>
            </a:r>
          </a:p>
          <a:p>
            <a:r>
              <a:t>Global Market Insights (2025): https://www.gminsights.com/industry-analysis/non-profit-crowdfunding-platform-market</a:t>
            </a:r>
          </a:p>
          <a:p>
            <a:r>
              <a:t>Giving.sg (2025b): https://www.giving.sg/doc/policy/4/For%20Registered%20Charities,%20Organisations%20and%20Groundups</a:t>
            </a:r>
          </a:p>
          <a:p>
            <a:r>
              <a:t>Giving.sg (2025a): https://www.giving.sg/doc/policy/2/For%20Donors%20&amp;%20Volunteers</a:t>
            </a:r>
          </a:p>
          <a:p>
            <a:r>
              <a:t>GoFundMe (2026a; 2026b): https://support.gofundme.com/hc/en-us/articles/204119238 ; https://support.gofundme.com/hc/en-gb/articles/360056093332 ; https://support.gofundme.com/hc/en-us/articles/203604704 ; https://support.gofundme.com/hc/en-gb/articles/203604214 ; https://support.gofundme.com/hc/en-us/articles/360001980367</a:t>
            </a:r>
          </a:p>
          <a:p>
            <a:r>
              <a:t>The Giving Block (2021; n.d.): https://thegivingblock.com/resources/accept-bitcoin-donations ; https://docs.thegivingblock.com/docs/daf-donations-nonprofit-onboarding-flow ; https://faq.thegivingblock.com/faq/frequently-asked-questions/what-is-the-giving-blocks-donation-refund-policy ; https://faq.thegivingblock.com/faq/frequently-asked-questions/how-long-should-it-take-for-my-receipt-to-arrive-transaction-to-show-on-dashboard</a:t>
            </a:r>
          </a:p>
          <a:p>
            <a:r>
              <a:t>Wüst and Gervais (2018): https://doi.org/10.1109/CVCBT.2018.00011</a:t>
            </a:r>
          </a:p>
          <a:p>
            <a:r>
              <a:t>Ethereum.org (2026): https://ethereum.org/en/developers/docs/gas/</a:t>
            </a:r>
          </a:p>
          <a:p>
            <a:r>
              <a:t>ClearGive (2026): https://cleargive.pages.dev/demo</a:t>
            </a:r>
          </a:p>
          <a:p>
            <a:r>
              <a:t>ClearGive technical description (team document): ClearGive Technical Description (team document supplied with this deck).</a:t>
            </a:r>
          </a:p>
          <a:p>
            <a:r>
              <a:t>Code submission (ClearGive_Code.zip): contracts/*.sol, tests/*.test.mjs, docs/SUBMISSION-VERIFICATION.md. pnpm test: 72 passed, 0 failed (17 Oct 2026); rebuilt dist/ and artifacts match SHA256SUMS.txt.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SPOKEN SCRIPT (≈10 s)</a:t>
            </a:r>
          </a:p>
          <a:p>
            <a:r>
              <a:t>Thank you. We are happy to take questions on the design, its limits and the proposed pilot.</a:t>
            </a:r>
          </a:p>
          <a:p>
            <a:endParaRPr/>
          </a:p>
          <a:p>
            <a:r>
              <a:t>EVIDENCE STATUS</a:t>
            </a:r>
          </a:p>
          <a:p>
            <a:r>
              <a:t>Closing slide; reuses the cover artwork.</a:t>
            </a:r>
          </a:p>
          <a:p>
            <a:endParaRPr/>
          </a:p>
          <a:p>
            <a:r>
              <a:t>SOURCES</a:t>
            </a:r>
          </a:p>
          <a:p>
            <a:r>
              <a:t>https://cleargive.pages.dev/demo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FE2"/>
        </a:solidFill>
        <a:effectLst/>
      </p:bgPr>
    </p:bg>
    <p:spTree>
      <p:nvGrpSpPr>
        <p:cNvPr id="1" name=""/>
        <p:cNvGrpSpPr/>
        <p:nvPr/>
      </p:nvGrpSpPr>
      <p:grpSpPr>
        <a:xfrm>
          <a:off x="0" y="0"/>
          <a:ext cx="0" cy="0"/>
          <a:chOff x="0" y="0"/>
          <a:chExt cx="0" cy="0"/>
        </a:xfrm>
      </p:grpSpPr>
      <p:pic>
        <p:nvPicPr>
          <p:cNvPr id="2" name="Image 0" descr="media/image2.png"/>
          <p:cNvPicPr>
            <a:picLocks noChangeAspect="1"/>
          </p:cNvPicPr>
          <p:nvPr/>
        </p:nvPicPr>
        <p:blipFill>
          <a:blip r:embed="rId2"/>
          <a:stretch>
            <a:fillRect/>
          </a:stretch>
        </p:blipFill>
        <p:spPr>
          <a:xfrm>
            <a:off x="0" y="0"/>
            <a:ext cx="12191695" cy="6858000"/>
          </a:xfrm>
          <a:prstGeom prst="rect">
            <a:avLst/>
          </a:prstGeom>
        </p:spPr>
      </p:pic>
      <p:sp>
        <p:nvSpPr>
          <p:cNvPr id="25"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DDEFE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hyperlink" Target="https://cleargive.pages.dev/demo"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edia/image.png"/>
          <p:cNvPicPr>
            <a:picLocks noChangeAspect="1"/>
          </p:cNvPicPr>
          <p:nvPr/>
        </p:nvPicPr>
        <p:blipFill>
          <a:blip r:embed="rId3"/>
          <a:stretch>
            <a:fillRect/>
          </a:stretch>
        </p:blipFill>
        <p:spPr>
          <a:xfrm>
            <a:off x="116907" y="-186506"/>
            <a:ext cx="12191695" cy="6858000"/>
          </a:xfrm>
          <a:prstGeom prst="rect">
            <a:avLst/>
          </a:prstGeom>
        </p:spPr>
      </p:pic>
      <p:sp>
        <p:nvSpPr>
          <p:cNvPr id="3" name="Text 0"/>
          <p:cNvSpPr txBox="1"/>
          <p:nvPr/>
        </p:nvSpPr>
        <p:spPr>
          <a:xfrm>
            <a:off x="794656" y="1052288"/>
            <a:ext cx="5943600" cy="2190206"/>
          </a:xfrm>
          <a:prstGeom prst="rect">
            <a:avLst/>
          </a:prstGeom>
          <a:noFill/>
        </p:spPr>
        <p:txBody>
          <a:bodyPr wrap="square" lIns="0" tIns="0" rIns="0" bIns="0" rtlCol="0" anchor="ctr"/>
          <a:lstStyle/>
          <a:p>
            <a:pPr marL="0" indent="0">
              <a:buNone/>
            </a:pPr>
            <a:r>
              <a:rPr lang="en-US" sz="7200" b="1" dirty="0" err="1">
                <a:solidFill>
                  <a:srgbClr val="174D3A"/>
                </a:solidFill>
                <a:latin typeface="Arial" panose="020B0604020202020204" pitchFamily="34" charset="0"/>
                <a:ea typeface="Arial" panose="020B0604020202020204" pitchFamily="34" charset="-122"/>
                <a:cs typeface="Arial" panose="020B0604020202020204" pitchFamily="34" charset="-120"/>
              </a:rPr>
              <a:t>ClearGive</a:t>
            </a:r>
            <a:endParaRPr lang="en-US" sz="7200" dirty="0"/>
          </a:p>
        </p:txBody>
      </p:sp>
      <p:sp>
        <p:nvSpPr>
          <p:cNvPr id="9" name="Text 2"/>
          <p:cNvSpPr txBox="1"/>
          <p:nvPr/>
        </p:nvSpPr>
        <p:spPr>
          <a:xfrm>
            <a:off x="896256" y="4518879"/>
            <a:ext cx="11064240" cy="329184"/>
          </a:xfrm>
          <a:prstGeom prst="rect">
            <a:avLst/>
          </a:prstGeom>
          <a:noFill/>
        </p:spPr>
        <p:txBody>
          <a:bodyPr wrap="square" lIns="0" tIns="0" rIns="0" bIns="0" rtlCol="0" anchor="ctr"/>
          <a:lstStyle/>
          <a:p>
            <a:r>
              <a:rPr lang="en-US" altLang="zh-CN" sz="2400" b="1" dirty="0">
                <a:solidFill>
                  <a:srgbClr val="45624F"/>
                </a:solidFill>
                <a:latin typeface="Arial" panose="020B0604020202020204" pitchFamily="34" charset="0"/>
                <a:cs typeface="Arial" panose="020B0604020202020204" pitchFamily="34" charset="-120"/>
              </a:rPr>
              <a:t>ClearGive Project Team</a:t>
            </a:r>
          </a:p>
          <a:p>
            <a:endParaRPr lang="en-US" altLang="zh-CN" sz="2400" b="1" dirty="0">
              <a:solidFill>
                <a:srgbClr val="45624F"/>
              </a:solidFill>
              <a:latin typeface="Arial" panose="020B0604020202020204" pitchFamily="34" charset="0"/>
              <a:cs typeface="Arial" panose="020B0604020202020204" pitchFamily="34" charset="-120"/>
            </a:endParaRPr>
          </a:p>
          <a:p>
            <a:endParaRPr lang="en-US" altLang="zh-CN" b="1" dirty="0">
              <a:solidFill>
                <a:srgbClr val="45624F"/>
              </a:solidFill>
              <a:latin typeface="Arial" panose="020B0604020202020204" pitchFamily="34" charset="0"/>
              <a:cs typeface="Arial" panose="020B0604020202020204" pitchFamily="34" charset="-120"/>
            </a:endParaRPr>
          </a:p>
          <a:p>
            <a:r>
              <a:rPr lang="zh-CN" altLang="zh-CN" dirty="0">
                <a:hlinkClick r:id="rId4"/>
              </a:rPr>
              <a:t>ClearGive — Giving, with proof.</a:t>
            </a:r>
            <a:endParaRPr lang="en-US" altLang="zh-CN" b="1" dirty="0">
              <a:solidFill>
                <a:srgbClr val="45624F"/>
              </a:solidFill>
              <a:latin typeface="Arial" panose="020B0604020202020204" pitchFamily="34" charset="0"/>
              <a:cs typeface="Arial" panose="020B0604020202020204" pitchFamily="34" charset="-120"/>
            </a:endParaRPr>
          </a:p>
          <a:p>
            <a:endParaRPr lang="en-US" altLang="zh-CN" b="1" dirty="0">
              <a:solidFill>
                <a:srgbClr val="45624F"/>
              </a:solidFill>
              <a:latin typeface="Arial" panose="020B0604020202020204" pitchFamily="34" charset="0"/>
              <a:cs typeface="Arial" panose="020B0604020202020204" pitchFamily="34" charset="-120"/>
            </a:endParaRPr>
          </a:p>
          <a:p>
            <a:endParaRPr lang="en-US" altLang="zh-CN" b="1" dirty="0">
              <a:solidFill>
                <a:srgbClr val="45624F"/>
              </a:solidFill>
              <a:latin typeface="Arial" panose="020B0604020202020204" pitchFamily="34" charset="0"/>
              <a:cs typeface="Arial" panose="020B0604020202020204" pitchFamily="34" charset="-120"/>
            </a:endParaRPr>
          </a:p>
          <a:p>
            <a:endParaRPr lang="en-US" altLang="zh-CN" b="1" dirty="0">
              <a:solidFill>
                <a:srgbClr val="45624F"/>
              </a:solidFill>
              <a:latin typeface="Arial" panose="020B0604020202020204" pitchFamily="34" charset="0"/>
              <a:cs typeface="Arial" panose="020B0604020202020204" pitchFamily="34" charset="-120"/>
            </a:endParaRPr>
          </a:p>
        </p:txBody>
      </p:sp>
      <p:pic>
        <p:nvPicPr>
          <p:cNvPr id="5" name="Picture 4">
            <a:extLst>
              <a:ext uri="{FF2B5EF4-FFF2-40B4-BE49-F238E27FC236}">
                <a16:creationId xmlns:a16="http://schemas.microsoft.com/office/drawing/2014/main" id="{9E1E5C42-0BC2-681F-572D-6E77CBBC6FF3}"/>
              </a:ext>
            </a:extLst>
          </p:cNvPr>
          <p:cNvPicPr>
            <a:picLocks noChangeAspect="1"/>
          </p:cNvPicPr>
          <p:nvPr/>
        </p:nvPicPr>
        <p:blipFill>
          <a:blip r:embed="rId5"/>
          <a:stretch>
            <a:fillRect/>
          </a:stretch>
        </p:blipFill>
        <p:spPr>
          <a:xfrm>
            <a:off x="10396445" y="4896104"/>
            <a:ext cx="1484271" cy="148427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01 · BACKGROUND / PROBLEM STATEMENT</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Where does a donation go after it is given?</a:t>
            </a:r>
            <a:endParaRPr lang="en-US" sz="3200" dirty="0"/>
          </a:p>
        </p:txBody>
      </p:sp>
      <p:sp>
        <p:nvSpPr>
          <p:cNvPr id="4" name="Text 2"/>
          <p:cNvSpPr txBox="1"/>
          <p:nvPr/>
        </p:nvSpPr>
        <p:spPr>
          <a:xfrm>
            <a:off x="548640" y="1133856"/>
            <a:ext cx="11064240" cy="329184"/>
          </a:xfrm>
          <a:prstGeom prst="rect">
            <a:avLst/>
          </a:prstGeom>
          <a:noFill/>
        </p:spPr>
        <p:txBody>
          <a:bodyPr wrap="square" lIns="0" tIns="0" rIns="0" bIns="0" rtlCol="0" anchor="ctr"/>
          <a:lstStyle/>
          <a:p>
            <a:pPr marL="0" indent="0">
              <a:buNone/>
            </a:pPr>
            <a:r>
              <a:rPr lang="en-US" sz="1800" dirty="0">
                <a:solidFill>
                  <a:srgbClr val="45624F"/>
                </a:solidFill>
                <a:latin typeface="Arial" panose="020B0604020202020204" pitchFamily="34" charset="0"/>
                <a:ea typeface="Arial" panose="020B0604020202020204" pitchFamily="34" charset="-122"/>
                <a:cs typeface="Arial" panose="020B0604020202020204" pitchFamily="34" charset="-120"/>
              </a:rPr>
              <a:t>Three gaps between a donor’s contribution and the project outcome</a:t>
            </a:r>
            <a:endParaRPr lang="en-US" sz="1800" dirty="0"/>
          </a:p>
        </p:txBody>
      </p:sp>
      <p:sp>
        <p:nvSpPr>
          <p:cNvPr id="5" name="Text 3"/>
          <p:cNvSpPr txBox="1"/>
          <p:nvPr/>
        </p:nvSpPr>
        <p:spPr>
          <a:xfrm>
            <a:off x="548640" y="6400800"/>
            <a:ext cx="10515600" cy="274320"/>
          </a:xfrm>
          <a:prstGeom prst="rect">
            <a:avLst/>
          </a:prstGeom>
          <a:noFill/>
        </p:spPr>
        <p:txBody>
          <a:bodyPr wrap="square" lIns="0" tIns="0" rIns="0" bIns="0" rtlCol="0" anchor="ctr"/>
          <a:lstStyle/>
          <a:p>
            <a:pPr marL="0" indent="0">
              <a:buNone/>
            </a:pPr>
            <a:r>
              <a:rPr lang="en-US" sz="1100" dirty="0">
                <a:solidFill>
                  <a:srgbClr val="45624F"/>
                </a:solidFill>
                <a:latin typeface="Arial" panose="020B0604020202020204" pitchFamily="34" charset="0"/>
                <a:ea typeface="Arial" panose="020B0604020202020204" pitchFamily="34" charset="-122"/>
                <a:cs typeface="Arial" panose="020B0604020202020204" pitchFamily="34" charset="-120"/>
              </a:rPr>
              <a:t>Sources: National Volunteer &amp; Philanthropy Centre (2024), base: non-donors; Charities Aid Foundation (2025, p. 20).</a:t>
            </a:r>
            <a:endParaRPr lang="en-US" sz="1100" dirty="0"/>
          </a:p>
        </p:txBody>
      </p:sp>
      <p:pic>
        <p:nvPicPr>
          <p:cNvPr id="6" name="Image 0" descr="media/image3.png"/>
          <p:cNvPicPr>
            <a:picLocks noChangeAspect="1"/>
          </p:cNvPicPr>
          <p:nvPr/>
        </p:nvPicPr>
        <p:blipFill>
          <a:blip r:embed="rId3"/>
          <a:stretch>
            <a:fillRect/>
          </a:stretch>
        </p:blipFill>
        <p:spPr>
          <a:xfrm>
            <a:off x="548640" y="1645920"/>
            <a:ext cx="3246120" cy="3246120"/>
          </a:xfrm>
          <a:prstGeom prst="rect">
            <a:avLst/>
          </a:prstGeom>
        </p:spPr>
      </p:pic>
      <p:sp>
        <p:nvSpPr>
          <p:cNvPr id="7" name="Shape 4"/>
          <p:cNvSpPr/>
          <p:nvPr/>
        </p:nvSpPr>
        <p:spPr>
          <a:xfrm>
            <a:off x="4023360" y="1645920"/>
            <a:ext cx="3566160" cy="987552"/>
          </a:xfrm>
          <a:prstGeom prst="roundRect">
            <a:avLst>
              <a:gd name="adj" fmla="val 7407"/>
            </a:avLst>
          </a:prstGeom>
          <a:solidFill>
            <a:srgbClr val="F5FAF6"/>
          </a:solidFill>
          <a:ln w="12700">
            <a:solidFill>
              <a:srgbClr val="A6C8B1"/>
            </a:solidFill>
            <a:prstDash val="solid"/>
          </a:ln>
        </p:spPr>
        <p:txBody>
          <a:bodyPr/>
          <a:lstStyle/>
          <a:p>
            <a:endParaRPr lang="zh-CN" altLang="en-US"/>
          </a:p>
        </p:txBody>
      </p:sp>
      <p:pic>
        <p:nvPicPr>
          <p:cNvPr id="8" name="Image 1" descr="preencoded.png"/>
          <p:cNvPicPr>
            <a:picLocks noChangeAspect="1"/>
          </p:cNvPicPr>
          <p:nvPr/>
        </p:nvPicPr>
        <p:blipFill>
          <a:blip r:embed="rId4"/>
          <a:stretch>
            <a:fillRect/>
          </a:stretch>
        </p:blipFill>
        <p:spPr>
          <a:xfrm>
            <a:off x="4187952" y="1828800"/>
            <a:ext cx="384048" cy="384048"/>
          </a:xfrm>
          <a:prstGeom prst="rect">
            <a:avLst/>
          </a:prstGeom>
        </p:spPr>
      </p:pic>
      <p:sp>
        <p:nvSpPr>
          <p:cNvPr id="9" name="Text 5"/>
          <p:cNvSpPr txBox="1"/>
          <p:nvPr/>
        </p:nvSpPr>
        <p:spPr>
          <a:xfrm>
            <a:off x="4709160" y="1755648"/>
            <a:ext cx="2788920" cy="310896"/>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Transparency</a:t>
            </a:r>
            <a:endParaRPr lang="en-US" sz="1800" dirty="0"/>
          </a:p>
        </p:txBody>
      </p:sp>
      <p:sp>
        <p:nvSpPr>
          <p:cNvPr id="10" name="Text 6"/>
          <p:cNvSpPr txBox="1"/>
          <p:nvPr/>
        </p:nvSpPr>
        <p:spPr>
          <a:xfrm>
            <a:off x="4709160" y="2057400"/>
            <a:ext cx="2788920" cy="530352"/>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Plan and approvals are hard to inspect</a:t>
            </a:r>
            <a:endParaRPr lang="en-US" sz="1600" dirty="0"/>
          </a:p>
        </p:txBody>
      </p:sp>
      <p:sp>
        <p:nvSpPr>
          <p:cNvPr id="11" name="Shape 7"/>
          <p:cNvSpPr/>
          <p:nvPr/>
        </p:nvSpPr>
        <p:spPr>
          <a:xfrm>
            <a:off x="4023360" y="2743200"/>
            <a:ext cx="3566160" cy="987552"/>
          </a:xfrm>
          <a:prstGeom prst="roundRect">
            <a:avLst>
              <a:gd name="adj" fmla="val 7407"/>
            </a:avLst>
          </a:prstGeom>
          <a:solidFill>
            <a:srgbClr val="F5FAF6"/>
          </a:solidFill>
          <a:ln w="12700">
            <a:solidFill>
              <a:srgbClr val="A6C8B1"/>
            </a:solidFill>
            <a:prstDash val="solid"/>
          </a:ln>
        </p:spPr>
        <p:txBody>
          <a:bodyPr/>
          <a:lstStyle/>
          <a:p>
            <a:endParaRPr lang="zh-CN" altLang="en-US"/>
          </a:p>
        </p:txBody>
      </p:sp>
      <p:pic>
        <p:nvPicPr>
          <p:cNvPr id="12" name="Image 2" descr="preencoded.png"/>
          <p:cNvPicPr>
            <a:picLocks noChangeAspect="1"/>
          </p:cNvPicPr>
          <p:nvPr/>
        </p:nvPicPr>
        <p:blipFill>
          <a:blip r:embed="rId5"/>
          <a:stretch>
            <a:fillRect/>
          </a:stretch>
        </p:blipFill>
        <p:spPr>
          <a:xfrm>
            <a:off x="4187952" y="2926080"/>
            <a:ext cx="384048" cy="384048"/>
          </a:xfrm>
          <a:prstGeom prst="rect">
            <a:avLst/>
          </a:prstGeom>
        </p:spPr>
      </p:pic>
      <p:sp>
        <p:nvSpPr>
          <p:cNvPr id="13" name="Text 8"/>
          <p:cNvSpPr txBox="1"/>
          <p:nvPr/>
        </p:nvSpPr>
        <p:spPr>
          <a:xfrm>
            <a:off x="4709160" y="2852928"/>
            <a:ext cx="2788920" cy="310896"/>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Fund control</a:t>
            </a:r>
            <a:endParaRPr lang="en-US" sz="1800" dirty="0"/>
          </a:p>
        </p:txBody>
      </p:sp>
      <p:sp>
        <p:nvSpPr>
          <p:cNvPr id="14" name="Text 9"/>
          <p:cNvSpPr txBox="1"/>
          <p:nvPr/>
        </p:nvSpPr>
        <p:spPr>
          <a:xfrm>
            <a:off x="4709160" y="3154680"/>
            <a:ext cx="2788920" cy="530352"/>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One party controls the pooled balance</a:t>
            </a:r>
            <a:endParaRPr lang="en-US" sz="1600" dirty="0"/>
          </a:p>
        </p:txBody>
      </p:sp>
      <p:sp>
        <p:nvSpPr>
          <p:cNvPr id="15" name="Shape 10"/>
          <p:cNvSpPr/>
          <p:nvPr/>
        </p:nvSpPr>
        <p:spPr>
          <a:xfrm>
            <a:off x="4023360" y="3840480"/>
            <a:ext cx="3566160" cy="987552"/>
          </a:xfrm>
          <a:prstGeom prst="roundRect">
            <a:avLst>
              <a:gd name="adj" fmla="val 7407"/>
            </a:avLst>
          </a:prstGeom>
          <a:solidFill>
            <a:srgbClr val="F5FAF6"/>
          </a:solidFill>
          <a:ln w="12700">
            <a:solidFill>
              <a:srgbClr val="A6C8B1"/>
            </a:solidFill>
            <a:prstDash val="solid"/>
          </a:ln>
        </p:spPr>
        <p:txBody>
          <a:bodyPr/>
          <a:lstStyle/>
          <a:p>
            <a:endParaRPr lang="zh-CN" altLang="en-US"/>
          </a:p>
        </p:txBody>
      </p:sp>
      <p:pic>
        <p:nvPicPr>
          <p:cNvPr id="16" name="Image 3" descr="preencoded.png"/>
          <p:cNvPicPr>
            <a:picLocks noChangeAspect="1"/>
          </p:cNvPicPr>
          <p:nvPr/>
        </p:nvPicPr>
        <p:blipFill>
          <a:blip r:embed="rId6"/>
          <a:stretch>
            <a:fillRect/>
          </a:stretch>
        </p:blipFill>
        <p:spPr>
          <a:xfrm>
            <a:off x="4187952" y="4023360"/>
            <a:ext cx="384048" cy="384048"/>
          </a:xfrm>
          <a:prstGeom prst="rect">
            <a:avLst/>
          </a:prstGeom>
        </p:spPr>
      </p:pic>
      <p:sp>
        <p:nvSpPr>
          <p:cNvPr id="17" name="Text 11"/>
          <p:cNvSpPr txBox="1"/>
          <p:nvPr/>
        </p:nvSpPr>
        <p:spPr>
          <a:xfrm>
            <a:off x="4709160" y="3950208"/>
            <a:ext cx="2788920" cy="310896"/>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Outcome verification</a:t>
            </a:r>
            <a:endParaRPr lang="en-US" sz="1800" dirty="0"/>
          </a:p>
        </p:txBody>
      </p:sp>
      <p:sp>
        <p:nvSpPr>
          <p:cNvPr id="18" name="Text 12"/>
          <p:cNvSpPr txBox="1"/>
          <p:nvPr/>
        </p:nvSpPr>
        <p:spPr>
          <a:xfrm>
            <a:off x="4709160" y="4251960"/>
            <a:ext cx="2788920" cy="530352"/>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Delivery is hard to confirm afterwards</a:t>
            </a:r>
            <a:endParaRPr lang="en-US" sz="1600" dirty="0"/>
          </a:p>
        </p:txBody>
      </p:sp>
      <p:sp>
        <p:nvSpPr>
          <p:cNvPr id="19" name="Text 13"/>
          <p:cNvSpPr txBox="1"/>
          <p:nvPr/>
        </p:nvSpPr>
        <p:spPr>
          <a:xfrm>
            <a:off x="7863840" y="1572768"/>
            <a:ext cx="1417320" cy="640080"/>
          </a:xfrm>
          <a:prstGeom prst="rect">
            <a:avLst/>
          </a:prstGeom>
          <a:noFill/>
        </p:spPr>
        <p:txBody>
          <a:bodyPr wrap="square" lIns="0" tIns="0" rIns="0" bIns="0" rtlCol="0" anchor="t"/>
          <a:lstStyle/>
          <a:p>
            <a:pPr marL="0" indent="0">
              <a:buNone/>
            </a:pPr>
            <a:r>
              <a:rPr lang="en-US" sz="4400" b="1" dirty="0">
                <a:solidFill>
                  <a:srgbClr val="2B8060"/>
                </a:solidFill>
                <a:latin typeface="Arial" panose="020B0604020202020204" pitchFamily="34" charset="0"/>
                <a:ea typeface="Arial" panose="020B0604020202020204" pitchFamily="34" charset="-122"/>
                <a:cs typeface="Arial" panose="020B0604020202020204" pitchFamily="34" charset="-120"/>
              </a:rPr>
              <a:t>32%</a:t>
            </a:r>
            <a:endParaRPr lang="en-US" sz="4400" dirty="0"/>
          </a:p>
        </p:txBody>
      </p:sp>
      <p:sp>
        <p:nvSpPr>
          <p:cNvPr id="20" name="Text 14"/>
          <p:cNvSpPr txBox="1"/>
          <p:nvPr/>
        </p:nvSpPr>
        <p:spPr>
          <a:xfrm>
            <a:off x="9281160" y="1600200"/>
            <a:ext cx="2377440" cy="1234440"/>
          </a:xfrm>
          <a:prstGeom prst="rect">
            <a:avLst/>
          </a:prstGeom>
          <a:noFill/>
        </p:spPr>
        <p:txBody>
          <a:bodyPr wrap="square" lIns="0" tIns="0" rIns="0" bIns="0" rtlCol="0" anchor="t"/>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of Singapore non-donors cited fear of scams as a major reason (2023; +9 pts since 2021)</a:t>
            </a:r>
            <a:endParaRPr lang="en-US" sz="1600" dirty="0"/>
          </a:p>
        </p:txBody>
      </p:sp>
      <p:sp>
        <p:nvSpPr>
          <p:cNvPr id="21" name="Text 15"/>
          <p:cNvSpPr txBox="1"/>
          <p:nvPr/>
        </p:nvSpPr>
        <p:spPr>
          <a:xfrm>
            <a:off x="7863840" y="2852928"/>
            <a:ext cx="3154680" cy="274320"/>
          </a:xfrm>
          <a:prstGeom prst="roundRect">
            <a:avLst>
              <a:gd name="adj" fmla="val 50000"/>
            </a:avLst>
          </a:prstGeom>
          <a:solidFill>
            <a:srgbClr val="F2EEE2"/>
          </a:solidFill>
          <a:ln w="12700">
            <a:solidFill>
              <a:srgbClr val="6B5A2E"/>
            </a:solidFill>
          </a:ln>
        </p:spPr>
        <p:txBody>
          <a:bodyPr wrap="square" lIns="0" tIns="0" rIns="0" bIns="0" rtlCol="0" anchor="ctr"/>
          <a:lstStyle/>
          <a:p>
            <a:pPr marL="0" indent="0" algn="ctr">
              <a:buNone/>
            </a:pPr>
            <a:r>
              <a:rPr lang="en-US" sz="1100" b="1" dirty="0">
                <a:solidFill>
                  <a:srgbClr val="6B5A2E"/>
                </a:solidFill>
                <a:latin typeface="Arial" panose="020B0604020202020204" pitchFamily="34" charset="0"/>
                <a:ea typeface="Arial" panose="020B0604020202020204" pitchFamily="34" charset="-122"/>
                <a:cs typeface="Arial" panose="020B0604020202020204" pitchFamily="34" charset="-120"/>
              </a:rPr>
              <a:t>SURVEY · REASON FOR NOT DONATING</a:t>
            </a:r>
            <a:endParaRPr lang="en-US" sz="1100" dirty="0"/>
          </a:p>
        </p:txBody>
      </p:sp>
      <p:sp>
        <p:nvSpPr>
          <p:cNvPr id="22" name="Shape 16"/>
          <p:cNvSpPr/>
          <p:nvPr/>
        </p:nvSpPr>
        <p:spPr>
          <a:xfrm>
            <a:off x="7863840" y="3291840"/>
            <a:ext cx="3794760" cy="0"/>
          </a:xfrm>
          <a:prstGeom prst="line">
            <a:avLst/>
          </a:prstGeom>
          <a:noFill/>
          <a:ln w="12700">
            <a:solidFill>
              <a:srgbClr val="A6C8B1"/>
            </a:solidFill>
            <a:prstDash val="solid"/>
          </a:ln>
        </p:spPr>
        <p:txBody>
          <a:bodyPr/>
          <a:lstStyle/>
          <a:p>
            <a:endParaRPr lang="zh-CN" altLang="en-US"/>
          </a:p>
        </p:txBody>
      </p:sp>
      <p:sp>
        <p:nvSpPr>
          <p:cNvPr id="23" name="Text 17"/>
          <p:cNvSpPr txBox="1"/>
          <p:nvPr/>
        </p:nvSpPr>
        <p:spPr>
          <a:xfrm>
            <a:off x="7863840" y="3401568"/>
            <a:ext cx="1417320" cy="640080"/>
          </a:xfrm>
          <a:prstGeom prst="rect">
            <a:avLst/>
          </a:prstGeom>
          <a:noFill/>
        </p:spPr>
        <p:txBody>
          <a:bodyPr wrap="square" lIns="0" tIns="0" rIns="0" bIns="0" rtlCol="0" anchor="t"/>
          <a:lstStyle/>
          <a:p>
            <a:pPr marL="0" indent="0">
              <a:buNone/>
            </a:pPr>
            <a:r>
              <a:rPr lang="en-US" sz="4400" b="1" dirty="0">
                <a:solidFill>
                  <a:srgbClr val="2B8060"/>
                </a:solidFill>
                <a:latin typeface="Arial" panose="020B0604020202020204" pitchFamily="34" charset="0"/>
                <a:ea typeface="Arial" panose="020B0604020202020204" pitchFamily="34" charset="-122"/>
                <a:cs typeface="Arial" panose="020B0604020202020204" pitchFamily="34" charset="-120"/>
              </a:rPr>
              <a:t>36%</a:t>
            </a:r>
            <a:endParaRPr lang="en-US" sz="4400" dirty="0"/>
          </a:p>
        </p:txBody>
      </p:sp>
      <p:sp>
        <p:nvSpPr>
          <p:cNvPr id="24" name="Text 18"/>
          <p:cNvSpPr txBox="1"/>
          <p:nvPr/>
        </p:nvSpPr>
        <p:spPr>
          <a:xfrm>
            <a:off x="9281160" y="3429000"/>
            <a:ext cx="2377440" cy="1234440"/>
          </a:xfrm>
          <a:prstGeom prst="rect">
            <a:avLst/>
          </a:prstGeom>
          <a:noFill/>
        </p:spPr>
        <p:txBody>
          <a:bodyPr wrap="square" lIns="0" tIns="0" rIns="0" bIns="0" rtlCol="0" anchor="t"/>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chose “knowing how my money would be spent” as an encouragement to give (2025)</a:t>
            </a:r>
            <a:endParaRPr lang="en-US" sz="1600" dirty="0"/>
          </a:p>
        </p:txBody>
      </p:sp>
      <p:sp>
        <p:nvSpPr>
          <p:cNvPr id="25" name="Text 19"/>
          <p:cNvSpPr txBox="1"/>
          <p:nvPr/>
        </p:nvSpPr>
        <p:spPr>
          <a:xfrm>
            <a:off x="7863840" y="4681728"/>
            <a:ext cx="3520440" cy="274320"/>
          </a:xfrm>
          <a:prstGeom prst="roundRect">
            <a:avLst>
              <a:gd name="adj" fmla="val 50000"/>
            </a:avLst>
          </a:prstGeom>
          <a:solidFill>
            <a:srgbClr val="F2EEE2"/>
          </a:solidFill>
          <a:ln w="12700">
            <a:solidFill>
              <a:srgbClr val="6B5A2E"/>
            </a:solidFill>
          </a:ln>
        </p:spPr>
        <p:txBody>
          <a:bodyPr wrap="square" lIns="0" tIns="0" rIns="0" bIns="0" rtlCol="0" anchor="ctr"/>
          <a:lstStyle/>
          <a:p>
            <a:pPr marL="0" indent="0" algn="ctr">
              <a:buNone/>
            </a:pPr>
            <a:r>
              <a:rPr lang="en-US" sz="1100" b="1" dirty="0">
                <a:solidFill>
                  <a:srgbClr val="6B5A2E"/>
                </a:solidFill>
                <a:latin typeface="Arial" panose="020B0604020202020204" pitchFamily="34" charset="0"/>
                <a:ea typeface="Arial" panose="020B0604020202020204" pitchFamily="34" charset="-122"/>
                <a:cs typeface="Arial" panose="020B0604020202020204" pitchFamily="34" charset="-120"/>
              </a:rPr>
              <a:t>SURVEY · WHAT WOULD ENCOURAGE GIVING</a:t>
            </a:r>
            <a:endParaRPr lang="en-US" sz="1100" dirty="0"/>
          </a:p>
        </p:txBody>
      </p:sp>
      <p:sp>
        <p:nvSpPr>
          <p:cNvPr id="26" name="Shape 20"/>
          <p:cNvSpPr/>
          <p:nvPr/>
        </p:nvSpPr>
        <p:spPr>
          <a:xfrm>
            <a:off x="548640" y="5230368"/>
            <a:ext cx="11109960" cy="1005840"/>
          </a:xfrm>
          <a:prstGeom prst="roundRect">
            <a:avLst>
              <a:gd name="adj" fmla="val 9091"/>
            </a:avLst>
          </a:prstGeom>
          <a:solidFill>
            <a:srgbClr val="174D3A"/>
          </a:solidFill>
          <a:ln w="12700">
            <a:solidFill>
              <a:srgbClr val="174D3A"/>
            </a:solidFill>
            <a:prstDash val="solid"/>
          </a:ln>
        </p:spPr>
        <p:txBody>
          <a:bodyPr/>
          <a:lstStyle/>
          <a:p>
            <a:endParaRPr lang="zh-CN" altLang="en-US"/>
          </a:p>
        </p:txBody>
      </p:sp>
      <p:sp>
        <p:nvSpPr>
          <p:cNvPr id="27" name="Text 21"/>
          <p:cNvSpPr txBox="1"/>
          <p:nvPr/>
        </p:nvSpPr>
        <p:spPr>
          <a:xfrm>
            <a:off x="822960" y="5349240"/>
            <a:ext cx="2011680" cy="274320"/>
          </a:xfrm>
          <a:prstGeom prst="rect">
            <a:avLst/>
          </a:prstGeom>
          <a:noFill/>
        </p:spPr>
        <p:txBody>
          <a:bodyPr wrap="square" lIns="0" tIns="0" rIns="0" bIns="0" rtlCol="0" anchor="t"/>
          <a:lstStyle/>
          <a:p>
            <a:pPr marL="0" indent="0">
              <a:buNone/>
            </a:pPr>
            <a:r>
              <a:rPr lang="en-US" sz="1200" b="1" dirty="0">
                <a:solidFill>
                  <a:srgbClr val="BFE0CC"/>
                </a:solidFill>
                <a:latin typeface="Arial" panose="020B0604020202020204" pitchFamily="34" charset="0"/>
                <a:ea typeface="Arial" panose="020B0604020202020204" pitchFamily="34" charset="-122"/>
                <a:cs typeface="Arial" panose="020B0604020202020204" pitchFamily="34" charset="-120"/>
              </a:rPr>
              <a:t>OUR QUESTION</a:t>
            </a:r>
            <a:endParaRPr lang="en-US" sz="1200" dirty="0"/>
          </a:p>
        </p:txBody>
      </p:sp>
      <p:sp>
        <p:nvSpPr>
          <p:cNvPr id="28" name="Text 22"/>
          <p:cNvSpPr txBox="1"/>
          <p:nvPr/>
        </p:nvSpPr>
        <p:spPr>
          <a:xfrm>
            <a:off x="822960" y="5596128"/>
            <a:ext cx="10607040" cy="566928"/>
          </a:xfrm>
          <a:prstGeom prst="rect">
            <a:avLst/>
          </a:prstGeom>
          <a:noFill/>
        </p:spPr>
        <p:txBody>
          <a:bodyPr wrap="square" lIns="0" tIns="0" rIns="0" bIns="0" rtlCol="0" anchor="ctr"/>
          <a:lstStyle/>
          <a:p>
            <a:pPr marL="0" indent="0">
              <a:buNone/>
            </a:pPr>
            <a:r>
              <a:rPr lang="en-US" sz="2000" b="1" dirty="0">
                <a:solidFill>
                  <a:srgbClr val="FFFFFF"/>
                </a:solidFill>
                <a:latin typeface="Arial" panose="020B0604020202020204" pitchFamily="34" charset="0"/>
                <a:ea typeface="Arial" panose="020B0604020202020204" pitchFamily="34" charset="-122"/>
                <a:cs typeface="Arial" panose="020B0604020202020204" pitchFamily="34" charset="-120"/>
              </a:rPr>
              <a:t>How can donations be released under predefined conditions, with key decisions and payments independently verifiable?</a:t>
            </a:r>
            <a:endParaRPr lang="en-US" sz="2000" dirty="0"/>
          </a:p>
        </p:txBody>
      </p:sp>
      <p:sp>
        <p:nvSpPr>
          <p:cNvPr id="29"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02 · MARKET VALUE</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Large donation flows, a narrow entry market</a:t>
            </a:r>
            <a:endParaRPr lang="en-US" sz="3200" dirty="0"/>
          </a:p>
        </p:txBody>
      </p:sp>
      <p:sp>
        <p:nvSpPr>
          <p:cNvPr id="4" name="Text 2"/>
          <p:cNvSpPr txBox="1"/>
          <p:nvPr/>
        </p:nvSpPr>
        <p:spPr>
          <a:xfrm>
            <a:off x="548640" y="1133856"/>
            <a:ext cx="11064240" cy="329184"/>
          </a:xfrm>
          <a:prstGeom prst="rect">
            <a:avLst/>
          </a:prstGeom>
          <a:noFill/>
        </p:spPr>
        <p:txBody>
          <a:bodyPr wrap="square" lIns="0" tIns="0" rIns="0" bIns="0" rtlCol="0" anchor="ctr"/>
          <a:lstStyle/>
          <a:p>
            <a:pPr marL="0" indent="0">
              <a:buNone/>
            </a:pPr>
            <a:r>
              <a:rPr lang="en-US" sz="1800" dirty="0">
                <a:solidFill>
                  <a:srgbClr val="45624F"/>
                </a:solidFill>
                <a:latin typeface="Arial" panose="020B0604020202020204" pitchFamily="34" charset="0"/>
                <a:ea typeface="Arial" panose="020B0604020202020204" pitchFamily="34" charset="-122"/>
                <a:cs typeface="Arial" panose="020B0604020202020204" pitchFamily="34" charset="-120"/>
              </a:rPr>
              <a:t>Three different measures — shown separately because they are not comparable</a:t>
            </a:r>
            <a:endParaRPr lang="en-US" sz="1800" dirty="0"/>
          </a:p>
        </p:txBody>
      </p:sp>
      <p:sp>
        <p:nvSpPr>
          <p:cNvPr id="5" name="Text 3"/>
          <p:cNvSpPr txBox="1"/>
          <p:nvPr/>
        </p:nvSpPr>
        <p:spPr>
          <a:xfrm>
            <a:off x="548640" y="6400800"/>
            <a:ext cx="10515600" cy="274320"/>
          </a:xfrm>
          <a:prstGeom prst="rect">
            <a:avLst/>
          </a:prstGeom>
          <a:noFill/>
        </p:spPr>
        <p:txBody>
          <a:bodyPr wrap="square" lIns="0" tIns="0" rIns="0" bIns="0" rtlCol="0" anchor="ctr"/>
          <a:lstStyle/>
          <a:p>
            <a:pPr marL="0" indent="0">
              <a:buNone/>
            </a:pPr>
            <a:r>
              <a:rPr lang="en-US" sz="1100" dirty="0">
                <a:solidFill>
                  <a:srgbClr val="45624F"/>
                </a:solidFill>
                <a:latin typeface="Arial" panose="020B0604020202020204" pitchFamily="34" charset="0"/>
                <a:ea typeface="Arial" panose="020B0604020202020204" pitchFamily="34" charset="-122"/>
                <a:cs typeface="Arial" panose="020B0604020202020204" pitchFamily="34" charset="-120"/>
              </a:rPr>
              <a:t>Sources: Office of the Commissioner of Charities (2026, p. 15); Global Market Insights (2025). Revenue formula is illustrative, not a forecast.</a:t>
            </a:r>
            <a:endParaRPr lang="en-US" sz="1100" dirty="0"/>
          </a:p>
        </p:txBody>
      </p:sp>
      <p:sp>
        <p:nvSpPr>
          <p:cNvPr id="6" name="Text 4"/>
          <p:cNvSpPr txBox="1"/>
          <p:nvPr/>
        </p:nvSpPr>
        <p:spPr>
          <a:xfrm>
            <a:off x="548640" y="1627632"/>
            <a:ext cx="6035040" cy="292608"/>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① Charitable donations to Singapore charities, S$ billion</a:t>
            </a:r>
            <a:endParaRPr lang="en-US" sz="1600" dirty="0"/>
          </a:p>
        </p:txBody>
      </p:sp>
      <p:graphicFrame>
        <p:nvGraphicFramePr>
          <p:cNvPr id="7" name="Chart 0"/>
          <p:cNvGraphicFramePr/>
          <p:nvPr/>
        </p:nvGraphicFramePr>
        <p:xfrm>
          <a:off x="548640" y="1938528"/>
          <a:ext cx="603504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548640" y="4919472"/>
            <a:ext cx="6035040" cy="274320"/>
          </a:xfrm>
          <a:prstGeom prst="rect">
            <a:avLst/>
          </a:prstGeom>
          <a:noFill/>
        </p:spPr>
        <p:txBody>
          <a:bodyPr wrap="square" lIns="0" tIns="0" rIns="0" bIns="0" rtlCol="0" anchor="t"/>
          <a:lstStyle/>
          <a:p>
            <a:pPr marL="0" indent="0">
              <a:buNone/>
            </a:pPr>
            <a:r>
              <a:rPr lang="en-US" sz="1300" i="1" dirty="0">
                <a:solidFill>
                  <a:srgbClr val="45624F"/>
                </a:solidFill>
                <a:latin typeface="Arial" panose="020B0604020202020204" pitchFamily="34" charset="0"/>
                <a:ea typeface="Arial" panose="020B0604020202020204" pitchFamily="34" charset="-122"/>
                <a:cs typeface="Arial" panose="020B0604020202020204" pitchFamily="34" charset="-120"/>
              </a:rPr>
              <a:t>Entry use case: school supplies and community equipment</a:t>
            </a:r>
            <a:endParaRPr lang="en-US" sz="1300" dirty="0"/>
          </a:p>
        </p:txBody>
      </p:sp>
      <p:sp>
        <p:nvSpPr>
          <p:cNvPr id="9" name="Shape 6"/>
          <p:cNvSpPr/>
          <p:nvPr/>
        </p:nvSpPr>
        <p:spPr>
          <a:xfrm>
            <a:off x="6903720" y="1627632"/>
            <a:ext cx="4754880" cy="1005840"/>
          </a:xfrm>
          <a:prstGeom prst="roundRect">
            <a:avLst>
              <a:gd name="adj" fmla="val 7273"/>
            </a:avLst>
          </a:prstGeom>
          <a:solidFill>
            <a:srgbClr val="F5FAF6"/>
          </a:solidFill>
          <a:ln w="12700">
            <a:solidFill>
              <a:srgbClr val="A6C8B1"/>
            </a:solidFill>
            <a:prstDash val="solid"/>
          </a:ln>
        </p:spPr>
        <p:txBody>
          <a:bodyPr/>
          <a:lstStyle/>
          <a:p>
            <a:endParaRPr lang="zh-CN" altLang="en-US"/>
          </a:p>
        </p:txBody>
      </p:sp>
      <p:sp>
        <p:nvSpPr>
          <p:cNvPr id="10" name="Text 7"/>
          <p:cNvSpPr txBox="1"/>
          <p:nvPr/>
        </p:nvSpPr>
        <p:spPr>
          <a:xfrm>
            <a:off x="7086600" y="1737360"/>
            <a:ext cx="2880360" cy="310896"/>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① Charitable donations</a:t>
            </a:r>
            <a:endParaRPr lang="en-US" sz="1600" dirty="0"/>
          </a:p>
        </p:txBody>
      </p:sp>
      <p:sp>
        <p:nvSpPr>
          <p:cNvPr id="11" name="Text 8"/>
          <p:cNvSpPr txBox="1"/>
          <p:nvPr/>
        </p:nvSpPr>
        <p:spPr>
          <a:xfrm>
            <a:off x="9966960" y="1691640"/>
            <a:ext cx="1554480" cy="365760"/>
          </a:xfrm>
          <a:prstGeom prst="rect">
            <a:avLst/>
          </a:prstGeom>
          <a:noFill/>
        </p:spPr>
        <p:txBody>
          <a:bodyPr wrap="square" lIns="0" tIns="0" rIns="0" bIns="0" rtlCol="0" anchor="t"/>
          <a:lstStyle/>
          <a:p>
            <a:pPr marL="0" indent="0" algn="r">
              <a:buNone/>
            </a:pPr>
            <a:r>
              <a:rPr lang="en-US" sz="2000" b="1" dirty="0">
                <a:solidFill>
                  <a:srgbClr val="2B8060"/>
                </a:solidFill>
                <a:latin typeface="Arial" panose="020B0604020202020204" pitchFamily="34" charset="0"/>
                <a:ea typeface="Arial" panose="020B0604020202020204" pitchFamily="34" charset="-122"/>
                <a:cs typeface="Arial" panose="020B0604020202020204" pitchFamily="34" charset="-120"/>
              </a:rPr>
              <a:t>S$3.68 bn</a:t>
            </a:r>
            <a:endParaRPr lang="en-US" sz="2000" dirty="0"/>
          </a:p>
        </p:txBody>
      </p:sp>
      <p:sp>
        <p:nvSpPr>
          <p:cNvPr id="12" name="Text 9"/>
          <p:cNvSpPr txBox="1"/>
          <p:nvPr/>
        </p:nvSpPr>
        <p:spPr>
          <a:xfrm>
            <a:off x="7086600" y="2130552"/>
            <a:ext cx="4434840" cy="41148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Singapore · FY2024 · received by charities</a:t>
            </a:r>
            <a:endParaRPr lang="en-US" sz="1600" dirty="0"/>
          </a:p>
        </p:txBody>
      </p:sp>
      <p:sp>
        <p:nvSpPr>
          <p:cNvPr id="13" name="Shape 10"/>
          <p:cNvSpPr/>
          <p:nvPr/>
        </p:nvSpPr>
        <p:spPr>
          <a:xfrm>
            <a:off x="6903720" y="2743200"/>
            <a:ext cx="4754880" cy="1005840"/>
          </a:xfrm>
          <a:prstGeom prst="roundRect">
            <a:avLst>
              <a:gd name="adj" fmla="val 7273"/>
            </a:avLst>
          </a:prstGeom>
          <a:solidFill>
            <a:srgbClr val="F5FAF6"/>
          </a:solidFill>
          <a:ln w="12700">
            <a:solidFill>
              <a:srgbClr val="A6C8B1"/>
            </a:solidFill>
            <a:prstDash val="solid"/>
          </a:ln>
        </p:spPr>
        <p:txBody>
          <a:bodyPr/>
          <a:lstStyle/>
          <a:p>
            <a:endParaRPr lang="zh-CN" altLang="en-US"/>
          </a:p>
        </p:txBody>
      </p:sp>
      <p:sp>
        <p:nvSpPr>
          <p:cNvPr id="14" name="Text 11"/>
          <p:cNvSpPr txBox="1"/>
          <p:nvPr/>
        </p:nvSpPr>
        <p:spPr>
          <a:xfrm>
            <a:off x="7086600" y="2852928"/>
            <a:ext cx="2880360" cy="310896"/>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② Platform industry revenue</a:t>
            </a:r>
            <a:endParaRPr lang="en-US" sz="1600" dirty="0"/>
          </a:p>
        </p:txBody>
      </p:sp>
      <p:sp>
        <p:nvSpPr>
          <p:cNvPr id="15" name="Text 12"/>
          <p:cNvSpPr txBox="1"/>
          <p:nvPr/>
        </p:nvSpPr>
        <p:spPr>
          <a:xfrm>
            <a:off x="9966960" y="2807208"/>
            <a:ext cx="1554480" cy="365760"/>
          </a:xfrm>
          <a:prstGeom prst="rect">
            <a:avLst/>
          </a:prstGeom>
          <a:noFill/>
        </p:spPr>
        <p:txBody>
          <a:bodyPr wrap="square" lIns="0" tIns="0" rIns="0" bIns="0" rtlCol="0" anchor="t"/>
          <a:lstStyle/>
          <a:p>
            <a:pPr marL="0" indent="0" algn="r">
              <a:buNone/>
            </a:pPr>
            <a:r>
              <a:rPr lang="en-US" sz="2000" b="1" dirty="0">
                <a:solidFill>
                  <a:srgbClr val="2B8060"/>
                </a:solidFill>
                <a:latin typeface="Arial" panose="020B0604020202020204" pitchFamily="34" charset="0"/>
                <a:ea typeface="Arial" panose="020B0604020202020204" pitchFamily="34" charset="-122"/>
                <a:cs typeface="Arial" panose="020B0604020202020204" pitchFamily="34" charset="-120"/>
              </a:rPr>
              <a:t>US$293.5 m</a:t>
            </a:r>
            <a:endParaRPr lang="en-US" sz="2000" dirty="0"/>
          </a:p>
        </p:txBody>
      </p:sp>
      <p:sp>
        <p:nvSpPr>
          <p:cNvPr id="16" name="Text 13"/>
          <p:cNvSpPr txBox="1"/>
          <p:nvPr/>
        </p:nvSpPr>
        <p:spPr>
          <a:xfrm>
            <a:off x="7086600" y="3246120"/>
            <a:ext cx="4434840" cy="41148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Global · 2024 · 13.1% CAGR forecast</a:t>
            </a:r>
            <a:endParaRPr lang="en-US" sz="1600" dirty="0"/>
          </a:p>
        </p:txBody>
      </p:sp>
      <p:sp>
        <p:nvSpPr>
          <p:cNvPr id="17" name="Shape 14"/>
          <p:cNvSpPr/>
          <p:nvPr/>
        </p:nvSpPr>
        <p:spPr>
          <a:xfrm>
            <a:off x="6903720" y="3858768"/>
            <a:ext cx="4754880" cy="1005840"/>
          </a:xfrm>
          <a:prstGeom prst="roundRect">
            <a:avLst>
              <a:gd name="adj" fmla="val 7273"/>
            </a:avLst>
          </a:prstGeom>
          <a:solidFill>
            <a:srgbClr val="F7E4D4"/>
          </a:solidFill>
          <a:ln w="12700">
            <a:solidFill>
              <a:srgbClr val="9A4A22"/>
            </a:solidFill>
            <a:prstDash val="solid"/>
          </a:ln>
        </p:spPr>
        <p:txBody>
          <a:bodyPr/>
          <a:lstStyle/>
          <a:p>
            <a:endParaRPr lang="zh-CN" altLang="en-US"/>
          </a:p>
        </p:txBody>
      </p:sp>
      <p:sp>
        <p:nvSpPr>
          <p:cNvPr id="18" name="Text 15"/>
          <p:cNvSpPr txBox="1"/>
          <p:nvPr/>
        </p:nvSpPr>
        <p:spPr>
          <a:xfrm>
            <a:off x="7086600" y="3968496"/>
            <a:ext cx="2880360" cy="310896"/>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③ ClearGive revenue</a:t>
            </a:r>
            <a:endParaRPr lang="en-US" sz="1600" dirty="0"/>
          </a:p>
        </p:txBody>
      </p:sp>
      <p:sp>
        <p:nvSpPr>
          <p:cNvPr id="19" name="Text 16"/>
          <p:cNvSpPr txBox="1"/>
          <p:nvPr/>
        </p:nvSpPr>
        <p:spPr>
          <a:xfrm>
            <a:off x="9966960" y="3922776"/>
            <a:ext cx="1554480" cy="365760"/>
          </a:xfrm>
          <a:prstGeom prst="rect">
            <a:avLst/>
          </a:prstGeom>
          <a:noFill/>
        </p:spPr>
        <p:txBody>
          <a:bodyPr wrap="square" lIns="0" tIns="0" rIns="0" bIns="0" rtlCol="0" anchor="t"/>
          <a:lstStyle/>
          <a:p>
            <a:pPr marL="0" indent="0" algn="r">
              <a:buNone/>
            </a:pPr>
            <a:r>
              <a:rPr lang="en-US" sz="2000" b="1" dirty="0">
                <a:solidFill>
                  <a:srgbClr val="9A4A22"/>
                </a:solidFill>
                <a:latin typeface="Arial" panose="020B0604020202020204" pitchFamily="34" charset="0"/>
                <a:ea typeface="Arial" panose="020B0604020202020204" pitchFamily="34" charset="-122"/>
                <a:cs typeface="Arial" panose="020B0604020202020204" pitchFamily="34" charset="-120"/>
              </a:rPr>
              <a:t>1% × volume</a:t>
            </a:r>
            <a:endParaRPr lang="en-US" sz="2000" dirty="0"/>
          </a:p>
        </p:txBody>
      </p:sp>
      <p:sp>
        <p:nvSpPr>
          <p:cNvPr id="20" name="Text 17"/>
          <p:cNvSpPr txBox="1"/>
          <p:nvPr/>
        </p:nvSpPr>
        <p:spPr>
          <a:xfrm>
            <a:off x="7086600" y="4361688"/>
            <a:ext cx="4434840" cy="41148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Real-world pricing unvalidated · e.g. S$100k → S$1k</a:t>
            </a:r>
            <a:endParaRPr lang="en-US" sz="1600" dirty="0"/>
          </a:p>
        </p:txBody>
      </p:sp>
      <p:sp>
        <p:nvSpPr>
          <p:cNvPr id="21" name="Shape 18"/>
          <p:cNvSpPr/>
          <p:nvPr/>
        </p:nvSpPr>
        <p:spPr>
          <a:xfrm>
            <a:off x="548640" y="5285232"/>
            <a:ext cx="6035040" cy="987552"/>
          </a:xfrm>
          <a:prstGeom prst="roundRect">
            <a:avLst>
              <a:gd name="adj" fmla="val 7407"/>
            </a:avLst>
          </a:prstGeom>
          <a:solidFill>
            <a:srgbClr val="F5FAF6"/>
          </a:solidFill>
          <a:ln w="12700">
            <a:solidFill>
              <a:srgbClr val="A6C8B1"/>
            </a:solidFill>
            <a:prstDash val="solid"/>
          </a:ln>
        </p:spPr>
        <p:txBody>
          <a:bodyPr/>
          <a:lstStyle/>
          <a:p>
            <a:endParaRPr lang="zh-CN" altLang="en-US"/>
          </a:p>
        </p:txBody>
      </p:sp>
      <p:pic>
        <p:nvPicPr>
          <p:cNvPr id="22" name="Image 0" descr="preencoded.png"/>
          <p:cNvPicPr>
            <a:picLocks noChangeAspect="1"/>
          </p:cNvPicPr>
          <p:nvPr/>
        </p:nvPicPr>
        <p:blipFill>
          <a:blip r:embed="rId4"/>
          <a:stretch>
            <a:fillRect/>
          </a:stretch>
        </p:blipFill>
        <p:spPr>
          <a:xfrm>
            <a:off x="713232" y="5440680"/>
            <a:ext cx="384048" cy="384048"/>
          </a:xfrm>
          <a:prstGeom prst="rect">
            <a:avLst/>
          </a:prstGeom>
        </p:spPr>
      </p:pic>
      <p:sp>
        <p:nvSpPr>
          <p:cNvPr id="23" name="Text 19"/>
          <p:cNvSpPr txBox="1"/>
          <p:nvPr/>
        </p:nvSpPr>
        <p:spPr>
          <a:xfrm>
            <a:off x="1234440" y="5376672"/>
            <a:ext cx="5120640" cy="274320"/>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Users</a:t>
            </a:r>
            <a:endParaRPr lang="en-US" sz="1600" dirty="0"/>
          </a:p>
        </p:txBody>
      </p:sp>
      <p:sp>
        <p:nvSpPr>
          <p:cNvPr id="24" name="Text 20"/>
          <p:cNvSpPr txBox="1"/>
          <p:nvPr/>
        </p:nvSpPr>
        <p:spPr>
          <a:xfrm>
            <a:off x="1234440" y="5669280"/>
            <a:ext cx="5212080" cy="54864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Schools and community groups (organisers), reviewers, suppliers, donors</a:t>
            </a:r>
            <a:endParaRPr lang="en-US" sz="1600" dirty="0"/>
          </a:p>
        </p:txBody>
      </p:sp>
      <p:sp>
        <p:nvSpPr>
          <p:cNvPr id="25" name="Shape 21"/>
          <p:cNvSpPr/>
          <p:nvPr/>
        </p:nvSpPr>
        <p:spPr>
          <a:xfrm>
            <a:off x="6903720" y="5285232"/>
            <a:ext cx="4754880" cy="987552"/>
          </a:xfrm>
          <a:prstGeom prst="roundRect">
            <a:avLst>
              <a:gd name="adj" fmla="val 7407"/>
            </a:avLst>
          </a:prstGeom>
          <a:solidFill>
            <a:srgbClr val="F5FAF6"/>
          </a:solidFill>
          <a:ln w="12700">
            <a:solidFill>
              <a:srgbClr val="A6C8B1"/>
            </a:solidFill>
            <a:prstDash val="solid"/>
          </a:ln>
        </p:spPr>
        <p:txBody>
          <a:bodyPr/>
          <a:lstStyle/>
          <a:p>
            <a:endParaRPr lang="zh-CN" altLang="en-US"/>
          </a:p>
        </p:txBody>
      </p:sp>
      <p:pic>
        <p:nvPicPr>
          <p:cNvPr id="26" name="Image 1" descr="preencoded.png"/>
          <p:cNvPicPr>
            <a:picLocks noChangeAspect="1"/>
          </p:cNvPicPr>
          <p:nvPr/>
        </p:nvPicPr>
        <p:blipFill>
          <a:blip r:embed="rId5"/>
          <a:stretch>
            <a:fillRect/>
          </a:stretch>
        </p:blipFill>
        <p:spPr>
          <a:xfrm>
            <a:off x="7068312" y="5440680"/>
            <a:ext cx="384048" cy="384048"/>
          </a:xfrm>
          <a:prstGeom prst="rect">
            <a:avLst/>
          </a:prstGeom>
        </p:spPr>
      </p:pic>
      <p:sp>
        <p:nvSpPr>
          <p:cNvPr id="27" name="Text 22"/>
          <p:cNvSpPr txBox="1"/>
          <p:nvPr/>
        </p:nvSpPr>
        <p:spPr>
          <a:xfrm>
            <a:off x="7589520" y="5376672"/>
            <a:ext cx="1371600" cy="274320"/>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Payers</a:t>
            </a:r>
            <a:endParaRPr lang="en-US" sz="1600" dirty="0"/>
          </a:p>
        </p:txBody>
      </p:sp>
      <p:sp>
        <p:nvSpPr>
          <p:cNvPr id="28" name="Text 23"/>
          <p:cNvSpPr txBox="1"/>
          <p:nvPr/>
        </p:nvSpPr>
        <p:spPr>
          <a:xfrm>
            <a:off x="8503920" y="5376672"/>
            <a:ext cx="1097280" cy="274320"/>
          </a:xfrm>
          <a:prstGeom prst="roundRect">
            <a:avLst>
              <a:gd name="adj" fmla="val 50000"/>
            </a:avLst>
          </a:prstGeom>
          <a:solidFill>
            <a:srgbClr val="F7E4D4"/>
          </a:solidFill>
          <a:ln w="12700">
            <a:solidFill>
              <a:srgbClr val="9A4A22"/>
            </a:solidFill>
          </a:ln>
        </p:spPr>
        <p:txBody>
          <a:bodyPr wrap="square" lIns="0" tIns="0" rIns="0" bIns="0" rtlCol="0" anchor="ctr"/>
          <a:lstStyle/>
          <a:p>
            <a:pPr marL="0" indent="0" algn="ctr">
              <a:buNone/>
            </a:pPr>
            <a:r>
              <a:rPr lang="en-US" sz="1100" b="1" dirty="0">
                <a:solidFill>
                  <a:srgbClr val="9A4A22"/>
                </a:solidFill>
                <a:latin typeface="Arial" panose="020B0604020202020204" pitchFamily="34" charset="0"/>
                <a:ea typeface="Arial" panose="020B0604020202020204" pitchFamily="34" charset="-122"/>
                <a:cs typeface="Arial" panose="020B0604020202020204" pitchFamily="34" charset="-120"/>
              </a:rPr>
              <a:t>PROPOSED</a:t>
            </a:r>
            <a:endParaRPr lang="en-US" sz="1100" dirty="0"/>
          </a:p>
        </p:txBody>
      </p:sp>
      <p:sp>
        <p:nvSpPr>
          <p:cNvPr id="29" name="Text 24"/>
          <p:cNvSpPr txBox="1"/>
          <p:nvPr/>
        </p:nvSpPr>
        <p:spPr>
          <a:xfrm>
            <a:off x="7589520" y="5669280"/>
            <a:ext cx="3977640" cy="54864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Donors: 1% fee (built in demo) · sponsors: admin fee (proposed)</a:t>
            </a:r>
            <a:endParaRPr lang="en-US" sz="1600" dirty="0"/>
          </a:p>
        </p:txBody>
      </p:sp>
      <p:sp>
        <p:nvSpPr>
          <p:cNvPr id="30"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02 · COMPETITOR ANALYSIS</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How donated funds are held, released and returned</a:t>
            </a:r>
            <a:endParaRPr lang="en-US" sz="3200" dirty="0"/>
          </a:p>
        </p:txBody>
      </p:sp>
      <p:sp>
        <p:nvSpPr>
          <p:cNvPr id="4" name="Text 2"/>
          <p:cNvSpPr txBox="1"/>
          <p:nvPr/>
        </p:nvSpPr>
        <p:spPr>
          <a:xfrm>
            <a:off x="548640" y="6400800"/>
            <a:ext cx="10515600" cy="274320"/>
          </a:xfrm>
          <a:prstGeom prst="rect">
            <a:avLst/>
          </a:prstGeom>
          <a:noFill/>
        </p:spPr>
        <p:txBody>
          <a:bodyPr wrap="square" lIns="0" tIns="0" rIns="0" bIns="0" rtlCol="0" anchor="ctr"/>
          <a:lstStyle/>
          <a:p>
            <a:pPr marL="0" indent="0">
              <a:buNone/>
            </a:pPr>
            <a:r>
              <a:rPr lang="en-US" sz="1100" dirty="0">
                <a:solidFill>
                  <a:srgbClr val="45624F"/>
                </a:solidFill>
                <a:latin typeface="Arial" panose="020B0604020202020204" pitchFamily="34" charset="0"/>
                <a:ea typeface="Arial" panose="020B0604020202020204" pitchFamily="34" charset="-122"/>
                <a:cs typeface="Arial" panose="020B0604020202020204" pitchFamily="34" charset="-120"/>
              </a:rPr>
              <a:t>Sources: Giving.sg (2025a; 2025b); GoFundMe (2026a; 2026b); The Giving Block (2021; n.d.).</a:t>
            </a:r>
            <a:endParaRPr lang="en-US" sz="1100" dirty="0"/>
          </a:p>
        </p:txBody>
      </p:sp>
      <p:graphicFrame>
        <p:nvGraphicFramePr>
          <p:cNvPr id="5" name="Table 0"/>
          <p:cNvGraphicFramePr>
            <a:graphicFrameLocks noGrp="1"/>
          </p:cNvGraphicFramePr>
          <p:nvPr/>
        </p:nvGraphicFramePr>
        <p:xfrm>
          <a:off x="548640" y="1325880"/>
          <a:ext cx="11109960" cy="3907536"/>
        </p:xfrm>
        <a:graphic>
          <a:graphicData uri="http://schemas.openxmlformats.org/drawingml/2006/table">
            <a:tbl>
              <a:tblPr/>
              <a:tblGrid>
                <a:gridCol w="196596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tblGrid>
              <a:tr h="457200">
                <a:tc>
                  <a:txBody>
                    <a:bodyPr/>
                    <a:lstStyle/>
                    <a:p>
                      <a:pPr marL="0" indent="0">
                        <a:buNone/>
                      </a:pPr>
                      <a:endParaRPr lang="en-US" sz="17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174D3A"/>
                    </a:solidFill>
                  </a:tcPr>
                </a:tc>
                <a:tc>
                  <a:txBody>
                    <a:bodyPr/>
                    <a:lstStyle/>
                    <a:p>
                      <a:pPr marL="0" indent="0">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Giving.sg</a:t>
                      </a:r>
                      <a:endParaRPr lang="en-US" sz="17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174D3A"/>
                    </a:solidFill>
                  </a:tcPr>
                </a:tc>
                <a:tc>
                  <a:txBody>
                    <a:bodyPr/>
                    <a:lstStyle/>
                    <a:p>
                      <a:pPr marL="0" indent="0">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GoFundMe</a:t>
                      </a:r>
                      <a:endParaRPr lang="en-US" sz="17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174D3A"/>
                    </a:solidFill>
                  </a:tcPr>
                </a:tc>
                <a:tc>
                  <a:txBody>
                    <a:bodyPr/>
                    <a:lstStyle/>
                    <a:p>
                      <a:pPr marL="0" indent="0">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The Giving Block</a:t>
                      </a:r>
                      <a:endParaRPr lang="en-US" sz="17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174D3A"/>
                    </a:solidFill>
                  </a:tcPr>
                </a:tc>
                <a:tc>
                  <a:txBody>
                    <a:bodyPr/>
                    <a:lstStyle/>
                    <a:p>
                      <a:pPr marL="0" indent="0">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ClearGive (demo)</a:t>
                      </a:r>
                      <a:endParaRPr lang="en-US" sz="17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174D3A"/>
                    </a:solidFill>
                  </a:tcPr>
                </a:tc>
                <a:extLst>
                  <a:ext uri="{0D108BD9-81ED-4DB2-BD59-A6C34878D82A}">
                    <a16:rowId xmlns:a16="http://schemas.microsoft.com/office/drawing/2014/main" val="10000"/>
                  </a:ext>
                </a:extLst>
              </a:tr>
              <a:tr h="713232">
                <a:tc>
                  <a:txBody>
                    <a:bodyP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Fund custody</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Weekly payout to charity, less fees</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Organiser withdraws to bank</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Nonprofit-owned account</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74D3A"/>
                          </a:solidFill>
                          <a:latin typeface="Arial" panose="020B0604020202020204" pitchFamily="34" charset="0"/>
                          <a:ea typeface="Arial" panose="020B0604020202020204" pitchFamily="34" charset="-122"/>
                          <a:cs typeface="Arial" panose="020B0604020202020204" pitchFamily="34" charset="-120"/>
                        </a:rPr>
                        <a:t>Per-campaign escrow contract</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CFE8D6"/>
                    </a:solidFill>
                  </a:tcPr>
                </a:tc>
                <a:extLst>
                  <a:ext uri="{0D108BD9-81ED-4DB2-BD59-A6C34878D82A}">
                    <a16:rowId xmlns:a16="http://schemas.microsoft.com/office/drawing/2014/main" val="10001"/>
                  </a:ext>
                </a:extLst>
              </a:tr>
              <a:tr h="713232">
                <a:tc>
                  <a:txBody>
                    <a:bodyP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Conditional release</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No — paid regardless of target</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i="1" dirty="0">
                          <a:solidFill>
                            <a:srgbClr val="6F7F76"/>
                          </a:solidFill>
                          <a:latin typeface="Arial" panose="020B0604020202020204" pitchFamily="34" charset="0"/>
                          <a:ea typeface="Arial" panose="020B0604020202020204" pitchFamily="34" charset="-122"/>
                          <a:cs typeface="Arial" panose="020B0604020202020204" pitchFamily="34" charset="-120"/>
                        </a:rPr>
                        <a:t>Not verified</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i="1" dirty="0">
                          <a:solidFill>
                            <a:srgbClr val="6F7F76"/>
                          </a:solidFill>
                          <a:latin typeface="Arial" panose="020B0604020202020204" pitchFamily="34" charset="0"/>
                          <a:ea typeface="Arial" panose="020B0604020202020204" pitchFamily="34" charset="-122"/>
                          <a:cs typeface="Arial" panose="020B0604020202020204" pitchFamily="34" charset="-120"/>
                        </a:rPr>
                        <a:t>Not verified</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74D3A"/>
                          </a:solidFill>
                          <a:latin typeface="Arial" panose="020B0604020202020204" pitchFamily="34" charset="0"/>
                          <a:ea typeface="Arial" panose="020B0604020202020204" pitchFamily="34" charset="-122"/>
                          <a:cs typeface="Arial" panose="020B0604020202020204" pitchFamily="34" charset="-120"/>
                        </a:rPr>
                        <a:t>Two approvals of the same evidence</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CFE8D6"/>
                    </a:solidFill>
                  </a:tcPr>
                </a:tc>
                <a:extLst>
                  <a:ext uri="{0D108BD9-81ED-4DB2-BD59-A6C34878D82A}">
                    <a16:rowId xmlns:a16="http://schemas.microsoft.com/office/drawing/2014/main" val="10002"/>
                  </a:ext>
                </a:extLst>
              </a:tr>
              <a:tr h="713232">
                <a:tc>
                  <a:txBody>
                    <a:bodyP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Evidence review</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Account approval at sign-up</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i="1" dirty="0">
                          <a:solidFill>
                            <a:srgbClr val="6F7F76"/>
                          </a:solidFill>
                          <a:latin typeface="Arial" panose="020B0604020202020204" pitchFamily="34" charset="0"/>
                          <a:ea typeface="Arial" panose="020B0604020202020204" pitchFamily="34" charset="-122"/>
                          <a:cs typeface="Arial" panose="020B0604020202020204" pitchFamily="34" charset="-120"/>
                        </a:rPr>
                        <a:t>Not verified</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DAF onboarding checks only</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74D3A"/>
                          </a:solidFill>
                          <a:latin typeface="Arial" panose="020B0604020202020204" pitchFamily="34" charset="0"/>
                          <a:ea typeface="Arial" panose="020B0604020202020204" pitchFamily="34" charset="-122"/>
                          <a:cs typeface="Arial" panose="020B0604020202020204" pitchFamily="34" charset="-120"/>
                        </a:rPr>
                        <a:t>Two assigned reviewers</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CFE8D6"/>
                    </a:solidFill>
                  </a:tcPr>
                </a:tc>
                <a:extLst>
                  <a:ext uri="{0D108BD9-81ED-4DB2-BD59-A6C34878D82A}">
                    <a16:rowId xmlns:a16="http://schemas.microsoft.com/office/drawing/2014/main" val="10003"/>
                  </a:ext>
                </a:extLst>
              </a:tr>
              <a:tr h="713232">
                <a:tc>
                  <a:txBody>
                    <a:bodyP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Traceability</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Acknowledgement; IPC tax receipts</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i="1" dirty="0">
                          <a:solidFill>
                            <a:srgbClr val="6F7F76"/>
                          </a:solidFill>
                          <a:latin typeface="Arial" panose="020B0604020202020204" pitchFamily="34" charset="0"/>
                          <a:ea typeface="Arial" panose="020B0604020202020204" pitchFamily="34" charset="-122"/>
                          <a:cs typeface="Arial" panose="020B0604020202020204" pitchFamily="34" charset="-120"/>
                        </a:rPr>
                        <a:t>Not verified</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On-chain transaction ID</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74D3A"/>
                          </a:solidFill>
                          <a:latin typeface="Arial" panose="020B0604020202020204" pitchFamily="34" charset="0"/>
                          <a:ea typeface="Arial" panose="020B0604020202020204" pitchFamily="34" charset="-122"/>
                          <a:cs typeface="Arial" panose="020B0604020202020204" pitchFamily="34" charset="-120"/>
                        </a:rPr>
                        <a:t>Events for gifts, approvals, payments</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CFE8D6"/>
                    </a:solidFill>
                  </a:tcPr>
                </a:tc>
                <a:extLst>
                  <a:ext uri="{0D108BD9-81ED-4DB2-BD59-A6C34878D82A}">
                    <a16:rowId xmlns:a16="http://schemas.microsoft.com/office/drawing/2014/main" val="10004"/>
                  </a:ext>
                </a:extLst>
              </a:tr>
              <a:tr h="566928">
                <a:tc>
                  <a:txBody>
                    <a:bodyP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Refunds</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Non-refundable</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Giving Guarantee refunds</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Non-refundable</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74D3A"/>
                          </a:solidFill>
                          <a:latin typeface="Arial" panose="020B0604020202020204" pitchFamily="34" charset="0"/>
                          <a:ea typeface="Arial" panose="020B0604020202020204" pitchFamily="34" charset="-122"/>
                          <a:cs typeface="Arial" panose="020B0604020202020204" pitchFamily="34" charset="-120"/>
                        </a:rPr>
                        <a:t>Pro-rata claim of unspent funds</a:t>
                      </a:r>
                      <a:endParaRPr lang="en-US" sz="1600" dirty="0">
                        <a:latin typeface="Arial" panose="020B0604020202020204" pitchFamily="34" charset="0"/>
                        <a:ea typeface="Arial" panose="020B0604020202020204" pitchFamily="34" charset="0"/>
                        <a:cs typeface="Arial" panose="020B0604020202020204" pitchFamily="34" charset="0"/>
                      </a:endParaRPr>
                    </a:p>
                  </a:txBody>
                  <a:tcPr marT="54864" marB="54864"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CFE8D6"/>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5559552"/>
            <a:ext cx="11109960" cy="685800"/>
          </a:xfrm>
          <a:prstGeom prst="roundRect">
            <a:avLst>
              <a:gd name="adj" fmla="val 13333"/>
            </a:avLst>
          </a:prstGeom>
          <a:solidFill>
            <a:srgbClr val="F5FAF6"/>
          </a:solidFill>
          <a:ln w="19050">
            <a:solidFill>
              <a:srgbClr val="2B8060"/>
            </a:solidFill>
            <a:prstDash val="solid"/>
          </a:ln>
        </p:spPr>
        <p:txBody>
          <a:bodyPr/>
          <a:lstStyle/>
          <a:p>
            <a:endParaRPr lang="zh-CN" altLang="en-US"/>
          </a:p>
        </p:txBody>
      </p:sp>
      <p:pic>
        <p:nvPicPr>
          <p:cNvPr id="7" name="Image 0" descr="preencoded.png"/>
          <p:cNvPicPr>
            <a:picLocks noChangeAspect="1"/>
          </p:cNvPicPr>
          <p:nvPr/>
        </p:nvPicPr>
        <p:blipFill>
          <a:blip r:embed="rId3"/>
          <a:stretch>
            <a:fillRect/>
          </a:stretch>
        </p:blipFill>
        <p:spPr>
          <a:xfrm>
            <a:off x="731520" y="5705856"/>
            <a:ext cx="384048" cy="384048"/>
          </a:xfrm>
          <a:prstGeom prst="rect">
            <a:avLst/>
          </a:prstGeom>
        </p:spPr>
      </p:pic>
      <p:sp>
        <p:nvSpPr>
          <p:cNvPr id="8" name="Text 4"/>
          <p:cNvSpPr txBox="1"/>
          <p:nvPr/>
        </p:nvSpPr>
        <p:spPr>
          <a:xfrm>
            <a:off x="1234440" y="5596128"/>
            <a:ext cx="10287000" cy="621792"/>
          </a:xfrm>
          <a:prstGeom prst="rect">
            <a:avLst/>
          </a:prstGeom>
          <a:noFill/>
        </p:spPr>
        <p:txBody>
          <a:bodyPr wrap="square" lIns="0" tIns="0" rIns="0" bIns="0" rtlCol="0" anchor="ctr"/>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Our difference is the combination: review-linked release plus a rule-based refund route, for fixed-budget purchases.</a:t>
            </a:r>
            <a:endParaRPr lang="en-US" sz="1800" dirty="0"/>
          </a:p>
        </p:txBody>
      </p:sp>
      <p:sp>
        <p:nvSpPr>
          <p:cNvPr id="25"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03 · WHY BLOCKCHAIN</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Why a blockchain, and when it is not worth it</a:t>
            </a:r>
            <a:endParaRPr lang="en-US" sz="3200" dirty="0"/>
          </a:p>
        </p:txBody>
      </p:sp>
      <p:sp>
        <p:nvSpPr>
          <p:cNvPr id="4" name="Text 2"/>
          <p:cNvSpPr txBox="1"/>
          <p:nvPr/>
        </p:nvSpPr>
        <p:spPr>
          <a:xfrm>
            <a:off x="548640" y="6400800"/>
            <a:ext cx="10515600" cy="274320"/>
          </a:xfrm>
          <a:prstGeom prst="rect">
            <a:avLst/>
          </a:prstGeom>
          <a:noFill/>
        </p:spPr>
        <p:txBody>
          <a:bodyPr wrap="square" lIns="0" tIns="0" rIns="0" bIns="0" rtlCol="0" anchor="ctr"/>
          <a:lstStyle/>
          <a:p>
            <a:pPr marL="0" indent="0">
              <a:buNone/>
            </a:pPr>
            <a:r>
              <a:rPr lang="en-US" sz="1100" dirty="0">
                <a:solidFill>
                  <a:srgbClr val="45624F"/>
                </a:solidFill>
                <a:latin typeface="Arial" panose="020B0604020202020204" pitchFamily="34" charset="0"/>
                <a:ea typeface="Arial" panose="020B0604020202020204" pitchFamily="34" charset="-122"/>
                <a:cs typeface="Arial" panose="020B0604020202020204" pitchFamily="34" charset="-120"/>
              </a:rPr>
              <a:t>Source: Wüst and Gervais (2018).</a:t>
            </a:r>
            <a:endParaRPr lang="en-US" sz="1100" dirty="0"/>
          </a:p>
        </p:txBody>
      </p:sp>
      <p:graphicFrame>
        <p:nvGraphicFramePr>
          <p:cNvPr id="6" name="Table 0"/>
          <p:cNvGraphicFramePr>
            <a:graphicFrameLocks noGrp="1"/>
          </p:cNvGraphicFramePr>
          <p:nvPr/>
        </p:nvGraphicFramePr>
        <p:xfrm>
          <a:off x="548640" y="1325880"/>
          <a:ext cx="11109960" cy="2834640"/>
        </p:xfrm>
        <a:graphic>
          <a:graphicData uri="http://schemas.openxmlformats.org/drawingml/2006/table">
            <a:tbl>
              <a:tblPr/>
              <a:tblGrid>
                <a:gridCol w="22402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420624">
                <a:tc>
                  <a:txBody>
                    <a:bodyPr/>
                    <a:lstStyle/>
                    <a:p>
                      <a:pPr marL="0" indent="0">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Capability</a:t>
                      </a:r>
                      <a:endParaRPr lang="en-US" sz="15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174D3A"/>
                    </a:solidFill>
                  </a:tcPr>
                </a:tc>
                <a:tc>
                  <a:txBody>
                    <a:bodyPr/>
                    <a:lstStyle/>
                    <a:p>
                      <a:pPr marL="0" indent="0">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ClearGive application</a:t>
                      </a:r>
                      <a:endParaRPr lang="en-US" sz="15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174D3A"/>
                    </a:solidFill>
                  </a:tcPr>
                </a:tc>
                <a:tc>
                  <a:txBody>
                    <a:bodyPr/>
                    <a:lstStyle/>
                    <a:p>
                      <a:pPr marL="0" indent="0">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Value</a:t>
                      </a:r>
                      <a:endParaRPr lang="en-US" sz="15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174D3A"/>
                    </a:solidFill>
                  </a:tcPr>
                </a:tc>
                <a:tc>
                  <a:txBody>
                    <a:bodyPr/>
                    <a:lstStyle/>
                    <a:p>
                      <a:pPr marL="0" indent="0">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Trade-off</a:t>
                      </a:r>
                      <a:endParaRPr lang="en-US" sz="15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174D3A"/>
                    </a:solidFill>
                  </a:tcPr>
                </a:tc>
                <a:extLst>
                  <a:ext uri="{0D108BD9-81ED-4DB2-BD59-A6C34878D82A}">
                    <a16:rowId xmlns:a16="http://schemas.microsoft.com/office/drawing/2014/main" val="10000"/>
                  </a:ext>
                </a:extLst>
              </a:tr>
              <a:tr h="603504">
                <a:tc>
                  <a:txBody>
                    <a:bodyP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Shared record</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All parties read one record of gifts, approvals, payments</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Less reconciliation</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9A4A22"/>
                          </a:solidFill>
                          <a:latin typeface="Arial" panose="020B0604020202020204" pitchFamily="34" charset="0"/>
                          <a:ea typeface="Arial" panose="020B0604020202020204" pitchFamily="34" charset="-122"/>
                          <a:cs typeface="Arial" panose="020B0604020202020204" pitchFamily="34" charset="-120"/>
                        </a:rPr>
                        <a:t>Amounts publicly visible</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Programmable escrow</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Supplier, budget, deadlines fixed; no withdraw function</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No single operator controls funds</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9A4A22"/>
                          </a:solidFill>
                          <a:latin typeface="Arial" panose="020B0604020202020204" pitchFamily="34" charset="0"/>
                          <a:ea typeface="Arial" panose="020B0604020202020204" pitchFamily="34" charset="-122"/>
                          <a:cs typeface="Arial" panose="020B0604020202020204" pitchFamily="34" charset="-120"/>
                        </a:rPr>
                        <a:t>Plans cannot be changed</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3504">
                <a:tc>
                  <a:txBody>
                    <a:bodyP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Signed approvals</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Two reviewer addresses approve one revision</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Authority is attributable</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9A4A22"/>
                          </a:solidFill>
                          <a:latin typeface="Arial" panose="020B0604020202020204" pitchFamily="34" charset="0"/>
                          <a:ea typeface="Arial" panose="020B0604020202020204" pitchFamily="34" charset="-122"/>
                          <a:cs typeface="Arial" panose="020B0604020202020204" pitchFamily="34" charset="-120"/>
                        </a:rPr>
                        <a:t>Two addresses ≠ two people</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Hash anchoring</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Keccak-256 evidence fingerprint linked to approvals</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Evidence changes are detectable</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tc>
                  <a:txBody>
                    <a:bodyPr/>
                    <a:lstStyle/>
                    <a:p>
                      <a:pPr marL="0" indent="0">
                        <a:buNone/>
                      </a:pPr>
                      <a:r>
                        <a:rPr lang="en-US" sz="1600" dirty="0">
                          <a:solidFill>
                            <a:srgbClr val="9A4A22"/>
                          </a:solidFill>
                          <a:latin typeface="Arial" panose="020B0604020202020204" pitchFamily="34" charset="0"/>
                          <a:ea typeface="Arial" panose="020B0604020202020204" pitchFamily="34" charset="-122"/>
                          <a:cs typeface="Arial" panose="020B0604020202020204" pitchFamily="34" charset="-120"/>
                        </a:rPr>
                        <a:t>Cannot prove an invoice is real</a:t>
                      </a:r>
                      <a:endParaRPr lang="en-US" sz="1600" dirty="0">
                        <a:latin typeface="Arial" panose="020B0604020202020204" pitchFamily="34" charset="0"/>
                        <a:ea typeface="Arial" panose="020B0604020202020204" pitchFamily="34" charset="0"/>
                        <a:cs typeface="Arial" panose="020B0604020202020204" pitchFamily="34" charset="0"/>
                      </a:endParaRPr>
                    </a:p>
                  </a:txBody>
                  <a:tcPr anchor="ctr">
                    <a:lnL w="12700" cap="flat" cmpd="sng" algn="ctr">
                      <a:solidFill>
                        <a:srgbClr val="8DB79C"/>
                      </a:solidFill>
                      <a:prstDash val="solid"/>
                      <a:round/>
                      <a:headEnd type="none" w="med" len="med"/>
                      <a:tailEnd type="none" w="med" len="med"/>
                    </a:lnL>
                    <a:lnR w="12700" cap="flat" cmpd="sng" algn="ctr">
                      <a:solidFill>
                        <a:srgbClr val="8DB79C"/>
                      </a:solidFill>
                      <a:prstDash val="solid"/>
                      <a:round/>
                      <a:headEnd type="none" w="med" len="med"/>
                      <a:tailEnd type="none" w="med" len="med"/>
                    </a:lnR>
                    <a:lnT w="12700" cap="flat" cmpd="sng" algn="ctr">
                      <a:solidFill>
                        <a:srgbClr val="8DB79C"/>
                      </a:solidFill>
                      <a:prstDash val="solid"/>
                      <a:round/>
                      <a:headEnd type="none" w="med" len="med"/>
                      <a:tailEnd type="none" w="med" len="med"/>
                    </a:lnT>
                    <a:lnB w="12700" cap="flat" cmpd="sng" algn="ctr">
                      <a:solidFill>
                        <a:srgbClr val="8DB79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3"/>
          <p:cNvSpPr/>
          <p:nvPr/>
        </p:nvSpPr>
        <p:spPr>
          <a:xfrm>
            <a:off x="548640" y="4297680"/>
            <a:ext cx="11109960" cy="658368"/>
          </a:xfrm>
          <a:prstGeom prst="roundRect">
            <a:avLst>
              <a:gd name="adj" fmla="val 11111"/>
            </a:avLst>
          </a:prstGeom>
          <a:solidFill>
            <a:srgbClr val="174D3A"/>
          </a:solidFill>
          <a:ln w="12700">
            <a:solidFill>
              <a:srgbClr val="174D3A"/>
            </a:solidFill>
            <a:prstDash val="solid"/>
          </a:ln>
        </p:spPr>
        <p:txBody>
          <a:bodyPr/>
          <a:lstStyle/>
          <a:p>
            <a:endParaRPr lang="zh-CN" altLang="en-US"/>
          </a:p>
        </p:txBody>
      </p:sp>
      <p:sp>
        <p:nvSpPr>
          <p:cNvPr id="7" name="Text 4"/>
          <p:cNvSpPr txBox="1"/>
          <p:nvPr/>
        </p:nvSpPr>
        <p:spPr>
          <a:xfrm>
            <a:off x="731520" y="4315968"/>
            <a:ext cx="2194560" cy="621792"/>
          </a:xfrm>
          <a:prstGeom prst="rect">
            <a:avLst/>
          </a:prstGeom>
          <a:noFill/>
        </p:spPr>
        <p:txBody>
          <a:bodyPr wrap="square" lIns="0" tIns="0" rIns="0" bIns="0" rtlCol="0" anchor="ctr"/>
          <a:lstStyle/>
          <a:p>
            <a:pPr marL="0" indent="0">
              <a:buNone/>
            </a:pPr>
            <a:r>
              <a:rPr lang="en-US" sz="1300" b="1" dirty="0">
                <a:solidFill>
                  <a:srgbClr val="BFE0CC"/>
                </a:solidFill>
                <a:latin typeface="Arial" panose="020B0604020202020204" pitchFamily="34" charset="0"/>
                <a:ea typeface="Arial" panose="020B0604020202020204" pitchFamily="34" charset="-122"/>
                <a:cs typeface="Arial" panose="020B0604020202020204" pitchFamily="34" charset="-120"/>
              </a:rPr>
              <a:t>OUR CONTRIBUTION</a:t>
            </a:r>
            <a:endParaRPr lang="en-US" sz="1300" dirty="0"/>
          </a:p>
        </p:txBody>
      </p:sp>
      <p:sp>
        <p:nvSpPr>
          <p:cNvPr id="8" name="Text 5"/>
          <p:cNvSpPr txBox="1"/>
          <p:nvPr/>
        </p:nvSpPr>
        <p:spPr>
          <a:xfrm>
            <a:off x="2788920" y="4315968"/>
            <a:ext cx="8732520" cy="621792"/>
          </a:xfrm>
          <a:prstGeom prst="rect">
            <a:avLst/>
          </a:prstGeom>
          <a:noFill/>
        </p:spPr>
        <p:txBody>
          <a:bodyPr wrap="square" lIns="0" tIns="0" rIns="0" bIns="0" rtlCol="0" anchor="ctr"/>
          <a:lstStyle/>
          <a:p>
            <a:pPr marL="0" indent="0">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Fixed supplier payments, evidence-version approvals and claims on unspent funds, combined in one campaign escrow workflow</a:t>
            </a:r>
            <a:endParaRPr lang="en-US" sz="1700" dirty="0"/>
          </a:p>
        </p:txBody>
      </p:sp>
      <p:sp>
        <p:nvSpPr>
          <p:cNvPr id="9" name="Shape 6"/>
          <p:cNvSpPr/>
          <p:nvPr/>
        </p:nvSpPr>
        <p:spPr>
          <a:xfrm>
            <a:off x="548640" y="5074920"/>
            <a:ext cx="3611880" cy="1188720"/>
          </a:xfrm>
          <a:prstGeom prst="roundRect">
            <a:avLst>
              <a:gd name="adj" fmla="val 6154"/>
            </a:avLst>
          </a:prstGeom>
          <a:solidFill>
            <a:srgbClr val="F5FAF6"/>
          </a:solidFill>
          <a:ln w="15875">
            <a:solidFill>
              <a:srgbClr val="2B8060"/>
            </a:solidFill>
            <a:prstDash val="solid"/>
          </a:ln>
        </p:spPr>
        <p:txBody>
          <a:bodyPr/>
          <a:lstStyle/>
          <a:p>
            <a:endParaRPr lang="zh-CN" altLang="en-US"/>
          </a:p>
        </p:txBody>
      </p:sp>
      <p:pic>
        <p:nvPicPr>
          <p:cNvPr id="10" name="Image 0" descr="preencoded.png"/>
          <p:cNvPicPr>
            <a:picLocks noChangeAspect="1"/>
          </p:cNvPicPr>
          <p:nvPr/>
        </p:nvPicPr>
        <p:blipFill>
          <a:blip r:embed="rId3"/>
          <a:stretch>
            <a:fillRect/>
          </a:stretch>
        </p:blipFill>
        <p:spPr>
          <a:xfrm>
            <a:off x="713232" y="5148072"/>
            <a:ext cx="329184" cy="329184"/>
          </a:xfrm>
          <a:prstGeom prst="rect">
            <a:avLst/>
          </a:prstGeom>
        </p:spPr>
      </p:pic>
      <p:sp>
        <p:nvSpPr>
          <p:cNvPr id="11" name="Text 7"/>
          <p:cNvSpPr txBox="1"/>
          <p:nvPr/>
        </p:nvSpPr>
        <p:spPr>
          <a:xfrm>
            <a:off x="1143000" y="5138928"/>
            <a:ext cx="2880360" cy="347472"/>
          </a:xfrm>
          <a:prstGeom prst="rect">
            <a:avLst/>
          </a:prstGeom>
          <a:noFill/>
        </p:spPr>
        <p:txBody>
          <a:bodyPr wrap="square" lIns="0" tIns="0" rIns="0" bIns="0" rtlCol="0" anchor="ctr"/>
          <a:lstStyle/>
          <a:p>
            <a:pPr marL="0" indent="0">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Worth it when</a:t>
            </a:r>
            <a:endParaRPr lang="en-US" sz="1700" dirty="0"/>
          </a:p>
        </p:txBody>
      </p:sp>
      <p:sp>
        <p:nvSpPr>
          <p:cNvPr id="12" name="Text 8"/>
          <p:cNvSpPr txBox="1"/>
          <p:nvPr/>
        </p:nvSpPr>
        <p:spPr>
          <a:xfrm>
            <a:off x="713232" y="5513832"/>
            <a:ext cx="3337560" cy="713232"/>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Several parties must verify rules and payments without one trusted operator</a:t>
            </a:r>
            <a:endParaRPr lang="en-US" sz="1500" dirty="0"/>
          </a:p>
        </p:txBody>
      </p:sp>
      <p:sp>
        <p:nvSpPr>
          <p:cNvPr id="13" name="Shape 9"/>
          <p:cNvSpPr/>
          <p:nvPr/>
        </p:nvSpPr>
        <p:spPr>
          <a:xfrm>
            <a:off x="4297680" y="5074920"/>
            <a:ext cx="3611880" cy="1188720"/>
          </a:xfrm>
          <a:prstGeom prst="roundRect">
            <a:avLst>
              <a:gd name="adj" fmla="val 6154"/>
            </a:avLst>
          </a:prstGeom>
          <a:solidFill>
            <a:srgbClr val="F5FAF6"/>
          </a:solidFill>
          <a:ln w="15875">
            <a:solidFill>
              <a:srgbClr val="A6C8B1"/>
            </a:solidFill>
            <a:prstDash val="solid"/>
          </a:ln>
        </p:spPr>
        <p:txBody>
          <a:bodyPr/>
          <a:lstStyle/>
          <a:p>
            <a:endParaRPr lang="zh-CN" altLang="en-US"/>
          </a:p>
        </p:txBody>
      </p:sp>
      <p:pic>
        <p:nvPicPr>
          <p:cNvPr id="14" name="Image 1" descr="preencoded.png"/>
          <p:cNvPicPr>
            <a:picLocks noChangeAspect="1"/>
          </p:cNvPicPr>
          <p:nvPr/>
        </p:nvPicPr>
        <p:blipFill>
          <a:blip r:embed="rId4"/>
          <a:stretch>
            <a:fillRect/>
          </a:stretch>
        </p:blipFill>
        <p:spPr>
          <a:xfrm>
            <a:off x="4462272" y="5148072"/>
            <a:ext cx="329184" cy="329184"/>
          </a:xfrm>
          <a:prstGeom prst="rect">
            <a:avLst/>
          </a:prstGeom>
        </p:spPr>
      </p:pic>
      <p:sp>
        <p:nvSpPr>
          <p:cNvPr id="15" name="Text 10"/>
          <p:cNvSpPr txBox="1"/>
          <p:nvPr/>
        </p:nvSpPr>
        <p:spPr>
          <a:xfrm>
            <a:off x="4892040" y="5138928"/>
            <a:ext cx="2880360" cy="347472"/>
          </a:xfrm>
          <a:prstGeom prst="rect">
            <a:avLst/>
          </a:prstGeom>
          <a:noFill/>
        </p:spPr>
        <p:txBody>
          <a:bodyPr wrap="square" lIns="0" tIns="0" rIns="0" bIns="0" rtlCol="0" anchor="ctr"/>
          <a:lstStyle/>
          <a:p>
            <a:pPr marL="0" indent="0">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Simpler without it</a:t>
            </a:r>
            <a:endParaRPr lang="en-US" sz="1700" dirty="0"/>
          </a:p>
        </p:txBody>
      </p:sp>
      <p:sp>
        <p:nvSpPr>
          <p:cNvPr id="16" name="Text 11"/>
          <p:cNvSpPr txBox="1"/>
          <p:nvPr/>
        </p:nvSpPr>
        <p:spPr>
          <a:xfrm>
            <a:off x="4462272" y="5513832"/>
            <a:ext cx="3337560" cy="713232"/>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If all trust one institution, a database plus escrow account is cheaper</a:t>
            </a:r>
            <a:endParaRPr lang="en-US" sz="1500" dirty="0"/>
          </a:p>
        </p:txBody>
      </p:sp>
      <p:sp>
        <p:nvSpPr>
          <p:cNvPr id="17" name="Shape 12"/>
          <p:cNvSpPr/>
          <p:nvPr/>
        </p:nvSpPr>
        <p:spPr>
          <a:xfrm>
            <a:off x="8046720" y="5074920"/>
            <a:ext cx="3611880" cy="1188720"/>
          </a:xfrm>
          <a:prstGeom prst="roundRect">
            <a:avLst>
              <a:gd name="adj" fmla="val 6154"/>
            </a:avLst>
          </a:prstGeom>
          <a:solidFill>
            <a:srgbClr val="F7E4D4"/>
          </a:solidFill>
          <a:ln w="15875">
            <a:solidFill>
              <a:srgbClr val="9A4A22"/>
            </a:solidFill>
            <a:prstDash val="solid"/>
          </a:ln>
        </p:spPr>
        <p:txBody>
          <a:bodyPr/>
          <a:lstStyle/>
          <a:p>
            <a:endParaRPr lang="zh-CN" altLang="en-US"/>
          </a:p>
        </p:txBody>
      </p:sp>
      <p:pic>
        <p:nvPicPr>
          <p:cNvPr id="18" name="Image 2" descr="preencoded.png"/>
          <p:cNvPicPr>
            <a:picLocks noChangeAspect="1"/>
          </p:cNvPicPr>
          <p:nvPr/>
        </p:nvPicPr>
        <p:blipFill>
          <a:blip r:embed="rId5"/>
          <a:stretch>
            <a:fillRect/>
          </a:stretch>
        </p:blipFill>
        <p:spPr>
          <a:xfrm>
            <a:off x="8211312" y="5148072"/>
            <a:ext cx="329184" cy="329184"/>
          </a:xfrm>
          <a:prstGeom prst="rect">
            <a:avLst/>
          </a:prstGeom>
        </p:spPr>
      </p:pic>
      <p:sp>
        <p:nvSpPr>
          <p:cNvPr id="19" name="Text 13"/>
          <p:cNvSpPr txBox="1"/>
          <p:nvPr/>
        </p:nvSpPr>
        <p:spPr>
          <a:xfrm>
            <a:off x="8641080" y="5138928"/>
            <a:ext cx="2880360" cy="347472"/>
          </a:xfrm>
          <a:prstGeom prst="rect">
            <a:avLst/>
          </a:prstGeom>
          <a:noFill/>
        </p:spPr>
        <p:txBody>
          <a:bodyPr wrap="square" lIns="0" tIns="0" rIns="0" bIns="0" rtlCol="0" anchor="ctr"/>
          <a:lstStyle/>
          <a:p>
            <a:pPr marL="0" indent="0">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Our demo shows less</a:t>
            </a:r>
            <a:endParaRPr lang="en-US" sz="1700" dirty="0"/>
          </a:p>
        </p:txBody>
      </p:sp>
      <p:sp>
        <p:nvSpPr>
          <p:cNvPr id="20" name="Text 14"/>
          <p:cNvSpPr txBox="1"/>
          <p:nvPr/>
        </p:nvSpPr>
        <p:spPr>
          <a:xfrm>
            <a:off x="8211312" y="5513832"/>
            <a:ext cx="3337560" cy="713232"/>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One presenter’s local chain shows rule enforcement, not multi-party validation</a:t>
            </a:r>
            <a:endParaRPr lang="en-US" sz="1500" dirty="0"/>
          </a:p>
        </p:txBody>
      </p:sp>
      <p:sp>
        <p:nvSpPr>
          <p:cNvPr id="25"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03 · BUSINESS MODEL &amp; INCENTIVES</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S$100 for the cause, S$1 for the service</a:t>
            </a:r>
            <a:endParaRPr lang="en-US" sz="3200" dirty="0"/>
          </a:p>
        </p:txBody>
      </p:sp>
      <p:sp>
        <p:nvSpPr>
          <p:cNvPr id="4" name="Text 2"/>
          <p:cNvSpPr txBox="1"/>
          <p:nvPr/>
        </p:nvSpPr>
        <p:spPr>
          <a:xfrm>
            <a:off x="548640" y="1133856"/>
            <a:ext cx="11064240" cy="329184"/>
          </a:xfrm>
          <a:prstGeom prst="rect">
            <a:avLst/>
          </a:prstGeom>
          <a:noFill/>
        </p:spPr>
        <p:txBody>
          <a:bodyPr wrap="square" lIns="0" tIns="0" rIns="0" bIns="0" rtlCol="0" anchor="ctr"/>
          <a:lstStyle/>
          <a:p>
            <a:pPr marL="0" indent="0">
              <a:buNone/>
            </a:pPr>
            <a:r>
              <a:rPr lang="en-US" sz="1800" dirty="0">
                <a:solidFill>
                  <a:srgbClr val="45624F"/>
                </a:solidFill>
                <a:latin typeface="Arial" panose="020B0604020202020204" pitchFamily="34" charset="0"/>
                <a:ea typeface="Arial" panose="020B0604020202020204" pitchFamily="34" charset="-122"/>
                <a:cs typeface="Arial" panose="020B0604020202020204" pitchFamily="34" charset="-120"/>
              </a:rPr>
              <a:t>Positioning: accountability for planned community purchases</a:t>
            </a:r>
            <a:endParaRPr lang="en-US" sz="1800" dirty="0"/>
          </a:p>
        </p:txBody>
      </p:sp>
      <p:sp>
        <p:nvSpPr>
          <p:cNvPr id="5" name="Text 3"/>
          <p:cNvSpPr txBox="1"/>
          <p:nvPr/>
        </p:nvSpPr>
        <p:spPr>
          <a:xfrm>
            <a:off x="548640" y="6400800"/>
            <a:ext cx="10515600" cy="274320"/>
          </a:xfrm>
          <a:prstGeom prst="rect">
            <a:avLst/>
          </a:prstGeom>
          <a:noFill/>
        </p:spPr>
        <p:txBody>
          <a:bodyPr wrap="square" lIns="0" tIns="0" rIns="0" bIns="0" rtlCol="0" anchor="ctr"/>
          <a:lstStyle/>
          <a:p>
            <a:pPr marL="0" indent="0">
              <a:buNone/>
            </a:pPr>
            <a:r>
              <a:rPr lang="en-US" sz="1100" dirty="0">
                <a:solidFill>
                  <a:srgbClr val="45624F"/>
                </a:solidFill>
                <a:latin typeface="Arial" panose="020B0604020202020204" pitchFamily="34" charset="0"/>
                <a:ea typeface="Arial" panose="020B0604020202020204" pitchFamily="34" charset="-122"/>
                <a:cs typeface="Arial" panose="020B0604020202020204" pitchFamily="34" charset="-120"/>
              </a:rPr>
              <a:t>Source: ClearGive (2026). Credits built in demo; pairing, verification, appeals proposed; real-money pricing unvalidated.</a:t>
            </a:r>
            <a:endParaRPr lang="en-US" sz="1100" dirty="0"/>
          </a:p>
        </p:txBody>
      </p:sp>
      <p:sp>
        <p:nvSpPr>
          <p:cNvPr id="6" name="Text 4"/>
          <p:cNvSpPr txBox="1"/>
          <p:nvPr/>
        </p:nvSpPr>
        <p:spPr>
          <a:xfrm>
            <a:off x="8915400" y="292608"/>
            <a:ext cx="2743200" cy="274320"/>
          </a:xfrm>
          <a:prstGeom prst="roundRect">
            <a:avLst>
              <a:gd name="adj" fmla="val 50000"/>
            </a:avLst>
          </a:prstGeom>
          <a:solidFill>
            <a:srgbClr val="F7E4D4"/>
          </a:solidFill>
          <a:ln w="12700">
            <a:solidFill>
              <a:srgbClr val="9A4A22"/>
            </a:solidFill>
          </a:ln>
        </p:spPr>
        <p:txBody>
          <a:bodyPr wrap="square" lIns="0" tIns="0" rIns="0" bIns="0" rtlCol="0" anchor="ctr"/>
          <a:lstStyle/>
          <a:p>
            <a:pPr marL="0" indent="0" algn="ctr">
              <a:buNone/>
            </a:pPr>
            <a:r>
              <a:rPr lang="en-US" sz="1100" b="1" dirty="0">
                <a:solidFill>
                  <a:srgbClr val="9A4A22"/>
                </a:solidFill>
                <a:latin typeface="Arial" panose="020B0604020202020204" pitchFamily="34" charset="0"/>
                <a:ea typeface="Arial" panose="020B0604020202020204" pitchFamily="34" charset="-122"/>
                <a:cs typeface="Arial" panose="020B0604020202020204" pitchFamily="34" charset="-120"/>
              </a:rPr>
              <a:t>PROPOSED REAL-WORLD PRICING</a:t>
            </a:r>
            <a:endParaRPr lang="en-US" sz="1100" dirty="0"/>
          </a:p>
        </p:txBody>
      </p:sp>
      <p:sp>
        <p:nvSpPr>
          <p:cNvPr id="7" name="Shape 5"/>
          <p:cNvSpPr/>
          <p:nvPr/>
        </p:nvSpPr>
        <p:spPr>
          <a:xfrm>
            <a:off x="548640" y="2514600"/>
            <a:ext cx="1691640" cy="1600200"/>
          </a:xfrm>
          <a:prstGeom prst="roundRect">
            <a:avLst>
              <a:gd name="adj" fmla="val 4571"/>
            </a:avLst>
          </a:prstGeom>
          <a:solidFill>
            <a:srgbClr val="174D3A"/>
          </a:solidFill>
          <a:ln w="12700">
            <a:solidFill>
              <a:srgbClr val="174D3A"/>
            </a:solidFill>
            <a:prstDash val="solid"/>
          </a:ln>
        </p:spPr>
        <p:txBody>
          <a:bodyPr/>
          <a:lstStyle/>
          <a:p>
            <a:endParaRPr lang="zh-CN" altLang="en-US"/>
          </a:p>
        </p:txBody>
      </p:sp>
      <p:pic>
        <p:nvPicPr>
          <p:cNvPr id="8" name="Image 0" descr="preencoded.png"/>
          <p:cNvPicPr>
            <a:picLocks noChangeAspect="1"/>
          </p:cNvPicPr>
          <p:nvPr/>
        </p:nvPicPr>
        <p:blipFill>
          <a:blip r:embed="rId3"/>
          <a:stretch>
            <a:fillRect/>
          </a:stretch>
        </p:blipFill>
        <p:spPr>
          <a:xfrm>
            <a:off x="1179576" y="2615184"/>
            <a:ext cx="420624" cy="420624"/>
          </a:xfrm>
          <a:prstGeom prst="rect">
            <a:avLst/>
          </a:prstGeom>
        </p:spPr>
      </p:pic>
      <p:sp>
        <p:nvSpPr>
          <p:cNvPr id="9" name="Text 6"/>
          <p:cNvSpPr txBox="1"/>
          <p:nvPr/>
        </p:nvSpPr>
        <p:spPr>
          <a:xfrm>
            <a:off x="548640" y="3072384"/>
            <a:ext cx="1691640" cy="274320"/>
          </a:xfrm>
          <a:prstGeom prst="rect">
            <a:avLst/>
          </a:prstGeom>
          <a:noFill/>
        </p:spPr>
        <p:txBody>
          <a:bodyPr wrap="square" lIns="0" tIns="0" rIns="0" bIns="0" rtlCol="0" anchor="t"/>
          <a:lstStyle/>
          <a:p>
            <a:pPr marL="0" indent="0" algn="ctr">
              <a:buNone/>
            </a:pPr>
            <a:r>
              <a:rPr lang="en-US" sz="1300" b="1" dirty="0">
                <a:solidFill>
                  <a:srgbClr val="BFE0CC"/>
                </a:solidFill>
                <a:latin typeface="Arial" panose="020B0604020202020204" pitchFamily="34" charset="0"/>
                <a:ea typeface="Arial" panose="020B0604020202020204" pitchFamily="34" charset="-122"/>
                <a:cs typeface="Arial" panose="020B0604020202020204" pitchFamily="34" charset="-120"/>
              </a:rPr>
              <a:t>DONOR PAYS</a:t>
            </a:r>
            <a:endParaRPr lang="en-US" sz="1300" dirty="0"/>
          </a:p>
        </p:txBody>
      </p:sp>
      <p:sp>
        <p:nvSpPr>
          <p:cNvPr id="10" name="Text 7"/>
          <p:cNvSpPr txBox="1"/>
          <p:nvPr/>
        </p:nvSpPr>
        <p:spPr>
          <a:xfrm>
            <a:off x="548640" y="3346704"/>
            <a:ext cx="1691640" cy="640080"/>
          </a:xfrm>
          <a:prstGeom prst="rect">
            <a:avLst/>
          </a:prstGeom>
          <a:noFill/>
        </p:spPr>
        <p:txBody>
          <a:bodyPr wrap="square" lIns="0" tIns="0" rIns="0" bIns="0" rtlCol="0" anchor="ctr"/>
          <a:lstStyle/>
          <a:p>
            <a:pPr marL="0" indent="0" algn="ctr">
              <a:buNone/>
            </a:pPr>
            <a:r>
              <a:rPr lang="en-US" sz="3400" b="1" dirty="0">
                <a:solidFill>
                  <a:srgbClr val="FFFFFF"/>
                </a:solidFill>
                <a:latin typeface="Arial" panose="020B0604020202020204" pitchFamily="34" charset="0"/>
                <a:ea typeface="Arial" panose="020B0604020202020204" pitchFamily="34" charset="-122"/>
                <a:cs typeface="Arial" panose="020B0604020202020204" pitchFamily="34" charset="-120"/>
              </a:rPr>
              <a:t>S$101</a:t>
            </a:r>
            <a:endParaRPr lang="en-US" sz="3400" dirty="0"/>
          </a:p>
        </p:txBody>
      </p:sp>
      <p:sp>
        <p:nvSpPr>
          <p:cNvPr id="11" name="Shape 8"/>
          <p:cNvSpPr/>
          <p:nvPr/>
        </p:nvSpPr>
        <p:spPr>
          <a:xfrm>
            <a:off x="2743200" y="1645920"/>
            <a:ext cx="2103120" cy="1325880"/>
          </a:xfrm>
          <a:prstGeom prst="roundRect">
            <a:avLst>
              <a:gd name="adj" fmla="val 5517"/>
            </a:avLst>
          </a:prstGeom>
          <a:solidFill>
            <a:srgbClr val="F5FAF6"/>
          </a:solidFill>
          <a:ln w="19050">
            <a:solidFill>
              <a:srgbClr val="2B8060"/>
            </a:solidFill>
            <a:prstDash val="solid"/>
          </a:ln>
        </p:spPr>
        <p:txBody>
          <a:bodyPr/>
          <a:lstStyle/>
          <a:p>
            <a:endParaRPr lang="zh-CN" altLang="en-US"/>
          </a:p>
        </p:txBody>
      </p:sp>
      <p:sp>
        <p:nvSpPr>
          <p:cNvPr id="12" name="Text 9"/>
          <p:cNvSpPr txBox="1"/>
          <p:nvPr/>
        </p:nvSpPr>
        <p:spPr>
          <a:xfrm>
            <a:off x="2880360" y="1700784"/>
            <a:ext cx="1874520" cy="566928"/>
          </a:xfrm>
          <a:prstGeom prst="rect">
            <a:avLst/>
          </a:prstGeom>
          <a:noFill/>
        </p:spPr>
        <p:txBody>
          <a:bodyPr wrap="square" lIns="0" tIns="0" rIns="0" bIns="0" rtlCol="0" anchor="t"/>
          <a:lstStyle/>
          <a:p>
            <a:pPr marL="0" indent="0">
              <a:buNone/>
            </a:pPr>
            <a:r>
              <a:rPr lang="en-US" sz="3400" b="1" dirty="0">
                <a:solidFill>
                  <a:srgbClr val="2B8060"/>
                </a:solidFill>
                <a:latin typeface="Arial" panose="020B0604020202020204" pitchFamily="34" charset="0"/>
                <a:ea typeface="Arial" panose="020B0604020202020204" pitchFamily="34" charset="-122"/>
                <a:cs typeface="Arial" panose="020B0604020202020204" pitchFamily="34" charset="-120"/>
              </a:rPr>
              <a:t>S$100</a:t>
            </a:r>
            <a:endParaRPr lang="en-US" sz="3400" dirty="0"/>
          </a:p>
        </p:txBody>
      </p:sp>
      <p:sp>
        <p:nvSpPr>
          <p:cNvPr id="13" name="Text 10"/>
          <p:cNvSpPr txBox="1"/>
          <p:nvPr/>
        </p:nvSpPr>
        <p:spPr>
          <a:xfrm>
            <a:off x="2880360" y="2286000"/>
            <a:ext cx="1874520" cy="640080"/>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Donation → campaign escrow</a:t>
            </a:r>
            <a:endParaRPr lang="en-US" sz="1500" dirty="0"/>
          </a:p>
        </p:txBody>
      </p:sp>
      <p:sp>
        <p:nvSpPr>
          <p:cNvPr id="14" name="Shape 11"/>
          <p:cNvSpPr/>
          <p:nvPr/>
        </p:nvSpPr>
        <p:spPr>
          <a:xfrm>
            <a:off x="5257800" y="1645920"/>
            <a:ext cx="2057400" cy="1325880"/>
          </a:xfrm>
          <a:prstGeom prst="roundRect">
            <a:avLst>
              <a:gd name="adj" fmla="val 5517"/>
            </a:avLst>
          </a:prstGeom>
          <a:solidFill>
            <a:srgbClr val="F5FAF6"/>
          </a:solidFill>
          <a:ln w="12700">
            <a:solidFill>
              <a:srgbClr val="A6C8B1"/>
            </a:solidFill>
            <a:prstDash val="solid"/>
          </a:ln>
        </p:spPr>
        <p:txBody>
          <a:bodyPr/>
          <a:lstStyle/>
          <a:p>
            <a:endParaRPr lang="zh-CN" altLang="en-US"/>
          </a:p>
        </p:txBody>
      </p:sp>
      <p:pic>
        <p:nvPicPr>
          <p:cNvPr id="15" name="Image 1" descr="preencoded.png"/>
          <p:cNvPicPr>
            <a:picLocks noChangeAspect="1"/>
          </p:cNvPicPr>
          <p:nvPr/>
        </p:nvPicPr>
        <p:blipFill>
          <a:blip r:embed="rId4"/>
          <a:stretch>
            <a:fillRect/>
          </a:stretch>
        </p:blipFill>
        <p:spPr>
          <a:xfrm>
            <a:off x="5394960" y="1737360"/>
            <a:ext cx="365760" cy="365760"/>
          </a:xfrm>
          <a:prstGeom prst="rect">
            <a:avLst/>
          </a:prstGeom>
        </p:spPr>
      </p:pic>
      <p:sp>
        <p:nvSpPr>
          <p:cNvPr id="16" name="Text 12"/>
          <p:cNvSpPr txBox="1"/>
          <p:nvPr/>
        </p:nvSpPr>
        <p:spPr>
          <a:xfrm>
            <a:off x="5833872" y="1737360"/>
            <a:ext cx="1417320" cy="365760"/>
          </a:xfrm>
          <a:prstGeom prst="rect">
            <a:avLst/>
          </a:prstGeom>
          <a:noFill/>
        </p:spPr>
        <p:txBody>
          <a:bodyPr wrap="square" lIns="0" tIns="0" rIns="0" bIns="0" rtlCol="0" anchor="ctr"/>
          <a:lstStyle/>
          <a:p>
            <a:pPr marL="0" indent="0">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Supplier</a:t>
            </a:r>
            <a:endParaRPr lang="en-US" sz="1700" dirty="0"/>
          </a:p>
        </p:txBody>
      </p:sp>
      <p:sp>
        <p:nvSpPr>
          <p:cNvPr id="17" name="Text 13"/>
          <p:cNvSpPr txBox="1"/>
          <p:nvPr/>
        </p:nvSpPr>
        <p:spPr>
          <a:xfrm>
            <a:off x="5394960" y="2194560"/>
            <a:ext cx="1828800" cy="731520"/>
          </a:xfrm>
          <a:prstGeom prst="rect">
            <a:avLst/>
          </a:prstGeom>
          <a:noFill/>
        </p:spPr>
        <p:txBody>
          <a:bodyPr wrap="square" lIns="0" tIns="0" rIns="0" bIns="0" rtlCol="0" anchor="t"/>
          <a:lstStyle/>
          <a:p>
            <a:pPr marL="0" indent="0">
              <a:buNone/>
            </a:pPr>
            <a:r>
              <a:rPr lang="en-US" sz="1500" dirty="0">
                <a:solidFill>
                  <a:srgbClr val="45624F"/>
                </a:solidFill>
                <a:latin typeface="Arial" panose="020B0604020202020204" pitchFamily="34" charset="0"/>
                <a:ea typeface="Arial" panose="020B0604020202020204" pitchFamily="34" charset="-122"/>
                <a:cs typeface="Arial" panose="020B0604020202020204" pitchFamily="34" charset="-120"/>
              </a:rPr>
              <a:t>Paid after target + 2 approvals</a:t>
            </a:r>
            <a:endParaRPr lang="en-US" sz="1500" dirty="0"/>
          </a:p>
        </p:txBody>
      </p:sp>
      <p:sp>
        <p:nvSpPr>
          <p:cNvPr id="18" name="Shape 14"/>
          <p:cNvSpPr/>
          <p:nvPr/>
        </p:nvSpPr>
        <p:spPr>
          <a:xfrm>
            <a:off x="4846320" y="2304288"/>
            <a:ext cx="411480" cy="914"/>
          </a:xfrm>
          <a:prstGeom prst="line">
            <a:avLst/>
          </a:prstGeom>
          <a:noFill/>
          <a:ln w="25400">
            <a:solidFill>
              <a:srgbClr val="2B8060"/>
            </a:solidFill>
            <a:prstDash val="solid"/>
            <a:tailEnd type="triangle"/>
          </a:ln>
        </p:spPr>
        <p:txBody>
          <a:bodyPr/>
          <a:lstStyle/>
          <a:p>
            <a:endParaRPr lang="zh-CN" altLang="en-US"/>
          </a:p>
        </p:txBody>
      </p:sp>
      <p:sp>
        <p:nvSpPr>
          <p:cNvPr id="19" name="Shape 15"/>
          <p:cNvSpPr/>
          <p:nvPr/>
        </p:nvSpPr>
        <p:spPr>
          <a:xfrm>
            <a:off x="2743200" y="3657600"/>
            <a:ext cx="2103120" cy="1325880"/>
          </a:xfrm>
          <a:prstGeom prst="roundRect">
            <a:avLst>
              <a:gd name="adj" fmla="val 5517"/>
            </a:avLst>
          </a:prstGeom>
          <a:solidFill>
            <a:srgbClr val="F7E4D4"/>
          </a:solidFill>
          <a:ln w="19050">
            <a:solidFill>
              <a:srgbClr val="9A4A22"/>
            </a:solidFill>
            <a:prstDash val="solid"/>
          </a:ln>
        </p:spPr>
        <p:txBody>
          <a:bodyPr/>
          <a:lstStyle/>
          <a:p>
            <a:endParaRPr lang="zh-CN" altLang="en-US"/>
          </a:p>
        </p:txBody>
      </p:sp>
      <p:sp>
        <p:nvSpPr>
          <p:cNvPr id="20" name="Text 16"/>
          <p:cNvSpPr txBox="1"/>
          <p:nvPr/>
        </p:nvSpPr>
        <p:spPr>
          <a:xfrm>
            <a:off x="2880360" y="3712464"/>
            <a:ext cx="1874520" cy="566928"/>
          </a:xfrm>
          <a:prstGeom prst="rect">
            <a:avLst/>
          </a:prstGeom>
          <a:noFill/>
        </p:spPr>
        <p:txBody>
          <a:bodyPr wrap="square" lIns="0" tIns="0" rIns="0" bIns="0" rtlCol="0" anchor="t"/>
          <a:lstStyle/>
          <a:p>
            <a:pPr marL="0" indent="0">
              <a:buNone/>
            </a:pPr>
            <a:r>
              <a:rPr lang="en-US" sz="3400" b="1" dirty="0">
                <a:solidFill>
                  <a:srgbClr val="9A4A22"/>
                </a:solidFill>
                <a:latin typeface="Arial" panose="020B0604020202020204" pitchFamily="34" charset="0"/>
                <a:ea typeface="Arial" panose="020B0604020202020204" pitchFamily="34" charset="-122"/>
                <a:cs typeface="Arial" panose="020B0604020202020204" pitchFamily="34" charset="-120"/>
              </a:rPr>
              <a:t>S$1</a:t>
            </a:r>
            <a:endParaRPr lang="en-US" sz="3400" dirty="0"/>
          </a:p>
        </p:txBody>
      </p:sp>
      <p:sp>
        <p:nvSpPr>
          <p:cNvPr id="21" name="Text 17"/>
          <p:cNvSpPr txBox="1"/>
          <p:nvPr/>
        </p:nvSpPr>
        <p:spPr>
          <a:xfrm>
            <a:off x="2880360" y="4297680"/>
            <a:ext cx="1874520" cy="640080"/>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1% fee on top → fee vault</a:t>
            </a:r>
            <a:endParaRPr lang="en-US" sz="1500" dirty="0"/>
          </a:p>
        </p:txBody>
      </p:sp>
      <p:sp>
        <p:nvSpPr>
          <p:cNvPr id="22" name="Shape 18"/>
          <p:cNvSpPr/>
          <p:nvPr/>
        </p:nvSpPr>
        <p:spPr>
          <a:xfrm>
            <a:off x="5257800" y="3520440"/>
            <a:ext cx="2057400" cy="1600200"/>
          </a:xfrm>
          <a:prstGeom prst="roundRect">
            <a:avLst>
              <a:gd name="adj" fmla="val 4571"/>
            </a:avLst>
          </a:prstGeom>
          <a:solidFill>
            <a:srgbClr val="F7E4D4"/>
          </a:solidFill>
          <a:ln w="12700">
            <a:solidFill>
              <a:srgbClr val="9A4A22"/>
            </a:solidFill>
            <a:prstDash val="dash"/>
          </a:ln>
        </p:spPr>
        <p:txBody>
          <a:bodyPr/>
          <a:lstStyle/>
          <a:p>
            <a:endParaRPr lang="zh-CN" altLang="en-US"/>
          </a:p>
        </p:txBody>
      </p:sp>
      <p:sp>
        <p:nvSpPr>
          <p:cNvPr id="23" name="Text 19"/>
          <p:cNvSpPr txBox="1"/>
          <p:nvPr/>
        </p:nvSpPr>
        <p:spPr>
          <a:xfrm>
            <a:off x="5394960" y="3566160"/>
            <a:ext cx="1828800" cy="256032"/>
          </a:xfrm>
          <a:prstGeom prst="rect">
            <a:avLst/>
          </a:prstGeom>
          <a:noFill/>
        </p:spPr>
        <p:txBody>
          <a:bodyPr wrap="square" lIns="0" tIns="0" rIns="0" bIns="0" rtlCol="0" anchor="t"/>
          <a:lstStyle/>
          <a:p>
            <a:pPr marL="0" indent="0">
              <a:buNone/>
            </a:pPr>
            <a:r>
              <a:rPr lang="en-US" sz="1200" b="1" dirty="0">
                <a:solidFill>
                  <a:srgbClr val="9A4A22"/>
                </a:solidFill>
                <a:latin typeface="Arial" panose="020B0604020202020204" pitchFamily="34" charset="0"/>
                <a:ea typeface="Arial" panose="020B0604020202020204" pitchFamily="34" charset="-122"/>
                <a:cs typeface="Arial" panose="020B0604020202020204" pitchFamily="34" charset="-120"/>
              </a:rPr>
              <a:t>FEE VAULT</a:t>
            </a:r>
            <a:endParaRPr lang="en-US" sz="1200" dirty="0"/>
          </a:p>
        </p:txBody>
      </p:sp>
      <p:sp>
        <p:nvSpPr>
          <p:cNvPr id="24" name="Text 20"/>
          <p:cNvSpPr txBox="1"/>
          <p:nvPr/>
        </p:nvSpPr>
        <p:spPr>
          <a:xfrm>
            <a:off x="5394960" y="3840480"/>
            <a:ext cx="1874520" cy="1188720"/>
          </a:xfrm>
          <a:prstGeom prst="rect">
            <a:avLst/>
          </a:prstGeom>
          <a:noFill/>
        </p:spPr>
        <p:txBody>
          <a:bodyPr wrap="square" lIns="0" tIns="0" rIns="0" bIns="0" rtlCol="0" anchor="t"/>
          <a:lstStyle/>
          <a:p>
            <a:pPr marL="0" indent="0">
              <a:spcAft>
                <a:spcPts val="600"/>
              </a:spcAft>
              <a:buNone/>
            </a:pPr>
            <a:r>
              <a:rPr lang="en-US" sz="1600" b="1" dirty="0">
                <a:solidFill>
                  <a:srgbClr val="9A4A22"/>
                </a:solidFill>
                <a:latin typeface="Arial" panose="020B0604020202020204" pitchFamily="34" charset="0"/>
                <a:ea typeface="Arial" panose="020B0604020202020204" pitchFamily="34" charset="-122"/>
                <a:cs typeface="Arial" panose="020B0604020202020204" pitchFamily="34" charset="-120"/>
              </a:rPr>
              <a:t>S$0.60 </a:t>
            </a: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operations</a:t>
            </a:r>
            <a:endParaRPr lang="en-US" sz="1600" dirty="0"/>
          </a:p>
          <a:p>
            <a:pPr marL="0" indent="0">
              <a:spcAft>
                <a:spcPts val="600"/>
              </a:spcAft>
              <a:buNone/>
            </a:pPr>
            <a:r>
              <a:rPr lang="en-US" sz="1600" b="1" dirty="0">
                <a:solidFill>
                  <a:srgbClr val="9A4A22"/>
                </a:solidFill>
                <a:latin typeface="Arial" panose="020B0604020202020204" pitchFamily="34" charset="0"/>
                <a:ea typeface="Arial" panose="020B0604020202020204" pitchFamily="34" charset="-122"/>
                <a:cs typeface="Arial" panose="020B0604020202020204" pitchFamily="34" charset="-120"/>
              </a:rPr>
              <a:t>S$0.40 </a:t>
            </a: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reviewer credits</a:t>
            </a:r>
            <a:endParaRPr lang="en-US" sz="1600" dirty="0"/>
          </a:p>
        </p:txBody>
      </p:sp>
      <p:sp>
        <p:nvSpPr>
          <p:cNvPr id="25" name="Shape 21"/>
          <p:cNvSpPr/>
          <p:nvPr/>
        </p:nvSpPr>
        <p:spPr>
          <a:xfrm>
            <a:off x="4846320" y="4315968"/>
            <a:ext cx="411480" cy="914"/>
          </a:xfrm>
          <a:prstGeom prst="line">
            <a:avLst/>
          </a:prstGeom>
          <a:noFill/>
          <a:ln w="25400">
            <a:solidFill>
              <a:srgbClr val="9A4A22"/>
            </a:solidFill>
            <a:prstDash val="solid"/>
            <a:tailEnd type="triangle"/>
          </a:ln>
        </p:spPr>
        <p:txBody>
          <a:bodyPr/>
          <a:lstStyle/>
          <a:p>
            <a:endParaRPr lang="zh-CN" altLang="en-US"/>
          </a:p>
        </p:txBody>
      </p:sp>
      <p:sp>
        <p:nvSpPr>
          <p:cNvPr id="26" name="Shape 22"/>
          <p:cNvSpPr/>
          <p:nvPr/>
        </p:nvSpPr>
        <p:spPr>
          <a:xfrm>
            <a:off x="2240280" y="3310128"/>
            <a:ext cx="274320" cy="0"/>
          </a:xfrm>
          <a:prstGeom prst="line">
            <a:avLst/>
          </a:prstGeom>
          <a:noFill/>
          <a:ln w="25400">
            <a:solidFill>
              <a:srgbClr val="2B8060"/>
            </a:solidFill>
            <a:prstDash val="solid"/>
          </a:ln>
        </p:spPr>
        <p:txBody>
          <a:bodyPr/>
          <a:lstStyle/>
          <a:p>
            <a:endParaRPr lang="zh-CN" altLang="en-US"/>
          </a:p>
        </p:txBody>
      </p:sp>
      <p:sp>
        <p:nvSpPr>
          <p:cNvPr id="27" name="Shape 23"/>
          <p:cNvSpPr/>
          <p:nvPr/>
        </p:nvSpPr>
        <p:spPr>
          <a:xfrm>
            <a:off x="2514600" y="2304288"/>
            <a:ext cx="0" cy="2011680"/>
          </a:xfrm>
          <a:prstGeom prst="line">
            <a:avLst/>
          </a:prstGeom>
          <a:noFill/>
          <a:ln w="25400">
            <a:solidFill>
              <a:srgbClr val="2B8060"/>
            </a:solidFill>
            <a:prstDash val="solid"/>
          </a:ln>
        </p:spPr>
        <p:txBody>
          <a:bodyPr/>
          <a:lstStyle/>
          <a:p>
            <a:endParaRPr lang="zh-CN" altLang="en-US"/>
          </a:p>
        </p:txBody>
      </p:sp>
      <p:sp>
        <p:nvSpPr>
          <p:cNvPr id="28" name="Shape 24"/>
          <p:cNvSpPr/>
          <p:nvPr/>
        </p:nvSpPr>
        <p:spPr>
          <a:xfrm>
            <a:off x="2514600" y="2304288"/>
            <a:ext cx="228600" cy="914"/>
          </a:xfrm>
          <a:prstGeom prst="line">
            <a:avLst/>
          </a:prstGeom>
          <a:noFill/>
          <a:ln w="25400">
            <a:solidFill>
              <a:srgbClr val="2B8060"/>
            </a:solidFill>
            <a:prstDash val="solid"/>
            <a:tailEnd type="triangle"/>
          </a:ln>
        </p:spPr>
        <p:txBody>
          <a:bodyPr/>
          <a:lstStyle/>
          <a:p>
            <a:endParaRPr lang="zh-CN" altLang="en-US"/>
          </a:p>
        </p:txBody>
      </p:sp>
      <p:sp>
        <p:nvSpPr>
          <p:cNvPr id="29" name="Shape 25"/>
          <p:cNvSpPr/>
          <p:nvPr/>
        </p:nvSpPr>
        <p:spPr>
          <a:xfrm>
            <a:off x="2514600" y="4315968"/>
            <a:ext cx="228600" cy="914"/>
          </a:xfrm>
          <a:prstGeom prst="line">
            <a:avLst/>
          </a:prstGeom>
          <a:noFill/>
          <a:ln w="25400">
            <a:solidFill>
              <a:srgbClr val="9A4A22"/>
            </a:solidFill>
            <a:prstDash val="solid"/>
            <a:tailEnd type="triangle"/>
          </a:ln>
        </p:spPr>
        <p:txBody>
          <a:bodyPr/>
          <a:lstStyle/>
          <a:p>
            <a:endParaRPr lang="zh-CN" altLang="en-US"/>
          </a:p>
        </p:txBody>
      </p:sp>
      <p:sp>
        <p:nvSpPr>
          <p:cNvPr id="30" name="Shape 26"/>
          <p:cNvSpPr/>
          <p:nvPr/>
        </p:nvSpPr>
        <p:spPr>
          <a:xfrm>
            <a:off x="548640" y="5349240"/>
            <a:ext cx="6766560" cy="896112"/>
          </a:xfrm>
          <a:prstGeom prst="roundRect">
            <a:avLst>
              <a:gd name="adj" fmla="val 8163"/>
            </a:avLst>
          </a:prstGeom>
          <a:solidFill>
            <a:srgbClr val="FFFFFF"/>
          </a:solidFill>
          <a:ln w="12700">
            <a:solidFill>
              <a:srgbClr val="A6C8B1"/>
            </a:solidFill>
            <a:prstDash val="solid"/>
          </a:ln>
        </p:spPr>
        <p:txBody>
          <a:bodyPr/>
          <a:lstStyle/>
          <a:p>
            <a:endParaRPr lang="zh-CN" altLang="en-US"/>
          </a:p>
        </p:txBody>
      </p:sp>
      <p:sp>
        <p:nvSpPr>
          <p:cNvPr id="31" name="Text 27"/>
          <p:cNvSpPr txBox="1"/>
          <p:nvPr/>
        </p:nvSpPr>
        <p:spPr>
          <a:xfrm>
            <a:off x="713232" y="5440680"/>
            <a:ext cx="1325880" cy="274320"/>
          </a:xfrm>
          <a:prstGeom prst="roundRect">
            <a:avLst>
              <a:gd name="adj" fmla="val 50000"/>
            </a:avLst>
          </a:prstGeom>
          <a:solidFill>
            <a:srgbClr val="2B8060"/>
          </a:solidFill>
          <a:ln w="12700">
            <a:solidFill>
              <a:srgbClr val="2B8060"/>
            </a:solid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IN THE DEMO</a:t>
            </a:r>
            <a:endParaRPr lang="en-US" sz="1100" dirty="0"/>
          </a:p>
        </p:txBody>
      </p:sp>
      <p:sp>
        <p:nvSpPr>
          <p:cNvPr id="32" name="Text 28"/>
          <p:cNvSpPr txBox="1"/>
          <p:nvPr/>
        </p:nvSpPr>
        <p:spPr>
          <a:xfrm>
            <a:off x="2194560" y="5394960"/>
            <a:ext cx="5029200" cy="804672"/>
          </a:xfrm>
          <a:prstGeom prst="rect">
            <a:avLst/>
          </a:prstGeom>
          <a:noFill/>
        </p:spPr>
        <p:txBody>
          <a:bodyPr wrap="square" lIns="0" tIns="0" rIns="0" bIns="0" rtlCol="0" anchor="ctr"/>
          <a:lstStyle/>
          <a:p>
            <a:pPr marL="0" indent="0">
              <a:buNone/>
            </a:pPr>
            <a:r>
              <a:rPr lang="en-US" sz="1400" dirty="0">
                <a:solidFill>
                  <a:srgbClr val="1C2A23"/>
                </a:solidFill>
                <a:latin typeface="Arial" panose="020B0604020202020204" pitchFamily="34" charset="0"/>
                <a:ea typeface="Arial" panose="020B0604020202020204" pitchFamily="34" charset="-122"/>
                <a:cs typeface="Arial" panose="020B0604020202020204" pitchFamily="34" charset="-120"/>
              </a:rPr>
              <a:t>Split runs on CGUSD demo tokens; fee kept on refunds. No real money; costs of gas, payments, storage and review not yet validated.</a:t>
            </a:r>
            <a:endParaRPr lang="en-US" sz="1400" dirty="0"/>
          </a:p>
        </p:txBody>
      </p:sp>
      <p:sp>
        <p:nvSpPr>
          <p:cNvPr id="33" name="Shape 29"/>
          <p:cNvSpPr/>
          <p:nvPr/>
        </p:nvSpPr>
        <p:spPr>
          <a:xfrm>
            <a:off x="7589520" y="1481328"/>
            <a:ext cx="4069080" cy="4764024"/>
          </a:xfrm>
          <a:prstGeom prst="roundRect">
            <a:avLst>
              <a:gd name="adj" fmla="val 1798"/>
            </a:avLst>
          </a:prstGeom>
          <a:solidFill>
            <a:srgbClr val="FFFFFF"/>
          </a:solidFill>
          <a:ln w="15875">
            <a:solidFill>
              <a:srgbClr val="9A4A22"/>
            </a:solidFill>
            <a:prstDash val="solid"/>
          </a:ln>
        </p:spPr>
        <p:txBody>
          <a:bodyPr/>
          <a:lstStyle/>
          <a:p>
            <a:endParaRPr lang="zh-CN" altLang="en-US"/>
          </a:p>
        </p:txBody>
      </p:sp>
      <p:sp>
        <p:nvSpPr>
          <p:cNvPr id="34" name="Text 30"/>
          <p:cNvSpPr txBox="1"/>
          <p:nvPr/>
        </p:nvSpPr>
        <p:spPr>
          <a:xfrm>
            <a:off x="7772400" y="1554480"/>
            <a:ext cx="2651760" cy="365760"/>
          </a:xfrm>
          <a:prstGeom prst="rect">
            <a:avLst/>
          </a:prstGeom>
          <a:noFill/>
        </p:spPr>
        <p:txBody>
          <a:bodyPr wrap="square" lIns="0" tIns="0" rIns="0" bIns="0" rtlCol="0" anchor="ctr"/>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Reviewer incentives</a:t>
            </a:r>
            <a:endParaRPr lang="en-US" sz="1800" dirty="0"/>
          </a:p>
        </p:txBody>
      </p:sp>
      <p:sp>
        <p:nvSpPr>
          <p:cNvPr id="35" name="Text 31"/>
          <p:cNvSpPr txBox="1"/>
          <p:nvPr/>
        </p:nvSpPr>
        <p:spPr>
          <a:xfrm>
            <a:off x="10241280" y="1600200"/>
            <a:ext cx="1325880" cy="274320"/>
          </a:xfrm>
          <a:prstGeom prst="roundRect">
            <a:avLst>
              <a:gd name="adj" fmla="val 50000"/>
            </a:avLst>
          </a:prstGeom>
          <a:solidFill>
            <a:srgbClr val="F7E4D4"/>
          </a:solidFill>
          <a:ln w="12700">
            <a:solidFill>
              <a:srgbClr val="9A4A22"/>
            </a:solidFill>
          </a:ln>
        </p:spPr>
        <p:txBody>
          <a:bodyPr wrap="square" lIns="0" tIns="0" rIns="0" bIns="0" rtlCol="0" anchor="ctr"/>
          <a:lstStyle/>
          <a:p>
            <a:pPr marL="0" indent="0" algn="ctr">
              <a:buNone/>
            </a:pPr>
            <a:r>
              <a:rPr lang="en-US" sz="1100" b="1" dirty="0">
                <a:solidFill>
                  <a:srgbClr val="9A4A22"/>
                </a:solidFill>
                <a:latin typeface="Arial" panose="020B0604020202020204" pitchFamily="34" charset="0"/>
                <a:ea typeface="Arial" panose="020B0604020202020204" pitchFamily="34" charset="-122"/>
                <a:cs typeface="Arial" panose="020B0604020202020204" pitchFamily="34" charset="-120"/>
              </a:rPr>
              <a:t>PARTLY BUILT</a:t>
            </a:r>
            <a:endParaRPr lang="en-US" sz="1100" dirty="0"/>
          </a:p>
        </p:txBody>
      </p:sp>
      <p:sp>
        <p:nvSpPr>
          <p:cNvPr id="36" name="Text 32"/>
          <p:cNvSpPr txBox="1"/>
          <p:nvPr/>
        </p:nvSpPr>
        <p:spPr>
          <a:xfrm>
            <a:off x="7772400" y="1947672"/>
            <a:ext cx="3749040" cy="457200"/>
          </a:xfrm>
          <a:prstGeom prst="rect">
            <a:avLst/>
          </a:prstGeom>
          <a:noFill/>
        </p:spPr>
        <p:txBody>
          <a:bodyPr wrap="square" lIns="0" tIns="0" rIns="0" bIns="0" rtlCol="0" anchor="t"/>
          <a:lstStyle/>
          <a:p>
            <a:pPr marL="0" indent="0">
              <a:buNone/>
            </a:pPr>
            <a:r>
              <a:rPr lang="en-US" sz="1400" i="1" dirty="0">
                <a:solidFill>
                  <a:srgbClr val="45624F"/>
                </a:solidFill>
                <a:latin typeface="Arial" panose="020B0604020202020204" pitchFamily="34" charset="0"/>
                <a:ea typeface="Arial" panose="020B0604020202020204" pitchFamily="34" charset="-122"/>
                <a:cs typeface="Arial" panose="020B0604020202020204" pitchFamily="34" charset="-120"/>
              </a:rPr>
              <a:t>Reviewers earn donation-only credits; decisions stay accountable.</a:t>
            </a:r>
            <a:endParaRPr lang="en-US" sz="1400" dirty="0"/>
          </a:p>
        </p:txBody>
      </p:sp>
      <p:pic>
        <p:nvPicPr>
          <p:cNvPr id="37" name="Image 2" descr="preencoded.png"/>
          <p:cNvPicPr>
            <a:picLocks noChangeAspect="1"/>
          </p:cNvPicPr>
          <p:nvPr/>
        </p:nvPicPr>
        <p:blipFill>
          <a:blip r:embed="rId5"/>
          <a:stretch>
            <a:fillRect/>
          </a:stretch>
        </p:blipFill>
        <p:spPr>
          <a:xfrm>
            <a:off x="7772400" y="2505456"/>
            <a:ext cx="292608" cy="292608"/>
          </a:xfrm>
          <a:prstGeom prst="rect">
            <a:avLst/>
          </a:prstGeom>
        </p:spPr>
      </p:pic>
      <p:sp>
        <p:nvSpPr>
          <p:cNvPr id="38" name="Text 33"/>
          <p:cNvSpPr txBox="1"/>
          <p:nvPr/>
        </p:nvSpPr>
        <p:spPr>
          <a:xfrm>
            <a:off x="8183880" y="2468880"/>
            <a:ext cx="3383280" cy="2743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Open, verified entry</a:t>
            </a:r>
            <a:r>
              <a:rPr lang="en-US" sz="1100" b="1" dirty="0">
                <a:solidFill>
                  <a:srgbClr val="9A4A22"/>
                </a:solidFill>
                <a:latin typeface="Arial" panose="020B0604020202020204" pitchFamily="34" charset="0"/>
                <a:ea typeface="Arial" panose="020B0604020202020204" pitchFamily="34" charset="-122"/>
                <a:cs typeface="Arial" panose="020B0604020202020204" pitchFamily="34" charset="-120"/>
              </a:rPr>
              <a:t>  PROPOSED</a:t>
            </a:r>
            <a:endParaRPr lang="en-US" sz="1500" dirty="0"/>
          </a:p>
        </p:txBody>
      </p:sp>
      <p:sp>
        <p:nvSpPr>
          <p:cNvPr id="39" name="Text 34"/>
          <p:cNvSpPr txBox="1"/>
          <p:nvPr/>
        </p:nvSpPr>
        <p:spPr>
          <a:xfrm>
            <a:off x="8183880" y="2734056"/>
            <a:ext cx="3383280" cy="457200"/>
          </a:xfrm>
          <a:prstGeom prst="rect">
            <a:avLst/>
          </a:prstGeom>
          <a:noFill/>
        </p:spPr>
        <p:txBody>
          <a:bodyPr wrap="square" lIns="0" tIns="0" rIns="0" bIns="0" rtlCol="0" anchor="t"/>
          <a:lstStyle/>
          <a:p>
            <a:pPr marL="0" indent="0">
              <a:buNone/>
            </a:pPr>
            <a:r>
              <a:rPr lang="en-US" sz="1300" dirty="0">
                <a:solidFill>
                  <a:srgbClr val="1C2A23"/>
                </a:solidFill>
                <a:latin typeface="Arial" panose="020B0604020202020204" pitchFamily="34" charset="0"/>
                <a:ea typeface="Arial" panose="020B0604020202020204" pitchFamily="34" charset="-122"/>
                <a:cs typeface="Arial" panose="020B0604020202020204" pitchFamily="34" charset="-120"/>
              </a:rPr>
              <a:t>Anyone may apply; basic checks deter fake accounts</a:t>
            </a:r>
            <a:endParaRPr lang="en-US" sz="1300" dirty="0"/>
          </a:p>
        </p:txBody>
      </p:sp>
      <p:pic>
        <p:nvPicPr>
          <p:cNvPr id="40" name="Image 3" descr="preencoded.png"/>
          <p:cNvPicPr>
            <a:picLocks noChangeAspect="1"/>
          </p:cNvPicPr>
          <p:nvPr/>
        </p:nvPicPr>
        <p:blipFill>
          <a:blip r:embed="rId6"/>
          <a:stretch>
            <a:fillRect/>
          </a:stretch>
        </p:blipFill>
        <p:spPr>
          <a:xfrm>
            <a:off x="7772400" y="3255264"/>
            <a:ext cx="292608" cy="292608"/>
          </a:xfrm>
          <a:prstGeom prst="rect">
            <a:avLst/>
          </a:prstGeom>
        </p:spPr>
      </p:pic>
      <p:sp>
        <p:nvSpPr>
          <p:cNvPr id="41" name="Text 35"/>
          <p:cNvSpPr txBox="1"/>
          <p:nvPr/>
        </p:nvSpPr>
        <p:spPr>
          <a:xfrm>
            <a:off x="8183880" y="3218688"/>
            <a:ext cx="3383280" cy="2743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Random pairs</a:t>
            </a:r>
            <a:r>
              <a:rPr lang="en-US" sz="1100" b="1" dirty="0">
                <a:solidFill>
                  <a:srgbClr val="9A4A22"/>
                </a:solidFill>
                <a:latin typeface="Arial" panose="020B0604020202020204" pitchFamily="34" charset="0"/>
                <a:ea typeface="Arial" panose="020B0604020202020204" pitchFamily="34" charset="-122"/>
                <a:cs typeface="Arial" panose="020B0604020202020204" pitchFamily="34" charset="-120"/>
              </a:rPr>
              <a:t>  PROPOSED</a:t>
            </a:r>
            <a:endParaRPr lang="en-US" sz="1500" dirty="0"/>
          </a:p>
        </p:txBody>
      </p:sp>
      <p:sp>
        <p:nvSpPr>
          <p:cNvPr id="42" name="Text 36"/>
          <p:cNvSpPr txBox="1"/>
          <p:nvPr/>
        </p:nvSpPr>
        <p:spPr>
          <a:xfrm>
            <a:off x="8183880" y="3483864"/>
            <a:ext cx="3383280" cy="457200"/>
          </a:xfrm>
          <a:prstGeom prst="rect">
            <a:avLst/>
          </a:prstGeom>
          <a:noFill/>
        </p:spPr>
        <p:txBody>
          <a:bodyPr wrap="square" lIns="0" tIns="0" rIns="0" bIns="0" rtlCol="0" anchor="t"/>
          <a:lstStyle/>
          <a:p>
            <a:pPr marL="0" indent="0">
              <a:buNone/>
            </a:pPr>
            <a:r>
              <a:rPr lang="en-US" sz="1300" dirty="0">
                <a:solidFill>
                  <a:srgbClr val="1C2A23"/>
                </a:solidFill>
                <a:latin typeface="Arial" panose="020B0604020202020204" pitchFamily="34" charset="0"/>
                <a:ea typeface="Arial" panose="020B0604020202020204" pitchFamily="34" charset="-122"/>
                <a:cs typeface="Arial" panose="020B0604020202020204" pitchFamily="34" charset="-120"/>
              </a:rPr>
              <a:t>Two independent reviewers per project; lowers, not removes, collusion</a:t>
            </a:r>
            <a:endParaRPr lang="en-US" sz="1300" dirty="0"/>
          </a:p>
        </p:txBody>
      </p:sp>
      <p:pic>
        <p:nvPicPr>
          <p:cNvPr id="43" name="Image 4" descr="preencoded.png"/>
          <p:cNvPicPr>
            <a:picLocks noChangeAspect="1"/>
          </p:cNvPicPr>
          <p:nvPr/>
        </p:nvPicPr>
        <p:blipFill>
          <a:blip r:embed="rId7"/>
          <a:stretch>
            <a:fillRect/>
          </a:stretch>
        </p:blipFill>
        <p:spPr>
          <a:xfrm>
            <a:off x="7772400" y="4005072"/>
            <a:ext cx="292608" cy="292608"/>
          </a:xfrm>
          <a:prstGeom prst="rect">
            <a:avLst/>
          </a:prstGeom>
        </p:spPr>
      </p:pic>
      <p:sp>
        <p:nvSpPr>
          <p:cNvPr id="44" name="Text 37"/>
          <p:cNvSpPr txBox="1"/>
          <p:nvPr/>
        </p:nvSpPr>
        <p:spPr>
          <a:xfrm>
            <a:off x="8183880" y="3968496"/>
            <a:ext cx="3383280" cy="2743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One reward per campaign</a:t>
            </a:r>
            <a:r>
              <a:rPr lang="en-US" sz="1100" b="1" dirty="0">
                <a:solidFill>
                  <a:srgbClr val="2B8060"/>
                </a:solidFill>
                <a:latin typeface="Arial" panose="020B0604020202020204" pitchFamily="34" charset="0"/>
                <a:ea typeface="Arial" panose="020B0604020202020204" pitchFamily="34" charset="-122"/>
                <a:cs typeface="Arial" panose="020B0604020202020204" pitchFamily="34" charset="-120"/>
              </a:rPr>
              <a:t>  BUILT</a:t>
            </a:r>
            <a:endParaRPr lang="en-US" sz="1500" dirty="0"/>
          </a:p>
        </p:txBody>
      </p:sp>
      <p:sp>
        <p:nvSpPr>
          <p:cNvPr id="45" name="Text 38"/>
          <p:cNvSpPr txBox="1"/>
          <p:nvPr/>
        </p:nvSpPr>
        <p:spPr>
          <a:xfrm>
            <a:off x="8183880" y="4233672"/>
            <a:ext cx="3383280" cy="457200"/>
          </a:xfrm>
          <a:prstGeom prst="rect">
            <a:avLst/>
          </a:prstGeom>
          <a:noFill/>
        </p:spPr>
        <p:txBody>
          <a:bodyPr wrap="square" lIns="0" tIns="0" rIns="0" bIns="0" rtlCol="0" anchor="t"/>
          <a:lstStyle/>
          <a:p>
            <a:pPr marL="0" indent="0">
              <a:buNone/>
            </a:pPr>
            <a:r>
              <a:rPr lang="en-US" sz="1300" dirty="0">
                <a:solidFill>
                  <a:srgbClr val="1C2A23"/>
                </a:solidFill>
                <a:latin typeface="Arial" panose="020B0604020202020204" pitchFamily="34" charset="0"/>
                <a:ea typeface="Arial" panose="020B0604020202020204" pitchFamily="34" charset="-122"/>
                <a:cs typeface="Arial" panose="020B0604020202020204" pitchFamily="34" charset="-120"/>
              </a:rPr>
              <a:t>Split equally once both review; S$0.20 each per S$100 gift</a:t>
            </a:r>
            <a:endParaRPr lang="en-US" sz="1300" dirty="0"/>
          </a:p>
        </p:txBody>
      </p:sp>
      <p:pic>
        <p:nvPicPr>
          <p:cNvPr id="46" name="Image 5" descr="preencoded.png"/>
          <p:cNvPicPr>
            <a:picLocks noChangeAspect="1"/>
          </p:cNvPicPr>
          <p:nvPr/>
        </p:nvPicPr>
        <p:blipFill>
          <a:blip r:embed="rId8"/>
          <a:stretch>
            <a:fillRect/>
          </a:stretch>
        </p:blipFill>
        <p:spPr>
          <a:xfrm>
            <a:off x="7772400" y="4754880"/>
            <a:ext cx="292608" cy="292608"/>
          </a:xfrm>
          <a:prstGeom prst="rect">
            <a:avLst/>
          </a:prstGeom>
        </p:spPr>
      </p:pic>
      <p:sp>
        <p:nvSpPr>
          <p:cNvPr id="47" name="Text 39"/>
          <p:cNvSpPr txBox="1"/>
          <p:nvPr/>
        </p:nvSpPr>
        <p:spPr>
          <a:xfrm>
            <a:off x="8183880" y="4718304"/>
            <a:ext cx="3383280" cy="2743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Donation-only credits</a:t>
            </a:r>
            <a:r>
              <a:rPr lang="en-US" sz="1100" b="1" dirty="0">
                <a:solidFill>
                  <a:srgbClr val="2B8060"/>
                </a:solidFill>
                <a:latin typeface="Arial" panose="020B0604020202020204" pitchFamily="34" charset="0"/>
                <a:ea typeface="Arial" panose="020B0604020202020204" pitchFamily="34" charset="-122"/>
                <a:cs typeface="Arial" panose="020B0604020202020204" pitchFamily="34" charset="-120"/>
              </a:rPr>
              <a:t>  BUILT</a:t>
            </a:r>
            <a:endParaRPr lang="en-US" sz="1500" dirty="0"/>
          </a:p>
        </p:txBody>
      </p:sp>
      <p:sp>
        <p:nvSpPr>
          <p:cNvPr id="48" name="Text 40"/>
          <p:cNvSpPr txBox="1"/>
          <p:nvPr/>
        </p:nvSpPr>
        <p:spPr>
          <a:xfrm>
            <a:off x="8183880" y="4983480"/>
            <a:ext cx="3383280" cy="457200"/>
          </a:xfrm>
          <a:prstGeom prst="rect">
            <a:avLst/>
          </a:prstGeom>
          <a:noFill/>
        </p:spPr>
        <p:txBody>
          <a:bodyPr wrap="square" lIns="0" tIns="0" rIns="0" bIns="0" rtlCol="0" anchor="t"/>
          <a:lstStyle/>
          <a:p>
            <a:pPr marL="0" indent="0">
              <a:buNone/>
            </a:pPr>
            <a:r>
              <a:rPr lang="en-US" sz="1300" dirty="0">
                <a:solidFill>
                  <a:srgbClr val="1C2A23"/>
                </a:solidFill>
                <a:latin typeface="Arial" panose="020B0604020202020204" pitchFamily="34" charset="0"/>
                <a:ea typeface="Arial" panose="020B0604020202020204" pitchFamily="34" charset="-122"/>
                <a:cs typeface="Arial" panose="020B0604020202020204" pitchFamily="34" charset="-120"/>
              </a:rPr>
              <a:t>From the 40% reserve; no cash-out or transfer; cannot fund own campaign</a:t>
            </a:r>
            <a:endParaRPr lang="en-US" sz="1300" dirty="0"/>
          </a:p>
        </p:txBody>
      </p:sp>
      <p:pic>
        <p:nvPicPr>
          <p:cNvPr id="49" name="Image 6" descr="preencoded.png"/>
          <p:cNvPicPr>
            <a:picLocks noChangeAspect="1"/>
          </p:cNvPicPr>
          <p:nvPr/>
        </p:nvPicPr>
        <p:blipFill>
          <a:blip r:embed="rId9"/>
          <a:stretch>
            <a:fillRect/>
          </a:stretch>
        </p:blipFill>
        <p:spPr>
          <a:xfrm>
            <a:off x="7772400" y="5504688"/>
            <a:ext cx="292608" cy="292608"/>
          </a:xfrm>
          <a:prstGeom prst="rect">
            <a:avLst/>
          </a:prstGeom>
        </p:spPr>
      </p:pic>
      <p:sp>
        <p:nvSpPr>
          <p:cNvPr id="50" name="Text 41"/>
          <p:cNvSpPr txBox="1"/>
          <p:nvPr/>
        </p:nvSpPr>
        <p:spPr>
          <a:xfrm>
            <a:off x="8183880" y="5468112"/>
            <a:ext cx="3383280" cy="2743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Accountable record</a:t>
            </a:r>
            <a:r>
              <a:rPr lang="en-US" sz="1100" b="1" dirty="0">
                <a:solidFill>
                  <a:srgbClr val="9A4A22"/>
                </a:solidFill>
                <a:latin typeface="Arial" panose="020B0604020202020204" pitchFamily="34" charset="0"/>
                <a:ea typeface="Arial" panose="020B0604020202020204" pitchFamily="34" charset="-122"/>
                <a:cs typeface="Arial" panose="020B0604020202020204" pitchFamily="34" charset="-120"/>
              </a:rPr>
              <a:t>  PARTLY BUILT</a:t>
            </a:r>
            <a:endParaRPr lang="en-US" sz="1500" dirty="0"/>
          </a:p>
        </p:txBody>
      </p:sp>
      <p:sp>
        <p:nvSpPr>
          <p:cNvPr id="51" name="Text 42"/>
          <p:cNvSpPr txBox="1"/>
          <p:nvPr/>
        </p:nvSpPr>
        <p:spPr>
          <a:xfrm>
            <a:off x="8183880" y="5733288"/>
            <a:ext cx="3383280" cy="457200"/>
          </a:xfrm>
          <a:prstGeom prst="rect">
            <a:avLst/>
          </a:prstGeom>
          <a:noFill/>
        </p:spPr>
        <p:txBody>
          <a:bodyPr wrap="square" lIns="0" tIns="0" rIns="0" bIns="0" rtlCol="0" anchor="t"/>
          <a:lstStyle/>
          <a:p>
            <a:pPr marL="0" indent="0">
              <a:buNone/>
            </a:pPr>
            <a:r>
              <a:rPr lang="en-US" sz="1300" dirty="0">
                <a:solidFill>
                  <a:srgbClr val="1C2A23"/>
                </a:solidFill>
                <a:latin typeface="Arial" panose="020B0604020202020204" pitchFamily="34" charset="0"/>
                <a:ea typeface="Arial" panose="020B0604020202020204" pitchFamily="34" charset="-122"/>
                <a:cs typeface="Arial" panose="020B0604020202020204" pitchFamily="34" charset="-120"/>
              </a:rPr>
              <a:t>Decisions on-chain (built); spot checks and appeals (proposed)</a:t>
            </a:r>
            <a:endParaRPr lang="en-US" sz="1300" dirty="0"/>
          </a:p>
        </p:txBody>
      </p:sp>
      <p:sp>
        <p:nvSpPr>
          <p:cNvPr id="52"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04 · TECHNICAL MODEL · ARCHITECTURE &amp; DATA BOUNDARIES</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One browser, one local chain, two kinds of storage</a:t>
            </a:r>
            <a:endParaRPr lang="en-US" sz="3200" dirty="0"/>
          </a:p>
        </p:txBody>
      </p:sp>
      <p:sp>
        <p:nvSpPr>
          <p:cNvPr id="5" name="Text 3"/>
          <p:cNvSpPr txBox="1"/>
          <p:nvPr/>
        </p:nvSpPr>
        <p:spPr>
          <a:xfrm>
            <a:off x="10012680" y="292608"/>
            <a:ext cx="1645920" cy="274320"/>
          </a:xfrm>
          <a:prstGeom prst="roundRect">
            <a:avLst>
              <a:gd name="adj" fmla="val 50000"/>
            </a:avLst>
          </a:prstGeom>
          <a:solidFill>
            <a:srgbClr val="2B8060"/>
          </a:solidFill>
          <a:ln w="12700">
            <a:solidFill>
              <a:srgbClr val="2B8060"/>
            </a:solid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DEMONSTRATED</a:t>
            </a:r>
            <a:endParaRPr lang="en-US" sz="1100" dirty="0"/>
          </a:p>
        </p:txBody>
      </p:sp>
      <p:sp>
        <p:nvSpPr>
          <p:cNvPr id="6" name="Shape 4"/>
          <p:cNvSpPr/>
          <p:nvPr/>
        </p:nvSpPr>
        <p:spPr>
          <a:xfrm>
            <a:off x="548640" y="1417320"/>
            <a:ext cx="2377440" cy="1417320"/>
          </a:xfrm>
          <a:prstGeom prst="roundRect">
            <a:avLst>
              <a:gd name="adj" fmla="val 5161"/>
            </a:avLst>
          </a:prstGeom>
          <a:solidFill>
            <a:srgbClr val="F5FAF6"/>
          </a:solidFill>
          <a:ln w="12700">
            <a:solidFill>
              <a:srgbClr val="A6C8B1"/>
            </a:solidFill>
            <a:prstDash val="solid"/>
          </a:ln>
        </p:spPr>
        <p:txBody>
          <a:bodyPr/>
          <a:lstStyle/>
          <a:p>
            <a:endParaRPr lang="zh-CN" altLang="en-US"/>
          </a:p>
        </p:txBody>
      </p:sp>
      <p:pic>
        <p:nvPicPr>
          <p:cNvPr id="7" name="Image 0" descr="preencoded.png"/>
          <p:cNvPicPr>
            <a:picLocks noChangeAspect="1"/>
          </p:cNvPicPr>
          <p:nvPr/>
        </p:nvPicPr>
        <p:blipFill>
          <a:blip r:embed="rId3"/>
          <a:stretch>
            <a:fillRect/>
          </a:stretch>
        </p:blipFill>
        <p:spPr>
          <a:xfrm>
            <a:off x="713232" y="1536192"/>
            <a:ext cx="365760" cy="365760"/>
          </a:xfrm>
          <a:prstGeom prst="rect">
            <a:avLst/>
          </a:prstGeom>
        </p:spPr>
      </p:pic>
      <p:sp>
        <p:nvSpPr>
          <p:cNvPr id="8" name="Text 5"/>
          <p:cNvSpPr txBox="1"/>
          <p:nvPr/>
        </p:nvSpPr>
        <p:spPr>
          <a:xfrm>
            <a:off x="1170432" y="1536192"/>
            <a:ext cx="1691640" cy="384048"/>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ClearGive website</a:t>
            </a:r>
            <a:endParaRPr lang="en-US" sz="1600" dirty="0"/>
          </a:p>
        </p:txBody>
      </p:sp>
      <p:sp>
        <p:nvSpPr>
          <p:cNvPr id="9" name="Text 6"/>
          <p:cNvSpPr txBox="1"/>
          <p:nvPr/>
        </p:nvSpPr>
        <p:spPr>
          <a:xfrm>
            <a:off x="713232" y="2057400"/>
            <a:ext cx="2103120" cy="73152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Served by Cloudflare</a:t>
            </a:r>
            <a:endParaRPr lang="en-US" sz="1600" dirty="0"/>
          </a:p>
        </p:txBody>
      </p:sp>
      <p:sp>
        <p:nvSpPr>
          <p:cNvPr id="10" name="Shape 7"/>
          <p:cNvSpPr/>
          <p:nvPr/>
        </p:nvSpPr>
        <p:spPr>
          <a:xfrm>
            <a:off x="2926080" y="2121408"/>
            <a:ext cx="365760" cy="914"/>
          </a:xfrm>
          <a:prstGeom prst="line">
            <a:avLst/>
          </a:prstGeom>
          <a:noFill/>
          <a:ln w="25400">
            <a:solidFill>
              <a:srgbClr val="2B8060"/>
            </a:solidFill>
            <a:prstDash val="solid"/>
            <a:tailEnd type="triangle"/>
          </a:ln>
        </p:spPr>
        <p:txBody>
          <a:bodyPr/>
          <a:lstStyle/>
          <a:p>
            <a:endParaRPr lang="zh-CN" altLang="en-US"/>
          </a:p>
        </p:txBody>
      </p:sp>
      <p:sp>
        <p:nvSpPr>
          <p:cNvPr id="11" name="Shape 8"/>
          <p:cNvSpPr/>
          <p:nvPr/>
        </p:nvSpPr>
        <p:spPr>
          <a:xfrm>
            <a:off x="3291840" y="1417320"/>
            <a:ext cx="2377440" cy="1417320"/>
          </a:xfrm>
          <a:prstGeom prst="roundRect">
            <a:avLst>
              <a:gd name="adj" fmla="val 5161"/>
            </a:avLst>
          </a:prstGeom>
          <a:solidFill>
            <a:srgbClr val="F5FAF6"/>
          </a:solidFill>
          <a:ln w="12700">
            <a:solidFill>
              <a:srgbClr val="A6C8B1"/>
            </a:solidFill>
            <a:prstDash val="solid"/>
          </a:ln>
        </p:spPr>
        <p:txBody>
          <a:bodyPr/>
          <a:lstStyle/>
          <a:p>
            <a:endParaRPr lang="zh-CN" altLang="en-US"/>
          </a:p>
        </p:txBody>
      </p:sp>
      <p:pic>
        <p:nvPicPr>
          <p:cNvPr id="12" name="Image 1" descr="preencoded.png"/>
          <p:cNvPicPr>
            <a:picLocks noChangeAspect="1"/>
          </p:cNvPicPr>
          <p:nvPr/>
        </p:nvPicPr>
        <p:blipFill>
          <a:blip r:embed="rId4"/>
          <a:stretch>
            <a:fillRect/>
          </a:stretch>
        </p:blipFill>
        <p:spPr>
          <a:xfrm>
            <a:off x="3456432" y="1536192"/>
            <a:ext cx="365760" cy="365760"/>
          </a:xfrm>
          <a:prstGeom prst="rect">
            <a:avLst/>
          </a:prstGeom>
        </p:spPr>
      </p:pic>
      <p:sp>
        <p:nvSpPr>
          <p:cNvPr id="13" name="Text 9"/>
          <p:cNvSpPr txBox="1"/>
          <p:nvPr/>
        </p:nvSpPr>
        <p:spPr>
          <a:xfrm>
            <a:off x="3913632" y="1536192"/>
            <a:ext cx="1691640" cy="384048"/>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ethers.js</a:t>
            </a:r>
            <a:endParaRPr lang="en-US" sz="1600" dirty="0"/>
          </a:p>
        </p:txBody>
      </p:sp>
      <p:sp>
        <p:nvSpPr>
          <p:cNvPr id="14" name="Text 10"/>
          <p:cNvSpPr txBox="1"/>
          <p:nvPr/>
        </p:nvSpPr>
        <p:spPr>
          <a:xfrm>
            <a:off x="3456432" y="2057400"/>
            <a:ext cx="2103120" cy="73152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Turns clicks into contract calls</a:t>
            </a:r>
            <a:endParaRPr lang="en-US" sz="1600" dirty="0"/>
          </a:p>
        </p:txBody>
      </p:sp>
      <p:sp>
        <p:nvSpPr>
          <p:cNvPr id="15" name="Shape 11"/>
          <p:cNvSpPr/>
          <p:nvPr/>
        </p:nvSpPr>
        <p:spPr>
          <a:xfrm>
            <a:off x="5669280" y="2121408"/>
            <a:ext cx="365760" cy="914"/>
          </a:xfrm>
          <a:prstGeom prst="line">
            <a:avLst/>
          </a:prstGeom>
          <a:noFill/>
          <a:ln w="25400">
            <a:solidFill>
              <a:srgbClr val="2B8060"/>
            </a:solidFill>
            <a:prstDash val="solid"/>
            <a:tailEnd type="triangle"/>
          </a:ln>
        </p:spPr>
        <p:txBody>
          <a:bodyPr/>
          <a:lstStyle/>
          <a:p>
            <a:endParaRPr lang="zh-CN" altLang="en-US"/>
          </a:p>
        </p:txBody>
      </p:sp>
      <p:sp>
        <p:nvSpPr>
          <p:cNvPr id="16" name="Shape 12"/>
          <p:cNvSpPr/>
          <p:nvPr/>
        </p:nvSpPr>
        <p:spPr>
          <a:xfrm>
            <a:off x="6035040" y="1417320"/>
            <a:ext cx="2377440" cy="1417320"/>
          </a:xfrm>
          <a:prstGeom prst="roundRect">
            <a:avLst>
              <a:gd name="adj" fmla="val 5161"/>
            </a:avLst>
          </a:prstGeom>
          <a:solidFill>
            <a:srgbClr val="F5FAF6"/>
          </a:solidFill>
          <a:ln w="12700">
            <a:solidFill>
              <a:srgbClr val="A6C8B1"/>
            </a:solidFill>
            <a:prstDash val="solid"/>
          </a:ln>
        </p:spPr>
        <p:txBody>
          <a:bodyPr/>
          <a:lstStyle/>
          <a:p>
            <a:endParaRPr lang="zh-CN" altLang="en-US"/>
          </a:p>
        </p:txBody>
      </p:sp>
      <p:pic>
        <p:nvPicPr>
          <p:cNvPr id="17" name="Image 2" descr="preencoded.png"/>
          <p:cNvPicPr>
            <a:picLocks noChangeAspect="1"/>
          </p:cNvPicPr>
          <p:nvPr/>
        </p:nvPicPr>
        <p:blipFill>
          <a:blip r:embed="rId5"/>
          <a:stretch>
            <a:fillRect/>
          </a:stretch>
        </p:blipFill>
        <p:spPr>
          <a:xfrm>
            <a:off x="6199632" y="1536192"/>
            <a:ext cx="365760" cy="365760"/>
          </a:xfrm>
          <a:prstGeom prst="rect">
            <a:avLst/>
          </a:prstGeom>
        </p:spPr>
      </p:pic>
      <p:sp>
        <p:nvSpPr>
          <p:cNvPr id="18" name="Text 13"/>
          <p:cNvSpPr txBox="1"/>
          <p:nvPr/>
        </p:nvSpPr>
        <p:spPr>
          <a:xfrm>
            <a:off x="6656832" y="1536192"/>
            <a:ext cx="1691640" cy="384048"/>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Ganache local chain</a:t>
            </a:r>
            <a:endParaRPr lang="en-US" sz="1600" dirty="0"/>
          </a:p>
        </p:txBody>
      </p:sp>
      <p:sp>
        <p:nvSpPr>
          <p:cNvPr id="19" name="Text 14"/>
          <p:cNvSpPr txBox="1"/>
          <p:nvPr/>
        </p:nvSpPr>
        <p:spPr>
          <a:xfrm>
            <a:off x="6199632" y="2057400"/>
            <a:ext cx="2103120" cy="73152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In-browser EVM · Chain ID 1337</a:t>
            </a:r>
            <a:endParaRPr lang="en-US" sz="1600" dirty="0"/>
          </a:p>
        </p:txBody>
      </p:sp>
      <p:sp>
        <p:nvSpPr>
          <p:cNvPr id="20" name="Shape 15"/>
          <p:cNvSpPr/>
          <p:nvPr/>
        </p:nvSpPr>
        <p:spPr>
          <a:xfrm>
            <a:off x="8412480" y="2121408"/>
            <a:ext cx="365760" cy="914"/>
          </a:xfrm>
          <a:prstGeom prst="line">
            <a:avLst/>
          </a:prstGeom>
          <a:noFill/>
          <a:ln w="25400">
            <a:solidFill>
              <a:srgbClr val="2B8060"/>
            </a:solidFill>
            <a:prstDash val="solid"/>
            <a:tailEnd type="triangle"/>
          </a:ln>
        </p:spPr>
        <p:txBody>
          <a:bodyPr/>
          <a:lstStyle/>
          <a:p>
            <a:endParaRPr lang="zh-CN" altLang="en-US"/>
          </a:p>
        </p:txBody>
      </p:sp>
      <p:sp>
        <p:nvSpPr>
          <p:cNvPr id="21" name="Shape 16"/>
          <p:cNvSpPr/>
          <p:nvPr/>
        </p:nvSpPr>
        <p:spPr>
          <a:xfrm>
            <a:off x="8778240" y="1417320"/>
            <a:ext cx="2880360" cy="1691640"/>
          </a:xfrm>
          <a:prstGeom prst="roundRect">
            <a:avLst>
              <a:gd name="adj" fmla="val 4324"/>
            </a:avLst>
          </a:prstGeom>
          <a:solidFill>
            <a:srgbClr val="174D3A"/>
          </a:solidFill>
          <a:ln w="12700">
            <a:solidFill>
              <a:srgbClr val="174D3A"/>
            </a:solidFill>
            <a:prstDash val="solid"/>
          </a:ln>
        </p:spPr>
        <p:txBody>
          <a:bodyPr/>
          <a:lstStyle/>
          <a:p>
            <a:endParaRPr lang="zh-CN" altLang="en-US"/>
          </a:p>
        </p:txBody>
      </p:sp>
      <p:sp>
        <p:nvSpPr>
          <p:cNvPr id="22" name="Text 17"/>
          <p:cNvSpPr txBox="1"/>
          <p:nvPr/>
        </p:nvSpPr>
        <p:spPr>
          <a:xfrm>
            <a:off x="8942832" y="1490472"/>
            <a:ext cx="2560320" cy="256032"/>
          </a:xfrm>
          <a:prstGeom prst="rect">
            <a:avLst/>
          </a:prstGeom>
          <a:noFill/>
        </p:spPr>
        <p:txBody>
          <a:bodyPr wrap="square" lIns="0" tIns="0" rIns="0" bIns="0" rtlCol="0" anchor="t"/>
          <a:lstStyle/>
          <a:p>
            <a:pPr marL="0" indent="0">
              <a:buNone/>
            </a:pPr>
            <a:r>
              <a:rPr lang="en-US" sz="1200" b="1" dirty="0">
                <a:solidFill>
                  <a:srgbClr val="BFE0CC"/>
                </a:solidFill>
                <a:latin typeface="Arial" panose="020B0604020202020204" pitchFamily="34" charset="0"/>
                <a:ea typeface="Arial" panose="020B0604020202020204" pitchFamily="34" charset="-122"/>
                <a:cs typeface="Arial" panose="020B0604020202020204" pitchFamily="34" charset="-120"/>
              </a:rPr>
              <a:t>SOLIDITY CONTRACTS</a:t>
            </a:r>
            <a:endParaRPr lang="en-US" sz="1200" dirty="0"/>
          </a:p>
        </p:txBody>
      </p:sp>
      <p:sp>
        <p:nvSpPr>
          <p:cNvPr id="23" name="Shape 18"/>
          <p:cNvSpPr/>
          <p:nvPr/>
        </p:nvSpPr>
        <p:spPr>
          <a:xfrm>
            <a:off x="8915400" y="1792224"/>
            <a:ext cx="2606040" cy="365760"/>
          </a:xfrm>
          <a:prstGeom prst="roundRect">
            <a:avLst>
              <a:gd name="adj" fmla="val 20000"/>
            </a:avLst>
          </a:prstGeom>
          <a:solidFill>
            <a:srgbClr val="245E4A"/>
          </a:solidFill>
          <a:ln w="12700">
            <a:solidFill>
              <a:srgbClr val="3F7D66"/>
            </a:solidFill>
            <a:prstDash val="solid"/>
          </a:ln>
        </p:spPr>
        <p:txBody>
          <a:bodyPr/>
          <a:lstStyle/>
          <a:p>
            <a:endParaRPr lang="zh-CN" altLang="en-US"/>
          </a:p>
        </p:txBody>
      </p:sp>
      <p:sp>
        <p:nvSpPr>
          <p:cNvPr id="24" name="Text 19"/>
          <p:cNvSpPr txBox="1"/>
          <p:nvPr/>
        </p:nvSpPr>
        <p:spPr>
          <a:xfrm>
            <a:off x="9034272" y="1792224"/>
            <a:ext cx="2423160" cy="365760"/>
          </a:xfrm>
          <a:prstGeom prst="rect">
            <a:avLst/>
          </a:prstGeom>
          <a:noFill/>
        </p:spPr>
        <p:txBody>
          <a:bodyPr wrap="square" lIns="0" tIns="0" rIns="0" bIns="0" rtlCol="0" anchor="ctr"/>
          <a:lstStyle/>
          <a:p>
            <a:pPr marL="0" indent="0">
              <a:buNone/>
            </a:pPr>
            <a:r>
              <a:rPr lang="en-US" sz="1400" dirty="0">
                <a:solidFill>
                  <a:srgbClr val="FFFFFF"/>
                </a:solidFill>
                <a:latin typeface="Arial" panose="020B0604020202020204" pitchFamily="34" charset="0"/>
                <a:ea typeface="Arial" panose="020B0604020202020204" pitchFamily="34" charset="-122"/>
                <a:cs typeface="Arial" panose="020B0604020202020204" pitchFamily="34" charset="-120"/>
              </a:rPr>
              <a:t>CGUSD · ERC-20 demo token</a:t>
            </a:r>
            <a:endParaRPr lang="en-US" sz="1400" dirty="0"/>
          </a:p>
        </p:txBody>
      </p:sp>
      <p:sp>
        <p:nvSpPr>
          <p:cNvPr id="25" name="Shape 20"/>
          <p:cNvSpPr/>
          <p:nvPr/>
        </p:nvSpPr>
        <p:spPr>
          <a:xfrm>
            <a:off x="8915400" y="2221992"/>
            <a:ext cx="2606040" cy="365760"/>
          </a:xfrm>
          <a:prstGeom prst="roundRect">
            <a:avLst>
              <a:gd name="adj" fmla="val 20000"/>
            </a:avLst>
          </a:prstGeom>
          <a:solidFill>
            <a:srgbClr val="245E4A"/>
          </a:solidFill>
          <a:ln w="12700">
            <a:solidFill>
              <a:srgbClr val="3F7D66"/>
            </a:solidFill>
            <a:prstDash val="solid"/>
          </a:ln>
        </p:spPr>
        <p:txBody>
          <a:bodyPr/>
          <a:lstStyle/>
          <a:p>
            <a:endParaRPr lang="zh-CN" altLang="en-US"/>
          </a:p>
        </p:txBody>
      </p:sp>
      <p:sp>
        <p:nvSpPr>
          <p:cNvPr id="26" name="Text 21"/>
          <p:cNvSpPr txBox="1"/>
          <p:nvPr/>
        </p:nvSpPr>
        <p:spPr>
          <a:xfrm>
            <a:off x="9034272" y="2221992"/>
            <a:ext cx="2423160" cy="365760"/>
          </a:xfrm>
          <a:prstGeom prst="rect">
            <a:avLst/>
          </a:prstGeom>
          <a:noFill/>
        </p:spPr>
        <p:txBody>
          <a:bodyPr wrap="square" lIns="0" tIns="0" rIns="0" bIns="0" rtlCol="0" anchor="ctr"/>
          <a:lstStyle/>
          <a:p>
            <a:pPr marL="0" indent="0">
              <a:buNone/>
            </a:pPr>
            <a:r>
              <a:rPr lang="en-US" sz="1400" dirty="0">
                <a:solidFill>
                  <a:srgbClr val="FFFFFF"/>
                </a:solidFill>
                <a:latin typeface="Arial" panose="020B0604020202020204" pitchFamily="34" charset="0"/>
                <a:ea typeface="Arial" panose="020B0604020202020204" pitchFamily="34" charset="-122"/>
                <a:cs typeface="Arial" panose="020B0604020202020204" pitchFamily="34" charset="-120"/>
              </a:rPr>
              <a:t>Campaign factory</a:t>
            </a:r>
            <a:endParaRPr lang="en-US" sz="1400" dirty="0"/>
          </a:p>
        </p:txBody>
      </p:sp>
      <p:sp>
        <p:nvSpPr>
          <p:cNvPr id="27" name="Shape 22"/>
          <p:cNvSpPr/>
          <p:nvPr/>
        </p:nvSpPr>
        <p:spPr>
          <a:xfrm>
            <a:off x="8915400" y="2651760"/>
            <a:ext cx="2606040" cy="365760"/>
          </a:xfrm>
          <a:prstGeom prst="roundRect">
            <a:avLst>
              <a:gd name="adj" fmla="val 20000"/>
            </a:avLst>
          </a:prstGeom>
          <a:solidFill>
            <a:srgbClr val="245E4A"/>
          </a:solidFill>
          <a:ln w="12700">
            <a:solidFill>
              <a:srgbClr val="3F7D66"/>
            </a:solidFill>
            <a:prstDash val="solid"/>
          </a:ln>
        </p:spPr>
        <p:txBody>
          <a:bodyPr/>
          <a:lstStyle/>
          <a:p>
            <a:endParaRPr lang="zh-CN" altLang="en-US"/>
          </a:p>
        </p:txBody>
      </p:sp>
      <p:sp>
        <p:nvSpPr>
          <p:cNvPr id="28" name="Text 23"/>
          <p:cNvSpPr txBox="1"/>
          <p:nvPr/>
        </p:nvSpPr>
        <p:spPr>
          <a:xfrm>
            <a:off x="9034272" y="2651760"/>
            <a:ext cx="2423160" cy="365760"/>
          </a:xfrm>
          <a:prstGeom prst="rect">
            <a:avLst/>
          </a:prstGeom>
          <a:noFill/>
        </p:spPr>
        <p:txBody>
          <a:bodyPr wrap="square" lIns="0" tIns="0" rIns="0" bIns="0" rtlCol="0" anchor="ctr"/>
          <a:lstStyle/>
          <a:p>
            <a:pPr marL="0" indent="0">
              <a:buNone/>
            </a:pPr>
            <a:r>
              <a:rPr lang="en-US" sz="1400" dirty="0">
                <a:solidFill>
                  <a:srgbClr val="FFFFFF"/>
                </a:solidFill>
                <a:latin typeface="Arial" panose="020B0604020202020204" pitchFamily="34" charset="0"/>
                <a:ea typeface="Arial" panose="020B0604020202020204" pitchFamily="34" charset="-122"/>
                <a:cs typeface="Arial" panose="020B0604020202020204" pitchFamily="34" charset="-120"/>
              </a:rPr>
              <a:t>Campaign escrow (+ fee vault)</a:t>
            </a:r>
            <a:endParaRPr lang="en-US" sz="1400" dirty="0"/>
          </a:p>
        </p:txBody>
      </p:sp>
      <p:sp>
        <p:nvSpPr>
          <p:cNvPr id="29" name="Shape 24"/>
          <p:cNvSpPr/>
          <p:nvPr/>
        </p:nvSpPr>
        <p:spPr>
          <a:xfrm>
            <a:off x="548640" y="3291840"/>
            <a:ext cx="4754880" cy="2377440"/>
          </a:xfrm>
          <a:prstGeom prst="roundRect">
            <a:avLst>
              <a:gd name="adj" fmla="val 3077"/>
            </a:avLst>
          </a:prstGeom>
          <a:solidFill>
            <a:srgbClr val="FFFFFF"/>
          </a:solidFill>
          <a:ln w="12700">
            <a:solidFill>
              <a:srgbClr val="A6C8B1"/>
            </a:solidFill>
            <a:prstDash val="solid"/>
          </a:ln>
        </p:spPr>
        <p:txBody>
          <a:bodyPr/>
          <a:lstStyle/>
          <a:p>
            <a:endParaRPr lang="zh-CN" altLang="en-US"/>
          </a:p>
        </p:txBody>
      </p:sp>
      <p:pic>
        <p:nvPicPr>
          <p:cNvPr id="30" name="Image 3" descr="preencoded.png"/>
          <p:cNvPicPr>
            <a:picLocks noChangeAspect="1"/>
          </p:cNvPicPr>
          <p:nvPr/>
        </p:nvPicPr>
        <p:blipFill>
          <a:blip r:embed="rId6"/>
          <a:stretch>
            <a:fillRect/>
          </a:stretch>
        </p:blipFill>
        <p:spPr>
          <a:xfrm>
            <a:off x="731520" y="3429000"/>
            <a:ext cx="384048" cy="384048"/>
          </a:xfrm>
          <a:prstGeom prst="rect">
            <a:avLst/>
          </a:prstGeom>
        </p:spPr>
      </p:pic>
      <p:sp>
        <p:nvSpPr>
          <p:cNvPr id="31" name="Text 25"/>
          <p:cNvSpPr txBox="1"/>
          <p:nvPr/>
        </p:nvSpPr>
        <p:spPr>
          <a:xfrm>
            <a:off x="1234440" y="3429000"/>
            <a:ext cx="3931920" cy="384048"/>
          </a:xfrm>
          <a:prstGeom prst="rect">
            <a:avLst/>
          </a:prstGeom>
          <a:noFill/>
        </p:spPr>
        <p:txBody>
          <a:bodyPr wrap="square" lIns="0" tIns="0" rIns="0" bIns="0" rtlCol="0" anchor="ctr"/>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Application storage (off-chain)</a:t>
            </a:r>
            <a:endParaRPr lang="en-US" sz="1800" dirty="0"/>
          </a:p>
        </p:txBody>
      </p:sp>
      <p:sp>
        <p:nvSpPr>
          <p:cNvPr id="32" name="Text 26"/>
          <p:cNvSpPr txBox="1"/>
          <p:nvPr/>
        </p:nvSpPr>
        <p:spPr>
          <a:xfrm>
            <a:off x="777240" y="3931920"/>
            <a:ext cx="4389120" cy="1645920"/>
          </a:xfrm>
          <a:prstGeom prst="rect">
            <a:avLst/>
          </a:prstGeom>
          <a:noFill/>
        </p:spPr>
        <p:txBody>
          <a:bodyPr wrap="square" lIns="0" tIns="0" rIns="0" bIns="0" rtlCol="0" anchor="t"/>
          <a:lstStyle/>
          <a:p>
            <a:pPr marL="342900" indent="-342900">
              <a:spcAft>
                <a:spcPts val="400"/>
              </a:spcAft>
              <a:buSzPct val="100000"/>
              <a:buChar char="•"/>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Full invoice evidence</a:t>
            </a:r>
            <a:endParaRPr lang="en-US" sz="1600" dirty="0"/>
          </a:p>
          <a:p>
            <a:pPr marL="342900" indent="-342900">
              <a:spcAft>
                <a:spcPts val="400"/>
              </a:spcAft>
              <a:buSzPct val="100000"/>
              <a:buChar char="•"/>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Account profiles and registration records</a:t>
            </a:r>
            <a:endParaRPr lang="en-US" sz="1600" dirty="0"/>
          </a:p>
          <a:p>
            <a:pPr marL="342900" indent="-342900">
              <a:spcAft>
                <a:spcPts val="400"/>
              </a:spcAft>
              <a:buSzPct val="100000"/>
              <a:buChar char="•"/>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Signed delivery statements</a:t>
            </a:r>
            <a:endParaRPr lang="en-US" sz="1600" dirty="0"/>
          </a:p>
          <a:p>
            <a:pPr marL="342900" indent="-342900">
              <a:spcAft>
                <a:spcPts val="400"/>
              </a:spcAft>
              <a:buSzPct val="100000"/>
              <a:buChar char="•"/>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Supporting application information</a:t>
            </a:r>
            <a:endParaRPr lang="en-US" sz="1600" dirty="0"/>
          </a:p>
        </p:txBody>
      </p:sp>
      <p:sp>
        <p:nvSpPr>
          <p:cNvPr id="33" name="Shape 27"/>
          <p:cNvSpPr/>
          <p:nvPr/>
        </p:nvSpPr>
        <p:spPr>
          <a:xfrm>
            <a:off x="6903720" y="3291840"/>
            <a:ext cx="4754880" cy="2377440"/>
          </a:xfrm>
          <a:prstGeom prst="roundRect">
            <a:avLst>
              <a:gd name="adj" fmla="val 3077"/>
            </a:avLst>
          </a:prstGeom>
          <a:solidFill>
            <a:srgbClr val="FFFFFF"/>
          </a:solidFill>
          <a:ln w="19050">
            <a:solidFill>
              <a:srgbClr val="2B8060"/>
            </a:solidFill>
            <a:prstDash val="solid"/>
          </a:ln>
        </p:spPr>
        <p:txBody>
          <a:bodyPr/>
          <a:lstStyle/>
          <a:p>
            <a:endParaRPr lang="zh-CN" altLang="en-US"/>
          </a:p>
        </p:txBody>
      </p:sp>
      <p:pic>
        <p:nvPicPr>
          <p:cNvPr id="34" name="Image 4" descr="preencoded.png"/>
          <p:cNvPicPr>
            <a:picLocks noChangeAspect="1"/>
          </p:cNvPicPr>
          <p:nvPr/>
        </p:nvPicPr>
        <p:blipFill>
          <a:blip r:embed="rId7"/>
          <a:stretch>
            <a:fillRect/>
          </a:stretch>
        </p:blipFill>
        <p:spPr>
          <a:xfrm>
            <a:off x="7086600" y="3429000"/>
            <a:ext cx="384048" cy="384048"/>
          </a:xfrm>
          <a:prstGeom prst="rect">
            <a:avLst/>
          </a:prstGeom>
        </p:spPr>
      </p:pic>
      <p:sp>
        <p:nvSpPr>
          <p:cNvPr id="35" name="Text 28"/>
          <p:cNvSpPr txBox="1"/>
          <p:nvPr/>
        </p:nvSpPr>
        <p:spPr>
          <a:xfrm>
            <a:off x="7589520" y="3429000"/>
            <a:ext cx="3931920" cy="384048"/>
          </a:xfrm>
          <a:prstGeom prst="rect">
            <a:avLst/>
          </a:prstGeom>
          <a:noFill/>
        </p:spPr>
        <p:txBody>
          <a:bodyPr wrap="square" lIns="0" tIns="0" rIns="0" bIns="0" rtlCol="0" anchor="ctr"/>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On-chain records (local chain)</a:t>
            </a:r>
            <a:endParaRPr lang="en-US" sz="1800" dirty="0"/>
          </a:p>
        </p:txBody>
      </p:sp>
      <p:sp>
        <p:nvSpPr>
          <p:cNvPr id="36" name="Text 29"/>
          <p:cNvSpPr txBox="1"/>
          <p:nvPr/>
        </p:nvSpPr>
        <p:spPr>
          <a:xfrm>
            <a:off x="7132320" y="3931920"/>
            <a:ext cx="4389120" cy="1645920"/>
          </a:xfrm>
          <a:prstGeom prst="rect">
            <a:avLst/>
          </a:prstGeom>
          <a:noFill/>
        </p:spPr>
        <p:txBody>
          <a:bodyPr wrap="square" lIns="0" tIns="0" rIns="0" bIns="0" rtlCol="0" anchor="t"/>
          <a:lstStyle/>
          <a:p>
            <a:pPr marL="342900" indent="-342900">
              <a:spcAft>
                <a:spcPts val="400"/>
              </a:spcAft>
              <a:buSzPct val="100000"/>
              <a:buChar char="•"/>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Token balances and transfers</a:t>
            </a:r>
            <a:endParaRPr lang="en-US" sz="1600" dirty="0"/>
          </a:p>
          <a:p>
            <a:pPr marL="342900" indent="-342900">
              <a:spcAft>
                <a:spcPts val="400"/>
              </a:spcAft>
              <a:buSzPct val="100000"/>
              <a:buChar char="•"/>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Campaign rules and deadlines</a:t>
            </a:r>
            <a:endParaRPr lang="en-US" sz="1600" dirty="0"/>
          </a:p>
          <a:p>
            <a:pPr marL="342900" indent="-342900">
              <a:spcAft>
                <a:spcPts val="400"/>
              </a:spcAft>
              <a:buSzPct val="100000"/>
              <a:buChar char="•"/>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Evidence hashes and approvals</a:t>
            </a:r>
            <a:endParaRPr lang="en-US" sz="1600" dirty="0"/>
          </a:p>
          <a:p>
            <a:pPr marL="342900" indent="-342900">
              <a:spcAft>
                <a:spcPts val="400"/>
              </a:spcAft>
              <a:buSzPct val="100000"/>
              <a:buChar char="•"/>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Payment and refund events</a:t>
            </a:r>
            <a:endParaRPr lang="en-US" sz="1600" dirty="0"/>
          </a:p>
        </p:txBody>
      </p:sp>
      <p:sp>
        <p:nvSpPr>
          <p:cNvPr id="37" name="Shape 30"/>
          <p:cNvSpPr/>
          <p:nvPr/>
        </p:nvSpPr>
        <p:spPr>
          <a:xfrm>
            <a:off x="5650992" y="3794760"/>
            <a:ext cx="914400" cy="914400"/>
          </a:xfrm>
          <a:prstGeom prst="ellipse">
            <a:avLst/>
          </a:prstGeom>
          <a:solidFill>
            <a:srgbClr val="2B8060"/>
          </a:solidFill>
          <a:ln w="12700">
            <a:solidFill>
              <a:srgbClr val="2B8060"/>
            </a:solidFill>
            <a:prstDash val="solid"/>
          </a:ln>
        </p:spPr>
        <p:txBody>
          <a:bodyPr/>
          <a:lstStyle/>
          <a:p>
            <a:endParaRPr lang="zh-CN" altLang="en-US"/>
          </a:p>
        </p:txBody>
      </p:sp>
      <p:pic>
        <p:nvPicPr>
          <p:cNvPr id="38" name="Image 5" descr="preencoded.png"/>
          <p:cNvPicPr>
            <a:picLocks noChangeAspect="1"/>
          </p:cNvPicPr>
          <p:nvPr/>
        </p:nvPicPr>
        <p:blipFill>
          <a:blip r:embed="rId8"/>
          <a:stretch>
            <a:fillRect/>
          </a:stretch>
        </p:blipFill>
        <p:spPr>
          <a:xfrm>
            <a:off x="5833872" y="3977640"/>
            <a:ext cx="548640" cy="548640"/>
          </a:xfrm>
          <a:prstGeom prst="rect">
            <a:avLst/>
          </a:prstGeom>
        </p:spPr>
      </p:pic>
      <p:sp>
        <p:nvSpPr>
          <p:cNvPr id="39" name="Shape 31"/>
          <p:cNvSpPr/>
          <p:nvPr/>
        </p:nvSpPr>
        <p:spPr>
          <a:xfrm>
            <a:off x="5303520" y="4251960"/>
            <a:ext cx="347472" cy="914"/>
          </a:xfrm>
          <a:prstGeom prst="line">
            <a:avLst/>
          </a:prstGeom>
          <a:noFill/>
          <a:ln w="25400">
            <a:solidFill>
              <a:srgbClr val="2B8060"/>
            </a:solidFill>
            <a:prstDash val="solid"/>
            <a:tailEnd type="triangle"/>
          </a:ln>
        </p:spPr>
        <p:txBody>
          <a:bodyPr/>
          <a:lstStyle/>
          <a:p>
            <a:endParaRPr lang="zh-CN" altLang="en-US"/>
          </a:p>
        </p:txBody>
      </p:sp>
      <p:sp>
        <p:nvSpPr>
          <p:cNvPr id="40" name="Shape 32"/>
          <p:cNvSpPr/>
          <p:nvPr/>
        </p:nvSpPr>
        <p:spPr>
          <a:xfrm>
            <a:off x="6565392" y="4251960"/>
            <a:ext cx="338328" cy="914"/>
          </a:xfrm>
          <a:prstGeom prst="line">
            <a:avLst/>
          </a:prstGeom>
          <a:noFill/>
          <a:ln w="25400">
            <a:solidFill>
              <a:srgbClr val="2B8060"/>
            </a:solidFill>
            <a:prstDash val="solid"/>
            <a:tailEnd type="triangle"/>
          </a:ln>
        </p:spPr>
        <p:txBody>
          <a:bodyPr/>
          <a:lstStyle/>
          <a:p>
            <a:endParaRPr lang="zh-CN" altLang="en-US"/>
          </a:p>
        </p:txBody>
      </p:sp>
      <p:sp>
        <p:nvSpPr>
          <p:cNvPr id="41" name="Text 33"/>
          <p:cNvSpPr txBox="1"/>
          <p:nvPr/>
        </p:nvSpPr>
        <p:spPr>
          <a:xfrm>
            <a:off x="5349240" y="4754880"/>
            <a:ext cx="1508760" cy="594360"/>
          </a:xfrm>
          <a:prstGeom prst="rect">
            <a:avLst/>
          </a:prstGeom>
          <a:noFill/>
        </p:spPr>
        <p:txBody>
          <a:bodyPr wrap="square" lIns="0" tIns="0" rIns="0" bIns="0" rtlCol="0" anchor="t"/>
          <a:lstStyle/>
          <a:p>
            <a:pPr marL="0" indent="0" algn="ctr">
              <a:buNone/>
            </a:pPr>
            <a:r>
              <a:rPr lang="en-US" sz="1200" b="1" dirty="0">
                <a:solidFill>
                  <a:srgbClr val="174D3A"/>
                </a:solidFill>
                <a:latin typeface="Arial" panose="020B0604020202020204" pitchFamily="34" charset="0"/>
                <a:ea typeface="Arial" panose="020B0604020202020204" pitchFamily="34" charset="-122"/>
                <a:cs typeface="Arial" panose="020B0604020202020204" pitchFamily="34" charset="-120"/>
              </a:rPr>
              <a:t>Keccak-256 evidence fingerprint</a:t>
            </a:r>
            <a:endParaRPr lang="en-US" sz="1200" dirty="0"/>
          </a:p>
        </p:txBody>
      </p:sp>
      <p:sp>
        <p:nvSpPr>
          <p:cNvPr id="42" name="Shape 34"/>
          <p:cNvSpPr/>
          <p:nvPr/>
        </p:nvSpPr>
        <p:spPr>
          <a:xfrm>
            <a:off x="10195560" y="3108960"/>
            <a:ext cx="914" cy="182880"/>
          </a:xfrm>
          <a:prstGeom prst="line">
            <a:avLst/>
          </a:prstGeom>
          <a:noFill/>
          <a:ln w="25400">
            <a:solidFill>
              <a:srgbClr val="2B8060"/>
            </a:solidFill>
            <a:prstDash val="solid"/>
            <a:tailEnd type="triangle"/>
          </a:ln>
        </p:spPr>
        <p:txBody>
          <a:bodyPr/>
          <a:lstStyle/>
          <a:p>
            <a:endParaRPr lang="zh-CN" altLang="en-US"/>
          </a:p>
        </p:txBody>
      </p:sp>
      <p:sp>
        <p:nvSpPr>
          <p:cNvPr id="43" name="Shape 35"/>
          <p:cNvSpPr/>
          <p:nvPr/>
        </p:nvSpPr>
        <p:spPr>
          <a:xfrm>
            <a:off x="548640" y="5779008"/>
            <a:ext cx="11109960" cy="502920"/>
          </a:xfrm>
          <a:prstGeom prst="roundRect">
            <a:avLst>
              <a:gd name="adj" fmla="val 14545"/>
            </a:avLst>
          </a:prstGeom>
          <a:solidFill>
            <a:srgbClr val="F7E4D4"/>
          </a:solidFill>
          <a:ln w="12700">
            <a:solidFill>
              <a:srgbClr val="9A4A22"/>
            </a:solidFill>
            <a:prstDash val="solid"/>
          </a:ln>
        </p:spPr>
        <p:txBody>
          <a:bodyPr/>
          <a:lstStyle/>
          <a:p>
            <a:endParaRPr lang="zh-CN" altLang="en-US"/>
          </a:p>
        </p:txBody>
      </p:sp>
      <p:sp>
        <p:nvSpPr>
          <p:cNvPr id="44" name="Text 36"/>
          <p:cNvSpPr txBox="1"/>
          <p:nvPr/>
        </p:nvSpPr>
        <p:spPr>
          <a:xfrm>
            <a:off x="731520" y="5797296"/>
            <a:ext cx="10789920" cy="457200"/>
          </a:xfrm>
          <a:prstGeom prst="rect">
            <a:avLst/>
          </a:prstGeom>
          <a:noFill/>
        </p:spPr>
        <p:txBody>
          <a:bodyPr wrap="square" lIns="0" tIns="0" rIns="0" bIns="0" rtlCol="0" anchor="ctr"/>
          <a:lstStyle/>
          <a:p>
            <a:pPr marL="0" indent="0">
              <a:buNone/>
            </a:pPr>
            <a:r>
              <a:rPr lang="en-US" sz="1600" b="1" dirty="0">
                <a:solidFill>
                  <a:srgbClr val="1C2A23"/>
                </a:solidFill>
                <a:latin typeface="Arial" panose="020B0604020202020204" pitchFamily="34" charset="0"/>
                <a:ea typeface="Arial" panose="020B0604020202020204" pitchFamily="34" charset="-122"/>
                <a:cs typeface="Arial" panose="020B0604020202020204" pitchFamily="34" charset="-120"/>
              </a:rPr>
              <a:t>Reviewers </a:t>
            </a: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judge evidence; they are not validators.   </a:t>
            </a:r>
            <a:r>
              <a:rPr lang="en-US" sz="1600" b="1" dirty="0">
                <a:solidFill>
                  <a:srgbClr val="9A4A22"/>
                </a:solidFill>
                <a:latin typeface="Arial" panose="020B0604020202020204" pitchFamily="34" charset="0"/>
                <a:ea typeface="Arial" panose="020B0604020202020204" pitchFamily="34" charset="-122"/>
                <a:cs typeface="Arial" panose="020B0604020202020204" pitchFamily="34" charset="-120"/>
              </a:rPr>
              <a:t>Not deployed: </a:t>
            </a: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public network, user wallets, bank link.</a:t>
            </a:r>
            <a:endParaRPr lang="en-US" sz="1600" dirty="0"/>
          </a:p>
        </p:txBody>
      </p:sp>
      <p:sp>
        <p:nvSpPr>
          <p:cNvPr id="45"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04 · TECHNICAL MODEL · DEMO TOKEN &amp; ESCROW</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One donation, two transactions, one escrow</a:t>
            </a:r>
            <a:endParaRPr lang="en-US" sz="3200" dirty="0"/>
          </a:p>
        </p:txBody>
      </p:sp>
      <p:sp>
        <p:nvSpPr>
          <p:cNvPr id="5" name="Text 3"/>
          <p:cNvSpPr txBox="1"/>
          <p:nvPr/>
        </p:nvSpPr>
        <p:spPr>
          <a:xfrm>
            <a:off x="10012680" y="292608"/>
            <a:ext cx="1645920" cy="274320"/>
          </a:xfrm>
          <a:prstGeom prst="roundRect">
            <a:avLst>
              <a:gd name="adj" fmla="val 50000"/>
            </a:avLst>
          </a:prstGeom>
          <a:solidFill>
            <a:srgbClr val="2B8060"/>
          </a:solidFill>
          <a:ln w="12700">
            <a:solidFill>
              <a:srgbClr val="2B8060"/>
            </a:solid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DEMONSTRATED</a:t>
            </a:r>
            <a:endParaRPr lang="en-US" sz="1100" dirty="0"/>
          </a:p>
        </p:txBody>
      </p:sp>
      <p:sp>
        <p:nvSpPr>
          <p:cNvPr id="6" name="Shape 4"/>
          <p:cNvSpPr/>
          <p:nvPr/>
        </p:nvSpPr>
        <p:spPr>
          <a:xfrm>
            <a:off x="548640" y="1481328"/>
            <a:ext cx="566928" cy="566928"/>
          </a:xfrm>
          <a:prstGeom prst="ellipse">
            <a:avLst/>
          </a:prstGeom>
          <a:solidFill>
            <a:srgbClr val="A6C8B1"/>
          </a:solidFill>
          <a:ln w="12700">
            <a:solidFill>
              <a:srgbClr val="2B8060"/>
            </a:solidFill>
            <a:prstDash val="solid"/>
          </a:ln>
        </p:spPr>
        <p:txBody>
          <a:bodyPr/>
          <a:lstStyle/>
          <a:p>
            <a:endParaRPr lang="zh-CN" altLang="en-US"/>
          </a:p>
        </p:txBody>
      </p:sp>
      <p:sp>
        <p:nvSpPr>
          <p:cNvPr id="7" name="Text 5"/>
          <p:cNvSpPr txBox="1"/>
          <p:nvPr/>
        </p:nvSpPr>
        <p:spPr>
          <a:xfrm>
            <a:off x="548640" y="1481328"/>
            <a:ext cx="566928" cy="566928"/>
          </a:xfrm>
          <a:prstGeom prst="rect">
            <a:avLst/>
          </a:prstGeom>
          <a:noFill/>
        </p:spPr>
        <p:txBody>
          <a:bodyPr wrap="square" lIns="0" tIns="0" rIns="0" bIns="0" rtlCol="0" anchor="ctr"/>
          <a:lstStyle/>
          <a:p>
            <a:pPr marL="0" indent="0" algn="ctr">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1</a:t>
            </a:r>
            <a:endParaRPr lang="en-US" sz="1800" dirty="0"/>
          </a:p>
        </p:txBody>
      </p:sp>
      <p:sp>
        <p:nvSpPr>
          <p:cNvPr id="8" name="Shape 6"/>
          <p:cNvSpPr/>
          <p:nvPr/>
        </p:nvSpPr>
        <p:spPr>
          <a:xfrm>
            <a:off x="1280160" y="1371600"/>
            <a:ext cx="5120640" cy="868680"/>
          </a:xfrm>
          <a:prstGeom prst="roundRect">
            <a:avLst>
              <a:gd name="adj" fmla="val 8421"/>
            </a:avLst>
          </a:prstGeom>
          <a:solidFill>
            <a:srgbClr val="F5FAF6"/>
          </a:solidFill>
          <a:ln w="12700">
            <a:solidFill>
              <a:srgbClr val="A6C8B1"/>
            </a:solidFill>
            <a:prstDash val="solid"/>
          </a:ln>
        </p:spPr>
        <p:txBody>
          <a:bodyPr/>
          <a:lstStyle/>
          <a:p>
            <a:endParaRPr lang="zh-CN" altLang="en-US"/>
          </a:p>
        </p:txBody>
      </p:sp>
      <p:sp>
        <p:nvSpPr>
          <p:cNvPr id="9" name="Text 7"/>
          <p:cNvSpPr txBox="1"/>
          <p:nvPr/>
        </p:nvSpPr>
        <p:spPr>
          <a:xfrm>
            <a:off x="1463040" y="1444752"/>
            <a:ext cx="1828800" cy="320040"/>
          </a:xfrm>
          <a:prstGeom prst="rect">
            <a:avLst/>
          </a:prstGeom>
          <a:noFill/>
        </p:spPr>
        <p:txBody>
          <a:bodyPr wrap="square" lIns="0" tIns="0" rIns="0" bIns="0" rtlCol="0" anchor="t"/>
          <a:lstStyle/>
          <a:p>
            <a:pPr marL="0" indent="0">
              <a:buNone/>
            </a:pPr>
            <a:r>
              <a:rPr lang="en-US" sz="1800" b="1" dirty="0">
                <a:solidFill>
                  <a:srgbClr val="174D3A"/>
                </a:solidFill>
                <a:latin typeface="Courier New" panose="02070309020205020404" pitchFamily="34" charset="0"/>
                <a:ea typeface="Courier New" panose="02070309020205020404" pitchFamily="34" charset="-122"/>
                <a:cs typeface="Courier New" panose="02070309020205020404" pitchFamily="34" charset="-120"/>
              </a:rPr>
              <a:t>mint()</a:t>
            </a:r>
            <a:endParaRPr lang="en-US" sz="1800" dirty="0"/>
          </a:p>
        </p:txBody>
      </p:sp>
      <p:sp>
        <p:nvSpPr>
          <p:cNvPr id="10" name="Text 8"/>
          <p:cNvSpPr txBox="1"/>
          <p:nvPr/>
        </p:nvSpPr>
        <p:spPr>
          <a:xfrm>
            <a:off x="5486400" y="1463040"/>
            <a:ext cx="777240" cy="274320"/>
          </a:xfrm>
          <a:prstGeom prst="rect">
            <a:avLst/>
          </a:prstGeom>
          <a:noFill/>
        </p:spPr>
        <p:txBody>
          <a:bodyPr wrap="square" lIns="0" tIns="0" rIns="0" bIns="0" rtlCol="0" anchor="t"/>
          <a:lstStyle/>
          <a:p>
            <a:pPr marL="0" indent="0" algn="r">
              <a:buNone/>
            </a:pPr>
            <a:r>
              <a:rPr lang="en-US" sz="1200" b="1" dirty="0">
                <a:solidFill>
                  <a:srgbClr val="2B8060"/>
                </a:solidFill>
                <a:latin typeface="Arial" panose="020B0604020202020204" pitchFamily="34" charset="0"/>
                <a:ea typeface="Arial" panose="020B0604020202020204" pitchFamily="34" charset="-122"/>
                <a:cs typeface="Arial" panose="020B0604020202020204" pitchFamily="34" charset="-120"/>
              </a:rPr>
              <a:t>Setup</a:t>
            </a:r>
            <a:endParaRPr lang="en-US" sz="1200" dirty="0"/>
          </a:p>
        </p:txBody>
      </p:sp>
      <p:sp>
        <p:nvSpPr>
          <p:cNvPr id="11" name="Text 9"/>
          <p:cNvSpPr txBox="1"/>
          <p:nvPr/>
        </p:nvSpPr>
        <p:spPr>
          <a:xfrm>
            <a:off x="1463040" y="1801368"/>
            <a:ext cx="4846320" cy="384048"/>
          </a:xfrm>
          <a:prstGeom prst="rect">
            <a:avLst/>
          </a:prstGeom>
          <a:noFill/>
        </p:spPr>
        <p:txBody>
          <a:bodyPr wrap="square" lIns="0" tIns="0" rIns="0" bIns="0" rtlCol="0" anchor="t"/>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Gives the new donor 200 CGUSD</a:t>
            </a:r>
            <a:endParaRPr lang="en-US" sz="1600" dirty="0"/>
          </a:p>
        </p:txBody>
      </p:sp>
      <p:sp>
        <p:nvSpPr>
          <p:cNvPr id="12" name="Shape 10"/>
          <p:cNvSpPr/>
          <p:nvPr/>
        </p:nvSpPr>
        <p:spPr>
          <a:xfrm>
            <a:off x="832104" y="2048256"/>
            <a:ext cx="914" cy="457200"/>
          </a:xfrm>
          <a:prstGeom prst="line">
            <a:avLst/>
          </a:prstGeom>
          <a:noFill/>
          <a:ln w="19050">
            <a:solidFill>
              <a:srgbClr val="2B8060"/>
            </a:solidFill>
            <a:prstDash val="solid"/>
            <a:tailEnd type="triangle"/>
          </a:ln>
        </p:spPr>
        <p:txBody>
          <a:bodyPr/>
          <a:lstStyle/>
          <a:p>
            <a:endParaRPr lang="zh-CN" altLang="en-US"/>
          </a:p>
        </p:txBody>
      </p:sp>
      <p:sp>
        <p:nvSpPr>
          <p:cNvPr id="13" name="Shape 11"/>
          <p:cNvSpPr/>
          <p:nvPr/>
        </p:nvSpPr>
        <p:spPr>
          <a:xfrm>
            <a:off x="548640" y="2505456"/>
            <a:ext cx="566928" cy="566928"/>
          </a:xfrm>
          <a:prstGeom prst="ellipse">
            <a:avLst/>
          </a:prstGeom>
          <a:solidFill>
            <a:srgbClr val="2B8060"/>
          </a:solidFill>
          <a:ln w="12700">
            <a:solidFill>
              <a:srgbClr val="2B8060"/>
            </a:solidFill>
            <a:prstDash val="solid"/>
          </a:ln>
        </p:spPr>
        <p:txBody>
          <a:bodyPr/>
          <a:lstStyle/>
          <a:p>
            <a:endParaRPr lang="zh-CN" altLang="en-US"/>
          </a:p>
        </p:txBody>
      </p:sp>
      <p:sp>
        <p:nvSpPr>
          <p:cNvPr id="14" name="Text 12"/>
          <p:cNvSpPr txBox="1"/>
          <p:nvPr/>
        </p:nvSpPr>
        <p:spPr>
          <a:xfrm>
            <a:off x="548640" y="2505456"/>
            <a:ext cx="566928" cy="566928"/>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800" dirty="0"/>
          </a:p>
        </p:txBody>
      </p:sp>
      <p:sp>
        <p:nvSpPr>
          <p:cNvPr id="15" name="Shape 13"/>
          <p:cNvSpPr/>
          <p:nvPr/>
        </p:nvSpPr>
        <p:spPr>
          <a:xfrm>
            <a:off x="1280160" y="2395728"/>
            <a:ext cx="5120640" cy="868680"/>
          </a:xfrm>
          <a:prstGeom prst="roundRect">
            <a:avLst>
              <a:gd name="adj" fmla="val 8421"/>
            </a:avLst>
          </a:prstGeom>
          <a:solidFill>
            <a:srgbClr val="F5FAF6"/>
          </a:solidFill>
          <a:ln w="12700">
            <a:solidFill>
              <a:srgbClr val="A6C8B1"/>
            </a:solidFill>
            <a:prstDash val="solid"/>
          </a:ln>
        </p:spPr>
        <p:txBody>
          <a:bodyPr/>
          <a:lstStyle/>
          <a:p>
            <a:endParaRPr lang="zh-CN" altLang="en-US"/>
          </a:p>
        </p:txBody>
      </p:sp>
      <p:sp>
        <p:nvSpPr>
          <p:cNvPr id="16" name="Text 14"/>
          <p:cNvSpPr txBox="1"/>
          <p:nvPr/>
        </p:nvSpPr>
        <p:spPr>
          <a:xfrm>
            <a:off x="1463040" y="2468880"/>
            <a:ext cx="1828800" cy="320040"/>
          </a:xfrm>
          <a:prstGeom prst="rect">
            <a:avLst/>
          </a:prstGeom>
          <a:noFill/>
        </p:spPr>
        <p:txBody>
          <a:bodyPr wrap="square" lIns="0" tIns="0" rIns="0" bIns="0" rtlCol="0" anchor="t"/>
          <a:lstStyle/>
          <a:p>
            <a:pPr marL="0" indent="0">
              <a:buNone/>
            </a:pPr>
            <a:r>
              <a:rPr lang="en-US" sz="1800" b="1" dirty="0">
                <a:solidFill>
                  <a:srgbClr val="174D3A"/>
                </a:solidFill>
                <a:latin typeface="Courier New" panose="02070309020205020404" pitchFamily="34" charset="0"/>
                <a:ea typeface="Courier New" panose="02070309020205020404" pitchFamily="34" charset="-122"/>
                <a:cs typeface="Courier New" panose="02070309020205020404" pitchFamily="34" charset="-120"/>
              </a:rPr>
              <a:t>approve()</a:t>
            </a:r>
            <a:endParaRPr lang="en-US" sz="1800" dirty="0"/>
          </a:p>
        </p:txBody>
      </p:sp>
      <p:sp>
        <p:nvSpPr>
          <p:cNvPr id="17" name="Text 15"/>
          <p:cNvSpPr txBox="1"/>
          <p:nvPr/>
        </p:nvSpPr>
        <p:spPr>
          <a:xfrm>
            <a:off x="5486400" y="2487168"/>
            <a:ext cx="777240" cy="274320"/>
          </a:xfrm>
          <a:prstGeom prst="rect">
            <a:avLst/>
          </a:prstGeom>
          <a:noFill/>
        </p:spPr>
        <p:txBody>
          <a:bodyPr wrap="square" lIns="0" tIns="0" rIns="0" bIns="0" rtlCol="0" anchor="t"/>
          <a:lstStyle/>
          <a:p>
            <a:pPr marL="0" indent="0" algn="r">
              <a:buNone/>
            </a:pPr>
            <a:r>
              <a:rPr lang="en-US" sz="1200" b="1" dirty="0">
                <a:solidFill>
                  <a:srgbClr val="2B8060"/>
                </a:solidFill>
                <a:latin typeface="Arial" panose="020B0604020202020204" pitchFamily="34" charset="0"/>
                <a:ea typeface="Arial" panose="020B0604020202020204" pitchFamily="34" charset="-122"/>
                <a:cs typeface="Arial" panose="020B0604020202020204" pitchFamily="34" charset="-120"/>
              </a:rPr>
              <a:t>Tx 1</a:t>
            </a:r>
            <a:endParaRPr lang="en-US" sz="1200" dirty="0"/>
          </a:p>
        </p:txBody>
      </p:sp>
      <p:sp>
        <p:nvSpPr>
          <p:cNvPr id="18" name="Text 16"/>
          <p:cNvSpPr txBox="1"/>
          <p:nvPr/>
        </p:nvSpPr>
        <p:spPr>
          <a:xfrm>
            <a:off x="1463040" y="2825496"/>
            <a:ext cx="4846320" cy="384048"/>
          </a:xfrm>
          <a:prstGeom prst="rect">
            <a:avLst/>
          </a:prstGeom>
          <a:noFill/>
        </p:spPr>
        <p:txBody>
          <a:bodyPr wrap="square" lIns="0" tIns="0" rIns="0" bIns="0" rtlCol="0" anchor="t"/>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Authorises 101 (100 + 1% fee); nothing moves</a:t>
            </a:r>
            <a:endParaRPr lang="en-US" sz="1600" dirty="0"/>
          </a:p>
        </p:txBody>
      </p:sp>
      <p:sp>
        <p:nvSpPr>
          <p:cNvPr id="19" name="Shape 17"/>
          <p:cNvSpPr/>
          <p:nvPr/>
        </p:nvSpPr>
        <p:spPr>
          <a:xfrm>
            <a:off x="832104" y="3072384"/>
            <a:ext cx="914" cy="457200"/>
          </a:xfrm>
          <a:prstGeom prst="line">
            <a:avLst/>
          </a:prstGeom>
          <a:noFill/>
          <a:ln w="19050">
            <a:solidFill>
              <a:srgbClr val="2B8060"/>
            </a:solidFill>
            <a:prstDash val="solid"/>
            <a:tailEnd type="triangle"/>
          </a:ln>
        </p:spPr>
        <p:txBody>
          <a:bodyPr/>
          <a:lstStyle/>
          <a:p>
            <a:endParaRPr lang="zh-CN" altLang="en-US"/>
          </a:p>
        </p:txBody>
      </p:sp>
      <p:sp>
        <p:nvSpPr>
          <p:cNvPr id="20" name="Shape 18"/>
          <p:cNvSpPr/>
          <p:nvPr/>
        </p:nvSpPr>
        <p:spPr>
          <a:xfrm>
            <a:off x="548640" y="3529584"/>
            <a:ext cx="566928" cy="566928"/>
          </a:xfrm>
          <a:prstGeom prst="ellipse">
            <a:avLst/>
          </a:prstGeom>
          <a:solidFill>
            <a:srgbClr val="2B8060"/>
          </a:solidFill>
          <a:ln w="12700">
            <a:solidFill>
              <a:srgbClr val="2B8060"/>
            </a:solidFill>
            <a:prstDash val="solid"/>
          </a:ln>
        </p:spPr>
        <p:txBody>
          <a:bodyPr/>
          <a:lstStyle/>
          <a:p>
            <a:endParaRPr lang="zh-CN" altLang="en-US"/>
          </a:p>
        </p:txBody>
      </p:sp>
      <p:sp>
        <p:nvSpPr>
          <p:cNvPr id="21" name="Text 19"/>
          <p:cNvSpPr txBox="1"/>
          <p:nvPr/>
        </p:nvSpPr>
        <p:spPr>
          <a:xfrm>
            <a:off x="548640" y="3529584"/>
            <a:ext cx="566928" cy="566928"/>
          </a:xfrm>
          <a:prstGeom prst="rect">
            <a:avLst/>
          </a:prstGeom>
          <a:noFill/>
        </p:spPr>
        <p:txBody>
          <a:bodyPr wrap="square" lIns="0" tIns="0" rIns="0" bIns="0" rtlCol="0" anchor="ctr"/>
          <a:lstStyle/>
          <a:p>
            <a:pPr marL="0" indent="0" algn="ctr">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800" dirty="0"/>
          </a:p>
        </p:txBody>
      </p:sp>
      <p:sp>
        <p:nvSpPr>
          <p:cNvPr id="22" name="Shape 20"/>
          <p:cNvSpPr/>
          <p:nvPr/>
        </p:nvSpPr>
        <p:spPr>
          <a:xfrm>
            <a:off x="1280160" y="3419856"/>
            <a:ext cx="5120640" cy="868680"/>
          </a:xfrm>
          <a:prstGeom prst="roundRect">
            <a:avLst>
              <a:gd name="adj" fmla="val 8421"/>
            </a:avLst>
          </a:prstGeom>
          <a:solidFill>
            <a:srgbClr val="F5FAF6"/>
          </a:solidFill>
          <a:ln w="12700">
            <a:solidFill>
              <a:srgbClr val="A6C8B1"/>
            </a:solidFill>
            <a:prstDash val="solid"/>
          </a:ln>
        </p:spPr>
        <p:txBody>
          <a:bodyPr/>
          <a:lstStyle/>
          <a:p>
            <a:endParaRPr lang="zh-CN" altLang="en-US"/>
          </a:p>
        </p:txBody>
      </p:sp>
      <p:sp>
        <p:nvSpPr>
          <p:cNvPr id="23" name="Text 21"/>
          <p:cNvSpPr txBox="1"/>
          <p:nvPr/>
        </p:nvSpPr>
        <p:spPr>
          <a:xfrm>
            <a:off x="1463040" y="3493008"/>
            <a:ext cx="1828800" cy="320040"/>
          </a:xfrm>
          <a:prstGeom prst="rect">
            <a:avLst/>
          </a:prstGeom>
          <a:noFill/>
        </p:spPr>
        <p:txBody>
          <a:bodyPr wrap="square" lIns="0" tIns="0" rIns="0" bIns="0" rtlCol="0" anchor="t"/>
          <a:lstStyle/>
          <a:p>
            <a:pPr marL="0" indent="0">
              <a:buNone/>
            </a:pPr>
            <a:r>
              <a:rPr lang="en-US" sz="1800" b="1" dirty="0">
                <a:solidFill>
                  <a:srgbClr val="174D3A"/>
                </a:solidFill>
                <a:latin typeface="Courier New" panose="02070309020205020404" pitchFamily="34" charset="0"/>
                <a:ea typeface="Courier New" panose="02070309020205020404" pitchFamily="34" charset="-122"/>
                <a:cs typeface="Courier New" panose="02070309020205020404" pitchFamily="34" charset="-120"/>
              </a:rPr>
              <a:t>donate()</a:t>
            </a:r>
            <a:endParaRPr lang="en-US" sz="1800" dirty="0"/>
          </a:p>
        </p:txBody>
      </p:sp>
      <p:sp>
        <p:nvSpPr>
          <p:cNvPr id="24" name="Text 22"/>
          <p:cNvSpPr txBox="1"/>
          <p:nvPr/>
        </p:nvSpPr>
        <p:spPr>
          <a:xfrm>
            <a:off x="5486400" y="3511296"/>
            <a:ext cx="777240" cy="274320"/>
          </a:xfrm>
          <a:prstGeom prst="rect">
            <a:avLst/>
          </a:prstGeom>
          <a:noFill/>
        </p:spPr>
        <p:txBody>
          <a:bodyPr wrap="square" lIns="0" tIns="0" rIns="0" bIns="0" rtlCol="0" anchor="t"/>
          <a:lstStyle/>
          <a:p>
            <a:pPr marL="0" indent="0" algn="r">
              <a:buNone/>
            </a:pPr>
            <a:r>
              <a:rPr lang="en-US" sz="1200" b="1" dirty="0">
                <a:solidFill>
                  <a:srgbClr val="2B8060"/>
                </a:solidFill>
                <a:latin typeface="Arial" panose="020B0604020202020204" pitchFamily="34" charset="0"/>
                <a:ea typeface="Arial" panose="020B0604020202020204" pitchFamily="34" charset="-122"/>
                <a:cs typeface="Arial" panose="020B0604020202020204" pitchFamily="34" charset="-120"/>
              </a:rPr>
              <a:t>Tx 2</a:t>
            </a:r>
            <a:endParaRPr lang="en-US" sz="1200" dirty="0"/>
          </a:p>
        </p:txBody>
      </p:sp>
      <p:sp>
        <p:nvSpPr>
          <p:cNvPr id="25" name="Text 23"/>
          <p:cNvSpPr txBox="1"/>
          <p:nvPr/>
        </p:nvSpPr>
        <p:spPr>
          <a:xfrm>
            <a:off x="1463040" y="3849624"/>
            <a:ext cx="4846320" cy="384048"/>
          </a:xfrm>
          <a:prstGeom prst="rect">
            <a:avLst/>
          </a:prstGeom>
          <a:noFill/>
        </p:spPr>
        <p:txBody>
          <a:bodyPr wrap="square" lIns="0" tIns="0" rIns="0" bIns="0" rtlCol="0" anchor="t"/>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100 → escrow and 1 → fee vault, in one step</a:t>
            </a:r>
            <a:endParaRPr lang="en-US" sz="1600" dirty="0"/>
          </a:p>
        </p:txBody>
      </p:sp>
      <p:sp>
        <p:nvSpPr>
          <p:cNvPr id="26" name="Shape 24"/>
          <p:cNvSpPr/>
          <p:nvPr/>
        </p:nvSpPr>
        <p:spPr>
          <a:xfrm>
            <a:off x="832104" y="4096512"/>
            <a:ext cx="914" cy="457200"/>
          </a:xfrm>
          <a:prstGeom prst="line">
            <a:avLst/>
          </a:prstGeom>
          <a:noFill/>
          <a:ln w="19050">
            <a:solidFill>
              <a:srgbClr val="2B8060"/>
            </a:solidFill>
            <a:prstDash val="solid"/>
            <a:tailEnd type="triangle"/>
          </a:ln>
        </p:spPr>
        <p:txBody>
          <a:bodyPr/>
          <a:lstStyle/>
          <a:p>
            <a:endParaRPr lang="zh-CN" altLang="en-US"/>
          </a:p>
        </p:txBody>
      </p:sp>
      <p:sp>
        <p:nvSpPr>
          <p:cNvPr id="27" name="Shape 25"/>
          <p:cNvSpPr/>
          <p:nvPr/>
        </p:nvSpPr>
        <p:spPr>
          <a:xfrm>
            <a:off x="548640" y="4553712"/>
            <a:ext cx="566928" cy="566928"/>
          </a:xfrm>
          <a:prstGeom prst="ellipse">
            <a:avLst/>
          </a:prstGeom>
          <a:solidFill>
            <a:srgbClr val="A6C8B1"/>
          </a:solidFill>
          <a:ln w="12700">
            <a:solidFill>
              <a:srgbClr val="2B8060"/>
            </a:solidFill>
            <a:prstDash val="solid"/>
          </a:ln>
        </p:spPr>
        <p:txBody>
          <a:bodyPr/>
          <a:lstStyle/>
          <a:p>
            <a:endParaRPr lang="zh-CN" altLang="en-US"/>
          </a:p>
        </p:txBody>
      </p:sp>
      <p:sp>
        <p:nvSpPr>
          <p:cNvPr id="28" name="Text 26"/>
          <p:cNvSpPr txBox="1"/>
          <p:nvPr/>
        </p:nvSpPr>
        <p:spPr>
          <a:xfrm>
            <a:off x="548640" y="4553712"/>
            <a:ext cx="566928" cy="566928"/>
          </a:xfrm>
          <a:prstGeom prst="rect">
            <a:avLst/>
          </a:prstGeom>
          <a:noFill/>
        </p:spPr>
        <p:txBody>
          <a:bodyPr wrap="square" lIns="0" tIns="0" rIns="0" bIns="0" rtlCol="0" anchor="ctr"/>
          <a:lstStyle/>
          <a:p>
            <a:pPr marL="0" indent="0" algn="ctr">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4</a:t>
            </a:r>
            <a:endParaRPr lang="en-US" sz="1800" dirty="0"/>
          </a:p>
        </p:txBody>
      </p:sp>
      <p:sp>
        <p:nvSpPr>
          <p:cNvPr id="29" name="Shape 27"/>
          <p:cNvSpPr/>
          <p:nvPr/>
        </p:nvSpPr>
        <p:spPr>
          <a:xfrm>
            <a:off x="1280160" y="4443984"/>
            <a:ext cx="5120640" cy="868680"/>
          </a:xfrm>
          <a:prstGeom prst="roundRect">
            <a:avLst>
              <a:gd name="adj" fmla="val 8421"/>
            </a:avLst>
          </a:prstGeom>
          <a:solidFill>
            <a:srgbClr val="F5FAF6"/>
          </a:solidFill>
          <a:ln w="12700">
            <a:solidFill>
              <a:srgbClr val="A6C8B1"/>
            </a:solidFill>
            <a:prstDash val="solid"/>
          </a:ln>
        </p:spPr>
        <p:txBody>
          <a:bodyPr/>
          <a:lstStyle/>
          <a:p>
            <a:endParaRPr lang="zh-CN" altLang="en-US"/>
          </a:p>
        </p:txBody>
      </p:sp>
      <p:sp>
        <p:nvSpPr>
          <p:cNvPr id="30" name="Text 28"/>
          <p:cNvSpPr txBox="1"/>
          <p:nvPr/>
        </p:nvSpPr>
        <p:spPr>
          <a:xfrm>
            <a:off x="1463040" y="4517136"/>
            <a:ext cx="1828800" cy="320040"/>
          </a:xfrm>
          <a:prstGeom prst="rect">
            <a:avLst/>
          </a:prstGeom>
          <a:noFill/>
        </p:spPr>
        <p:txBody>
          <a:bodyPr wrap="square" lIns="0" tIns="0" rIns="0" bIns="0" rtlCol="0" anchor="t"/>
          <a:lstStyle/>
          <a:p>
            <a:pPr marL="0" indent="0">
              <a:buNone/>
            </a:pPr>
            <a:r>
              <a:rPr lang="en-US" sz="1800" b="1" dirty="0">
                <a:solidFill>
                  <a:srgbClr val="174D3A"/>
                </a:solidFill>
                <a:latin typeface="Courier New" panose="02070309020205020404" pitchFamily="34" charset="0"/>
                <a:ea typeface="Courier New" panose="02070309020205020404" pitchFamily="34" charset="-122"/>
                <a:cs typeface="Courier New" panose="02070309020205020404" pitchFamily="34" charset="-120"/>
              </a:rPr>
              <a:t>Receipt</a:t>
            </a:r>
            <a:endParaRPr lang="en-US" sz="1800" dirty="0"/>
          </a:p>
        </p:txBody>
      </p:sp>
      <p:sp>
        <p:nvSpPr>
          <p:cNvPr id="31" name="Text 29"/>
          <p:cNvSpPr txBox="1"/>
          <p:nvPr/>
        </p:nvSpPr>
        <p:spPr>
          <a:xfrm>
            <a:off x="5486400" y="4535424"/>
            <a:ext cx="777240" cy="274320"/>
          </a:xfrm>
          <a:prstGeom prst="rect">
            <a:avLst/>
          </a:prstGeom>
          <a:noFill/>
        </p:spPr>
        <p:txBody>
          <a:bodyPr wrap="square" lIns="0" tIns="0" rIns="0" bIns="0" rtlCol="0" anchor="t"/>
          <a:lstStyle/>
          <a:p>
            <a:pPr marL="0" indent="0" algn="r">
              <a:buNone/>
            </a:pPr>
            <a:r>
              <a:rPr lang="en-US" sz="1200" b="1" dirty="0">
                <a:solidFill>
                  <a:srgbClr val="2B8060"/>
                </a:solidFill>
                <a:latin typeface="Arial" panose="020B0604020202020204" pitchFamily="34" charset="0"/>
                <a:ea typeface="Arial" panose="020B0604020202020204" pitchFamily="34" charset="-122"/>
                <a:cs typeface="Arial" panose="020B0604020202020204" pitchFamily="34" charset="-120"/>
              </a:rPr>
              <a:t>Record</a:t>
            </a:r>
            <a:endParaRPr lang="en-US" sz="1200" dirty="0"/>
          </a:p>
        </p:txBody>
      </p:sp>
      <p:sp>
        <p:nvSpPr>
          <p:cNvPr id="32" name="Text 30"/>
          <p:cNvSpPr txBox="1"/>
          <p:nvPr/>
        </p:nvSpPr>
        <p:spPr>
          <a:xfrm>
            <a:off x="1463040" y="4873752"/>
            <a:ext cx="4846320" cy="384048"/>
          </a:xfrm>
          <a:prstGeom prst="rect">
            <a:avLst/>
          </a:prstGeom>
          <a:noFill/>
        </p:spPr>
        <p:txBody>
          <a:bodyPr wrap="square" lIns="0" tIns="0" rIns="0" bIns="0" rtlCol="0" anchor="t"/>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Tx hash, block number, decoded events</a:t>
            </a:r>
            <a:endParaRPr lang="en-US" sz="1600" dirty="0"/>
          </a:p>
        </p:txBody>
      </p:sp>
      <p:sp>
        <p:nvSpPr>
          <p:cNvPr id="33" name="Text 31"/>
          <p:cNvSpPr txBox="1"/>
          <p:nvPr/>
        </p:nvSpPr>
        <p:spPr>
          <a:xfrm>
            <a:off x="6766560" y="1325880"/>
            <a:ext cx="4892040" cy="292608"/>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Balances in a recorded walkthrough (CGUSD)</a:t>
            </a:r>
            <a:endParaRPr lang="en-US" sz="1600" dirty="0"/>
          </a:p>
        </p:txBody>
      </p:sp>
      <p:graphicFrame>
        <p:nvGraphicFramePr>
          <p:cNvPr id="34" name="Chart 0"/>
          <p:cNvGraphicFramePr/>
          <p:nvPr/>
        </p:nvGraphicFramePr>
        <p:xfrm>
          <a:off x="6675120" y="1645920"/>
          <a:ext cx="49834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35" name="Shape 32"/>
          <p:cNvSpPr/>
          <p:nvPr/>
        </p:nvSpPr>
        <p:spPr>
          <a:xfrm>
            <a:off x="6766560" y="4800600"/>
            <a:ext cx="4892040" cy="1444752"/>
          </a:xfrm>
          <a:prstGeom prst="roundRect">
            <a:avLst>
              <a:gd name="adj" fmla="val 5063"/>
            </a:avLst>
          </a:prstGeom>
          <a:solidFill>
            <a:srgbClr val="F7E4D4"/>
          </a:solidFill>
          <a:ln w="12700">
            <a:solidFill>
              <a:srgbClr val="9A4A22"/>
            </a:solidFill>
            <a:prstDash val="solid"/>
          </a:ln>
        </p:spPr>
        <p:txBody>
          <a:bodyPr/>
          <a:lstStyle/>
          <a:p>
            <a:endParaRPr lang="zh-CN" altLang="en-US"/>
          </a:p>
        </p:txBody>
      </p:sp>
      <p:pic>
        <p:nvPicPr>
          <p:cNvPr id="36" name="Image 0" descr="preencoded.png"/>
          <p:cNvPicPr>
            <a:picLocks noChangeAspect="1"/>
          </p:cNvPicPr>
          <p:nvPr/>
        </p:nvPicPr>
        <p:blipFill>
          <a:blip r:embed="rId4"/>
          <a:stretch>
            <a:fillRect/>
          </a:stretch>
        </p:blipFill>
        <p:spPr>
          <a:xfrm>
            <a:off x="6931152" y="4928616"/>
            <a:ext cx="365760" cy="365760"/>
          </a:xfrm>
          <a:prstGeom prst="rect">
            <a:avLst/>
          </a:prstGeom>
        </p:spPr>
      </p:pic>
      <p:sp>
        <p:nvSpPr>
          <p:cNvPr id="37" name="Text 33"/>
          <p:cNvSpPr txBox="1"/>
          <p:nvPr/>
        </p:nvSpPr>
        <p:spPr>
          <a:xfrm>
            <a:off x="7406640" y="4910328"/>
            <a:ext cx="4160520" cy="384048"/>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CGUSD is an internal ERC-20 demo token</a:t>
            </a:r>
            <a:endParaRPr lang="en-US" sz="1600" dirty="0"/>
          </a:p>
        </p:txBody>
      </p:sp>
      <p:sp>
        <p:nvSpPr>
          <p:cNvPr id="38" name="Text 34"/>
          <p:cNvSpPr txBox="1"/>
          <p:nvPr/>
        </p:nvSpPr>
        <p:spPr>
          <a:xfrm>
            <a:off x="6949440" y="5367528"/>
            <a:ext cx="4572000" cy="822960"/>
          </a:xfrm>
          <a:prstGeom prst="rect">
            <a:avLst/>
          </a:prstGeom>
          <a:noFill/>
        </p:spPr>
        <p:txBody>
          <a:bodyPr wrap="square" lIns="0" tIns="0" rIns="0" bIns="0" rtlCol="0" anchor="t"/>
          <a:lstStyle/>
          <a:p>
            <a:pPr marL="0" indent="0">
              <a:buNone/>
            </a:pPr>
            <a:r>
              <a:rPr lang="en-US" sz="1600" dirty="0">
                <a:solidFill>
                  <a:srgbClr val="1C2A23"/>
                </a:solidFill>
                <a:latin typeface="Arial" panose="020B0604020202020204" pitchFamily="34" charset="0"/>
                <a:ea typeface="Arial" panose="020B0604020202020204" pitchFamily="34" charset="-122"/>
                <a:cs typeface="Arial" panose="020B0604020202020204" pitchFamily="34" charset="-120"/>
              </a:rPr>
              <a:t>“SGD” is a display unit only: no cash conversion or reserve. Not XSGD, not a regulated stablecoin.</a:t>
            </a:r>
            <a:endParaRPr lang="en-US" sz="1600" dirty="0"/>
          </a:p>
        </p:txBody>
      </p:sp>
      <p:sp>
        <p:nvSpPr>
          <p:cNvPr id="39" name="Shape 35"/>
          <p:cNvSpPr/>
          <p:nvPr/>
        </p:nvSpPr>
        <p:spPr>
          <a:xfrm>
            <a:off x="548640" y="5532120"/>
            <a:ext cx="5852160" cy="713232"/>
          </a:xfrm>
          <a:prstGeom prst="roundRect">
            <a:avLst>
              <a:gd name="adj" fmla="val 10256"/>
            </a:avLst>
          </a:prstGeom>
          <a:solidFill>
            <a:srgbClr val="FFFFFF"/>
          </a:solidFill>
          <a:ln w="12700">
            <a:solidFill>
              <a:srgbClr val="A6C8B1"/>
            </a:solidFill>
            <a:prstDash val="solid"/>
          </a:ln>
        </p:spPr>
        <p:txBody>
          <a:bodyPr/>
          <a:lstStyle/>
          <a:p>
            <a:endParaRPr lang="zh-CN" altLang="en-US"/>
          </a:p>
        </p:txBody>
      </p:sp>
      <p:pic>
        <p:nvPicPr>
          <p:cNvPr id="40" name="Image 1" descr="preencoded.png"/>
          <p:cNvPicPr>
            <a:picLocks noChangeAspect="1"/>
          </p:cNvPicPr>
          <p:nvPr/>
        </p:nvPicPr>
        <p:blipFill>
          <a:blip r:embed="rId5"/>
          <a:stretch>
            <a:fillRect/>
          </a:stretch>
        </p:blipFill>
        <p:spPr>
          <a:xfrm>
            <a:off x="713232" y="5687568"/>
            <a:ext cx="384048" cy="384048"/>
          </a:xfrm>
          <a:prstGeom prst="rect">
            <a:avLst/>
          </a:prstGeom>
        </p:spPr>
      </p:pic>
      <p:sp>
        <p:nvSpPr>
          <p:cNvPr id="41" name="Text 36"/>
          <p:cNvSpPr txBox="1"/>
          <p:nvPr/>
        </p:nvSpPr>
        <p:spPr>
          <a:xfrm>
            <a:off x="1234440" y="5577840"/>
            <a:ext cx="5074920" cy="640080"/>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Funds sit in the campaign contract, not in an organiser’s spendable account.</a:t>
            </a:r>
            <a:endParaRPr lang="en-US" sz="1600" dirty="0"/>
          </a:p>
        </p:txBody>
      </p:sp>
      <p:sp>
        <p:nvSpPr>
          <p:cNvPr id="42"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04 · TECHNICAL MODEL · CONDITIONAL RELEASE &amp; REFUNDS</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Rules are checked when someone calls the contract</a:t>
            </a:r>
            <a:endParaRPr lang="en-US" sz="3200" dirty="0"/>
          </a:p>
        </p:txBody>
      </p:sp>
      <p:sp>
        <p:nvSpPr>
          <p:cNvPr id="5" name="Text 3"/>
          <p:cNvSpPr txBox="1"/>
          <p:nvPr/>
        </p:nvSpPr>
        <p:spPr>
          <a:xfrm>
            <a:off x="10012680" y="292608"/>
            <a:ext cx="1645920" cy="274320"/>
          </a:xfrm>
          <a:prstGeom prst="roundRect">
            <a:avLst>
              <a:gd name="adj" fmla="val 50000"/>
            </a:avLst>
          </a:prstGeom>
          <a:solidFill>
            <a:srgbClr val="2B8060"/>
          </a:solidFill>
          <a:ln w="12700">
            <a:solidFill>
              <a:srgbClr val="2B8060"/>
            </a:solid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DEMONSTRATED</a:t>
            </a:r>
            <a:endParaRPr lang="en-US" sz="1100" dirty="0"/>
          </a:p>
        </p:txBody>
      </p:sp>
      <p:sp>
        <p:nvSpPr>
          <p:cNvPr id="6" name="Shape 4"/>
          <p:cNvSpPr/>
          <p:nvPr/>
        </p:nvSpPr>
        <p:spPr>
          <a:xfrm>
            <a:off x="548640" y="1417320"/>
            <a:ext cx="1920240" cy="1234440"/>
          </a:xfrm>
          <a:prstGeom prst="roundRect">
            <a:avLst>
              <a:gd name="adj" fmla="val 5926"/>
            </a:avLst>
          </a:prstGeom>
          <a:solidFill>
            <a:srgbClr val="F5FAF6"/>
          </a:solidFill>
          <a:ln w="15875">
            <a:solidFill>
              <a:srgbClr val="A6C8B1"/>
            </a:solidFill>
            <a:prstDash val="solid"/>
          </a:ln>
        </p:spPr>
        <p:txBody>
          <a:bodyPr/>
          <a:lstStyle/>
          <a:p>
            <a:endParaRPr lang="zh-CN" altLang="en-US"/>
          </a:p>
        </p:txBody>
      </p:sp>
      <p:sp>
        <p:nvSpPr>
          <p:cNvPr id="7" name="Text 5"/>
          <p:cNvSpPr txBox="1"/>
          <p:nvPr/>
        </p:nvSpPr>
        <p:spPr>
          <a:xfrm>
            <a:off x="658368" y="1508760"/>
            <a:ext cx="1737360" cy="384048"/>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Funding</a:t>
            </a:r>
            <a:endParaRPr lang="en-US" sz="1800" dirty="0"/>
          </a:p>
        </p:txBody>
      </p:sp>
      <p:sp>
        <p:nvSpPr>
          <p:cNvPr id="8" name="Text 6"/>
          <p:cNvSpPr txBox="1"/>
          <p:nvPr/>
        </p:nvSpPr>
        <p:spPr>
          <a:xfrm>
            <a:off x="658368" y="1920240"/>
            <a:ext cx="1737360" cy="68580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Gifts held in escrow</a:t>
            </a:r>
            <a:endParaRPr lang="en-US" sz="1600" dirty="0"/>
          </a:p>
        </p:txBody>
      </p:sp>
      <p:sp>
        <p:nvSpPr>
          <p:cNvPr id="9" name="Shape 7"/>
          <p:cNvSpPr/>
          <p:nvPr/>
        </p:nvSpPr>
        <p:spPr>
          <a:xfrm>
            <a:off x="2468880" y="2029968"/>
            <a:ext cx="377190" cy="914"/>
          </a:xfrm>
          <a:prstGeom prst="line">
            <a:avLst/>
          </a:prstGeom>
          <a:noFill/>
          <a:ln w="25400">
            <a:solidFill>
              <a:srgbClr val="2B8060"/>
            </a:solidFill>
            <a:prstDash val="solid"/>
            <a:tailEnd type="triangle"/>
          </a:ln>
        </p:spPr>
        <p:txBody>
          <a:bodyPr/>
          <a:lstStyle/>
          <a:p>
            <a:endParaRPr lang="zh-CN" altLang="en-US"/>
          </a:p>
        </p:txBody>
      </p:sp>
      <p:sp>
        <p:nvSpPr>
          <p:cNvPr id="10" name="Shape 8"/>
          <p:cNvSpPr/>
          <p:nvPr/>
        </p:nvSpPr>
        <p:spPr>
          <a:xfrm>
            <a:off x="2846070" y="1417320"/>
            <a:ext cx="1920240" cy="1234440"/>
          </a:xfrm>
          <a:prstGeom prst="roundRect">
            <a:avLst>
              <a:gd name="adj" fmla="val 5926"/>
            </a:avLst>
          </a:prstGeom>
          <a:solidFill>
            <a:srgbClr val="F5FAF6"/>
          </a:solidFill>
          <a:ln w="15875">
            <a:solidFill>
              <a:srgbClr val="A6C8B1"/>
            </a:solidFill>
            <a:prstDash val="solid"/>
          </a:ln>
        </p:spPr>
        <p:txBody>
          <a:bodyPr/>
          <a:lstStyle/>
          <a:p>
            <a:endParaRPr lang="zh-CN" altLang="en-US"/>
          </a:p>
        </p:txBody>
      </p:sp>
      <p:sp>
        <p:nvSpPr>
          <p:cNvPr id="11" name="Text 9"/>
          <p:cNvSpPr txBox="1"/>
          <p:nvPr/>
        </p:nvSpPr>
        <p:spPr>
          <a:xfrm>
            <a:off x="2955798" y="1508760"/>
            <a:ext cx="1737360" cy="384048"/>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Active</a:t>
            </a:r>
            <a:endParaRPr lang="en-US" sz="1800" dirty="0"/>
          </a:p>
        </p:txBody>
      </p:sp>
      <p:sp>
        <p:nvSpPr>
          <p:cNvPr id="12" name="Text 10"/>
          <p:cNvSpPr txBox="1"/>
          <p:nvPr/>
        </p:nvSpPr>
        <p:spPr>
          <a:xfrm>
            <a:off x="2955798" y="1920240"/>
            <a:ext cx="1737360" cy="68580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Target reached</a:t>
            </a:r>
            <a:endParaRPr lang="en-US" sz="1600" dirty="0"/>
          </a:p>
        </p:txBody>
      </p:sp>
      <p:sp>
        <p:nvSpPr>
          <p:cNvPr id="13" name="Shape 11"/>
          <p:cNvSpPr/>
          <p:nvPr/>
        </p:nvSpPr>
        <p:spPr>
          <a:xfrm>
            <a:off x="4766310" y="2029968"/>
            <a:ext cx="377190" cy="914"/>
          </a:xfrm>
          <a:prstGeom prst="line">
            <a:avLst/>
          </a:prstGeom>
          <a:noFill/>
          <a:ln w="25400">
            <a:solidFill>
              <a:srgbClr val="2B8060"/>
            </a:solidFill>
            <a:prstDash val="solid"/>
            <a:tailEnd type="triangle"/>
          </a:ln>
        </p:spPr>
        <p:txBody>
          <a:bodyPr/>
          <a:lstStyle/>
          <a:p>
            <a:endParaRPr lang="zh-CN" altLang="en-US"/>
          </a:p>
        </p:txBody>
      </p:sp>
      <p:sp>
        <p:nvSpPr>
          <p:cNvPr id="14" name="Shape 12"/>
          <p:cNvSpPr/>
          <p:nvPr/>
        </p:nvSpPr>
        <p:spPr>
          <a:xfrm>
            <a:off x="5143500" y="1417320"/>
            <a:ext cx="1920240" cy="1234440"/>
          </a:xfrm>
          <a:prstGeom prst="roundRect">
            <a:avLst>
              <a:gd name="adj" fmla="val 5926"/>
            </a:avLst>
          </a:prstGeom>
          <a:solidFill>
            <a:srgbClr val="F5FAF6"/>
          </a:solidFill>
          <a:ln w="15875">
            <a:solidFill>
              <a:srgbClr val="A6C8B1"/>
            </a:solidFill>
            <a:prstDash val="solid"/>
          </a:ln>
        </p:spPr>
        <p:txBody>
          <a:bodyPr/>
          <a:lstStyle/>
          <a:p>
            <a:endParaRPr lang="zh-CN" altLang="en-US"/>
          </a:p>
        </p:txBody>
      </p:sp>
      <p:sp>
        <p:nvSpPr>
          <p:cNvPr id="15" name="Text 13"/>
          <p:cNvSpPr txBox="1"/>
          <p:nvPr/>
        </p:nvSpPr>
        <p:spPr>
          <a:xfrm>
            <a:off x="5253228" y="1508760"/>
            <a:ext cx="1737360" cy="384048"/>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Evidence</a:t>
            </a:r>
            <a:endParaRPr lang="en-US" sz="1800" dirty="0"/>
          </a:p>
        </p:txBody>
      </p:sp>
      <p:sp>
        <p:nvSpPr>
          <p:cNvPr id="16" name="Text 14"/>
          <p:cNvSpPr txBox="1"/>
          <p:nvPr/>
        </p:nvSpPr>
        <p:spPr>
          <a:xfrm>
            <a:off x="5253228" y="1920240"/>
            <a:ext cx="1737360" cy="68580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Invoice hash, revision n</a:t>
            </a:r>
            <a:endParaRPr lang="en-US" sz="1600" dirty="0"/>
          </a:p>
        </p:txBody>
      </p:sp>
      <p:sp>
        <p:nvSpPr>
          <p:cNvPr id="17" name="Shape 15"/>
          <p:cNvSpPr/>
          <p:nvPr/>
        </p:nvSpPr>
        <p:spPr>
          <a:xfrm>
            <a:off x="7063740" y="2029968"/>
            <a:ext cx="377190" cy="914"/>
          </a:xfrm>
          <a:prstGeom prst="line">
            <a:avLst/>
          </a:prstGeom>
          <a:noFill/>
          <a:ln w="25400">
            <a:solidFill>
              <a:srgbClr val="2B8060"/>
            </a:solidFill>
            <a:prstDash val="solid"/>
            <a:tailEnd type="triangle"/>
          </a:ln>
        </p:spPr>
        <p:txBody>
          <a:bodyPr/>
          <a:lstStyle/>
          <a:p>
            <a:endParaRPr lang="zh-CN" altLang="en-US"/>
          </a:p>
        </p:txBody>
      </p:sp>
      <p:sp>
        <p:nvSpPr>
          <p:cNvPr id="18" name="Shape 16"/>
          <p:cNvSpPr/>
          <p:nvPr/>
        </p:nvSpPr>
        <p:spPr>
          <a:xfrm>
            <a:off x="7440930" y="1417320"/>
            <a:ext cx="1920240" cy="1234440"/>
          </a:xfrm>
          <a:prstGeom prst="roundRect">
            <a:avLst>
              <a:gd name="adj" fmla="val 5926"/>
            </a:avLst>
          </a:prstGeom>
          <a:solidFill>
            <a:srgbClr val="F5FAF6"/>
          </a:solidFill>
          <a:ln w="15875">
            <a:solidFill>
              <a:srgbClr val="A6C8B1"/>
            </a:solidFill>
            <a:prstDash val="solid"/>
          </a:ln>
        </p:spPr>
        <p:txBody>
          <a:bodyPr/>
          <a:lstStyle/>
          <a:p>
            <a:endParaRPr lang="zh-CN" altLang="en-US"/>
          </a:p>
        </p:txBody>
      </p:sp>
      <p:sp>
        <p:nvSpPr>
          <p:cNvPr id="19" name="Text 17"/>
          <p:cNvSpPr txBox="1"/>
          <p:nvPr/>
        </p:nvSpPr>
        <p:spPr>
          <a:xfrm>
            <a:off x="7550658" y="1508760"/>
            <a:ext cx="1737360" cy="384048"/>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2 approvals</a:t>
            </a:r>
            <a:endParaRPr lang="en-US" sz="1800" dirty="0"/>
          </a:p>
        </p:txBody>
      </p:sp>
      <p:sp>
        <p:nvSpPr>
          <p:cNvPr id="20" name="Text 18"/>
          <p:cNvSpPr txBox="1"/>
          <p:nvPr/>
        </p:nvSpPr>
        <p:spPr>
          <a:xfrm>
            <a:off x="7550658" y="1920240"/>
            <a:ext cx="1737360" cy="68580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Both on the same revision</a:t>
            </a:r>
            <a:endParaRPr lang="en-US" sz="1600" dirty="0"/>
          </a:p>
        </p:txBody>
      </p:sp>
      <p:sp>
        <p:nvSpPr>
          <p:cNvPr id="21" name="Shape 19"/>
          <p:cNvSpPr/>
          <p:nvPr/>
        </p:nvSpPr>
        <p:spPr>
          <a:xfrm>
            <a:off x="9361170" y="2029968"/>
            <a:ext cx="377190" cy="914"/>
          </a:xfrm>
          <a:prstGeom prst="line">
            <a:avLst/>
          </a:prstGeom>
          <a:noFill/>
          <a:ln w="25400">
            <a:solidFill>
              <a:srgbClr val="2B8060"/>
            </a:solidFill>
            <a:prstDash val="solid"/>
            <a:tailEnd type="triangle"/>
          </a:ln>
        </p:spPr>
        <p:txBody>
          <a:bodyPr/>
          <a:lstStyle/>
          <a:p>
            <a:endParaRPr lang="zh-CN" altLang="en-US"/>
          </a:p>
        </p:txBody>
      </p:sp>
      <p:sp>
        <p:nvSpPr>
          <p:cNvPr id="22" name="Shape 20"/>
          <p:cNvSpPr/>
          <p:nvPr/>
        </p:nvSpPr>
        <p:spPr>
          <a:xfrm>
            <a:off x="9738360" y="1417320"/>
            <a:ext cx="1920240" cy="1234440"/>
          </a:xfrm>
          <a:prstGeom prst="roundRect">
            <a:avLst>
              <a:gd name="adj" fmla="val 5926"/>
            </a:avLst>
          </a:prstGeom>
          <a:solidFill>
            <a:srgbClr val="2B8060"/>
          </a:solidFill>
          <a:ln w="15875">
            <a:solidFill>
              <a:srgbClr val="2B8060"/>
            </a:solidFill>
            <a:prstDash val="solid"/>
          </a:ln>
        </p:spPr>
        <p:txBody>
          <a:bodyPr/>
          <a:lstStyle/>
          <a:p>
            <a:endParaRPr lang="zh-CN" altLang="en-US"/>
          </a:p>
        </p:txBody>
      </p:sp>
      <p:sp>
        <p:nvSpPr>
          <p:cNvPr id="23" name="Text 21"/>
          <p:cNvSpPr txBox="1"/>
          <p:nvPr/>
        </p:nvSpPr>
        <p:spPr>
          <a:xfrm>
            <a:off x="9848088" y="1508760"/>
            <a:ext cx="1737360" cy="384048"/>
          </a:xfrm>
          <a:prstGeom prst="rect">
            <a:avLst/>
          </a:prstGeom>
          <a:noFill/>
        </p:spPr>
        <p:txBody>
          <a:bodyPr wrap="square" lIns="0" tIns="0" rIns="0" bIns="0" rtlCol="0" anchor="t"/>
          <a:lstStyle/>
          <a:p>
            <a:pPr marL="0" indent="0">
              <a:buNone/>
            </a:pPr>
            <a:r>
              <a:rPr lang="en-US" sz="18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release() tx</a:t>
            </a:r>
            <a:endParaRPr lang="en-US" sz="1800" dirty="0"/>
          </a:p>
        </p:txBody>
      </p:sp>
      <p:sp>
        <p:nvSpPr>
          <p:cNvPr id="24" name="Text 22"/>
          <p:cNvSpPr txBox="1"/>
          <p:nvPr/>
        </p:nvSpPr>
        <p:spPr>
          <a:xfrm>
            <a:off x="9848088" y="1920240"/>
            <a:ext cx="1737360" cy="685800"/>
          </a:xfrm>
          <a:prstGeom prst="rect">
            <a:avLst/>
          </a:prstGeom>
          <a:noFill/>
        </p:spPr>
        <p:txBody>
          <a:bodyPr wrap="square" lIns="0" tIns="0" rIns="0" bIns="0" rtlCol="0" anchor="t"/>
          <a:lstStyle/>
          <a:p>
            <a:pPr marL="0" indent="0">
              <a:buNone/>
            </a:pPr>
            <a:r>
              <a:rPr lang="en-US" sz="1600" dirty="0">
                <a:solidFill>
                  <a:srgbClr val="E3F2E8"/>
                </a:solidFill>
                <a:latin typeface="Arial" panose="020B0604020202020204" pitchFamily="34" charset="0"/>
                <a:ea typeface="Arial" panose="020B0604020202020204" pitchFamily="34" charset="-122"/>
                <a:cs typeface="Arial" panose="020B0604020202020204" pitchFamily="34" charset="-120"/>
              </a:rPr>
              <a:t>Fixed payee and amount, once</a:t>
            </a:r>
            <a:endParaRPr lang="en-US" sz="1600" dirty="0"/>
          </a:p>
        </p:txBody>
      </p:sp>
      <p:sp>
        <p:nvSpPr>
          <p:cNvPr id="25" name="Text 23"/>
          <p:cNvSpPr txBox="1"/>
          <p:nvPr/>
        </p:nvSpPr>
        <p:spPr>
          <a:xfrm>
            <a:off x="5074920" y="2715768"/>
            <a:ext cx="4297680" cy="310896"/>
          </a:xfrm>
          <a:prstGeom prst="rect">
            <a:avLst/>
          </a:prstGeom>
          <a:noFill/>
        </p:spPr>
        <p:txBody>
          <a:bodyPr wrap="square" lIns="0" tIns="0" rIns="0" bIns="0" rtlCol="0" anchor="t"/>
          <a:lstStyle/>
          <a:p>
            <a:pPr marL="0" indent="0" algn="ctr">
              <a:buNone/>
            </a:pPr>
            <a:r>
              <a:rPr lang="en-US" sz="1500" i="1" dirty="0">
                <a:solidFill>
                  <a:srgbClr val="45624F"/>
                </a:solidFill>
                <a:latin typeface="Arial" panose="020B0604020202020204" pitchFamily="34" charset="0"/>
                <a:ea typeface="Arial" panose="020B0604020202020204" pitchFamily="34" charset="-122"/>
                <a:cs typeface="Arial" panose="020B0604020202020204" pitchFamily="34" charset="-120"/>
              </a:rPr>
              <a:t>↺ After a rejection, new evidence resets approvals</a:t>
            </a:r>
            <a:endParaRPr lang="en-US" sz="1500" dirty="0"/>
          </a:p>
        </p:txBody>
      </p:sp>
      <p:sp>
        <p:nvSpPr>
          <p:cNvPr id="26" name="Shape 24"/>
          <p:cNvSpPr/>
          <p:nvPr/>
        </p:nvSpPr>
        <p:spPr>
          <a:xfrm>
            <a:off x="1508760" y="2651760"/>
            <a:ext cx="0" cy="777240"/>
          </a:xfrm>
          <a:prstGeom prst="line">
            <a:avLst/>
          </a:prstGeom>
          <a:noFill/>
          <a:ln w="25400">
            <a:solidFill>
              <a:srgbClr val="9A4A22"/>
            </a:solidFill>
            <a:prstDash val="dash"/>
          </a:ln>
        </p:spPr>
        <p:txBody>
          <a:bodyPr/>
          <a:lstStyle/>
          <a:p>
            <a:endParaRPr lang="zh-CN" altLang="en-US"/>
          </a:p>
        </p:txBody>
      </p:sp>
      <p:sp>
        <p:nvSpPr>
          <p:cNvPr id="27" name="Shape 25"/>
          <p:cNvSpPr/>
          <p:nvPr/>
        </p:nvSpPr>
        <p:spPr>
          <a:xfrm>
            <a:off x="1508760" y="3429000"/>
            <a:ext cx="320040" cy="0"/>
          </a:xfrm>
          <a:prstGeom prst="line">
            <a:avLst/>
          </a:prstGeom>
          <a:noFill/>
          <a:ln w="25400">
            <a:solidFill>
              <a:srgbClr val="9A4A22"/>
            </a:solidFill>
            <a:prstDash val="dash"/>
          </a:ln>
        </p:spPr>
        <p:txBody>
          <a:bodyPr/>
          <a:lstStyle/>
          <a:p>
            <a:endParaRPr lang="zh-CN" altLang="en-US"/>
          </a:p>
        </p:txBody>
      </p:sp>
      <p:sp>
        <p:nvSpPr>
          <p:cNvPr id="28" name="Shape 26"/>
          <p:cNvSpPr/>
          <p:nvPr/>
        </p:nvSpPr>
        <p:spPr>
          <a:xfrm>
            <a:off x="1828800" y="3154680"/>
            <a:ext cx="9829800" cy="914400"/>
          </a:xfrm>
          <a:prstGeom prst="roundRect">
            <a:avLst>
              <a:gd name="adj" fmla="val 8000"/>
            </a:avLst>
          </a:prstGeom>
          <a:solidFill>
            <a:srgbClr val="F7E4D4"/>
          </a:solidFill>
          <a:ln w="15875">
            <a:solidFill>
              <a:srgbClr val="9A4A22"/>
            </a:solidFill>
            <a:prstDash val="solid"/>
          </a:ln>
        </p:spPr>
        <p:txBody>
          <a:bodyPr/>
          <a:lstStyle/>
          <a:p>
            <a:endParaRPr lang="zh-CN" altLang="en-US"/>
          </a:p>
        </p:txBody>
      </p:sp>
      <p:pic>
        <p:nvPicPr>
          <p:cNvPr id="29" name="Image 0" descr="preencoded.png"/>
          <p:cNvPicPr>
            <a:picLocks noChangeAspect="1"/>
          </p:cNvPicPr>
          <p:nvPr/>
        </p:nvPicPr>
        <p:blipFill>
          <a:blip r:embed="rId3"/>
          <a:stretch>
            <a:fillRect/>
          </a:stretch>
        </p:blipFill>
        <p:spPr>
          <a:xfrm>
            <a:off x="1993392" y="3401568"/>
            <a:ext cx="411480" cy="411480"/>
          </a:xfrm>
          <a:prstGeom prst="rect">
            <a:avLst/>
          </a:prstGeom>
        </p:spPr>
      </p:pic>
      <p:sp>
        <p:nvSpPr>
          <p:cNvPr id="30" name="Text 27"/>
          <p:cNvSpPr txBox="1"/>
          <p:nvPr/>
        </p:nvSpPr>
        <p:spPr>
          <a:xfrm>
            <a:off x="2560320" y="3218688"/>
            <a:ext cx="8961120" cy="786384"/>
          </a:xfrm>
          <a:prstGeom prst="rect">
            <a:avLst/>
          </a:prstGeom>
          <a:noFill/>
        </p:spPr>
        <p:txBody>
          <a:bodyPr wrap="square" lIns="0" tIns="0" rIns="0" bIns="0" rtlCol="0" anchor="ctr"/>
          <a:lstStyle/>
          <a:p>
            <a:pPr marL="0" indent="0">
              <a:buNone/>
            </a:pPr>
            <a:r>
              <a:rPr lang="en-US" sz="1700" b="1" dirty="0">
                <a:solidFill>
                  <a:srgbClr val="1C2A23"/>
                </a:solidFill>
                <a:latin typeface="Arial" panose="020B0604020202020204" pitchFamily="34" charset="0"/>
                <a:ea typeface="Arial" panose="020B0604020202020204" pitchFamily="34" charset="-122"/>
                <a:cs typeface="Arial" panose="020B0604020202020204" pitchFamily="34" charset="-120"/>
              </a:rPr>
              <a:t>Deadline missed  →  </a:t>
            </a: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a donor’s first  </a:t>
            </a:r>
            <a:r>
              <a:rPr lang="en-US" sz="1700" b="1" dirty="0">
                <a:solidFill>
                  <a:srgbClr val="1C2A23"/>
                </a:solidFill>
                <a:latin typeface="Courier New" panose="02070309020205020404" pitchFamily="34" charset="0"/>
                <a:ea typeface="Courier New" panose="02070309020205020404" pitchFamily="34" charset="-122"/>
                <a:cs typeface="Courier New" panose="02070309020205020404" pitchFamily="34" charset="-120"/>
              </a:rPr>
              <a:t>claimRefund()</a:t>
            </a: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  freezes the unspent balance; each eligible donor claims a share. Supplier funds already paid are not refunded.</a:t>
            </a:r>
            <a:endParaRPr lang="en-US" sz="1700" dirty="0"/>
          </a:p>
        </p:txBody>
      </p:sp>
      <p:sp>
        <p:nvSpPr>
          <p:cNvPr id="31" name="Shape 28"/>
          <p:cNvSpPr/>
          <p:nvPr/>
        </p:nvSpPr>
        <p:spPr>
          <a:xfrm>
            <a:off x="548640" y="4297680"/>
            <a:ext cx="2651760" cy="1938528"/>
          </a:xfrm>
          <a:prstGeom prst="roundRect">
            <a:avLst>
              <a:gd name="adj" fmla="val 3774"/>
            </a:avLst>
          </a:prstGeom>
          <a:solidFill>
            <a:srgbClr val="F5FAF6"/>
          </a:solidFill>
          <a:ln w="12700">
            <a:solidFill>
              <a:srgbClr val="A6C8B1"/>
            </a:solidFill>
            <a:prstDash val="solid"/>
          </a:ln>
        </p:spPr>
        <p:txBody>
          <a:bodyPr/>
          <a:lstStyle/>
          <a:p>
            <a:endParaRPr lang="zh-CN" altLang="en-US"/>
          </a:p>
        </p:txBody>
      </p:sp>
      <p:pic>
        <p:nvPicPr>
          <p:cNvPr id="32" name="Image 1" descr="preencoded.png"/>
          <p:cNvPicPr>
            <a:picLocks noChangeAspect="1"/>
          </p:cNvPicPr>
          <p:nvPr/>
        </p:nvPicPr>
        <p:blipFill>
          <a:blip r:embed="rId4"/>
          <a:stretch>
            <a:fillRect/>
          </a:stretch>
        </p:blipFill>
        <p:spPr>
          <a:xfrm>
            <a:off x="713232" y="4434840"/>
            <a:ext cx="384048" cy="384048"/>
          </a:xfrm>
          <a:prstGeom prst="rect">
            <a:avLst/>
          </a:prstGeom>
        </p:spPr>
      </p:pic>
      <p:sp>
        <p:nvSpPr>
          <p:cNvPr id="33" name="Text 29"/>
          <p:cNvSpPr txBox="1"/>
          <p:nvPr/>
        </p:nvSpPr>
        <p:spPr>
          <a:xfrm>
            <a:off x="713232" y="4892040"/>
            <a:ext cx="2377440" cy="365760"/>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Time moves nothing</a:t>
            </a:r>
            <a:endParaRPr lang="en-US" sz="1800" dirty="0"/>
          </a:p>
        </p:txBody>
      </p:sp>
      <p:sp>
        <p:nvSpPr>
          <p:cNvPr id="34" name="Text 30"/>
          <p:cNvSpPr txBox="1"/>
          <p:nvPr/>
        </p:nvSpPr>
        <p:spPr>
          <a:xfrm>
            <a:off x="713232" y="5285232"/>
            <a:ext cx="2377440" cy="91440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Deadlines enable refunds; a transaction executes them</a:t>
            </a:r>
            <a:endParaRPr lang="en-US" sz="1600" dirty="0"/>
          </a:p>
        </p:txBody>
      </p:sp>
      <p:sp>
        <p:nvSpPr>
          <p:cNvPr id="35" name="Shape 31"/>
          <p:cNvSpPr/>
          <p:nvPr/>
        </p:nvSpPr>
        <p:spPr>
          <a:xfrm>
            <a:off x="3368010" y="4297680"/>
            <a:ext cx="2651760" cy="1938528"/>
          </a:xfrm>
          <a:prstGeom prst="roundRect">
            <a:avLst>
              <a:gd name="adj" fmla="val 3774"/>
            </a:avLst>
          </a:prstGeom>
          <a:solidFill>
            <a:srgbClr val="F5FAF6"/>
          </a:solidFill>
          <a:ln w="12700">
            <a:solidFill>
              <a:srgbClr val="A6C8B1"/>
            </a:solidFill>
            <a:prstDash val="solid"/>
          </a:ln>
        </p:spPr>
        <p:txBody>
          <a:bodyPr/>
          <a:lstStyle/>
          <a:p>
            <a:endParaRPr lang="zh-CN" altLang="en-US"/>
          </a:p>
        </p:txBody>
      </p:sp>
      <p:pic>
        <p:nvPicPr>
          <p:cNvPr id="36" name="Image 2" descr="preencoded.png"/>
          <p:cNvPicPr>
            <a:picLocks noChangeAspect="1"/>
          </p:cNvPicPr>
          <p:nvPr/>
        </p:nvPicPr>
        <p:blipFill>
          <a:blip r:embed="rId5"/>
          <a:stretch>
            <a:fillRect/>
          </a:stretch>
        </p:blipFill>
        <p:spPr>
          <a:xfrm>
            <a:off x="3532602" y="4434840"/>
            <a:ext cx="384048" cy="384048"/>
          </a:xfrm>
          <a:prstGeom prst="rect">
            <a:avLst/>
          </a:prstGeom>
        </p:spPr>
      </p:pic>
      <p:sp>
        <p:nvSpPr>
          <p:cNvPr id="37" name="Text 32"/>
          <p:cNvSpPr txBox="1"/>
          <p:nvPr/>
        </p:nvSpPr>
        <p:spPr>
          <a:xfrm>
            <a:off x="3532602" y="4892040"/>
            <a:ext cx="2377440" cy="365760"/>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Paid ≠ delivered</a:t>
            </a:r>
            <a:endParaRPr lang="en-US" sz="1800" dirty="0"/>
          </a:p>
        </p:txBody>
      </p:sp>
      <p:sp>
        <p:nvSpPr>
          <p:cNvPr id="38" name="Text 33"/>
          <p:cNvSpPr txBox="1"/>
          <p:nvPr/>
        </p:nvSpPr>
        <p:spPr>
          <a:xfrm>
            <a:off x="3532602" y="5285232"/>
            <a:ext cx="2377440" cy="91440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A token transfer does not prove goods arrived</a:t>
            </a:r>
            <a:endParaRPr lang="en-US" sz="1600" dirty="0"/>
          </a:p>
        </p:txBody>
      </p:sp>
      <p:sp>
        <p:nvSpPr>
          <p:cNvPr id="39" name="Shape 34"/>
          <p:cNvSpPr/>
          <p:nvPr/>
        </p:nvSpPr>
        <p:spPr>
          <a:xfrm>
            <a:off x="6187379" y="4297680"/>
            <a:ext cx="2651760" cy="1938528"/>
          </a:xfrm>
          <a:prstGeom prst="roundRect">
            <a:avLst>
              <a:gd name="adj" fmla="val 3774"/>
            </a:avLst>
          </a:prstGeom>
          <a:solidFill>
            <a:srgbClr val="F5FAF6"/>
          </a:solidFill>
          <a:ln w="12700">
            <a:solidFill>
              <a:srgbClr val="A6C8B1"/>
            </a:solidFill>
            <a:prstDash val="solid"/>
          </a:ln>
        </p:spPr>
        <p:txBody>
          <a:bodyPr/>
          <a:lstStyle/>
          <a:p>
            <a:endParaRPr lang="zh-CN" altLang="en-US"/>
          </a:p>
        </p:txBody>
      </p:sp>
      <p:pic>
        <p:nvPicPr>
          <p:cNvPr id="40" name="Image 3" descr="preencoded.png"/>
          <p:cNvPicPr>
            <a:picLocks noChangeAspect="1"/>
          </p:cNvPicPr>
          <p:nvPr/>
        </p:nvPicPr>
        <p:blipFill>
          <a:blip r:embed="rId6"/>
          <a:stretch>
            <a:fillRect/>
          </a:stretch>
        </p:blipFill>
        <p:spPr>
          <a:xfrm>
            <a:off x="6351971" y="4434840"/>
            <a:ext cx="384048" cy="384048"/>
          </a:xfrm>
          <a:prstGeom prst="rect">
            <a:avLst/>
          </a:prstGeom>
        </p:spPr>
      </p:pic>
      <p:sp>
        <p:nvSpPr>
          <p:cNvPr id="41" name="Text 35"/>
          <p:cNvSpPr txBox="1"/>
          <p:nvPr/>
        </p:nvSpPr>
        <p:spPr>
          <a:xfrm>
            <a:off x="6351971" y="4892040"/>
            <a:ext cx="2377440" cy="365760"/>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Hash ≠ truth</a:t>
            </a:r>
            <a:endParaRPr lang="en-US" sz="1800" dirty="0"/>
          </a:p>
        </p:txBody>
      </p:sp>
      <p:sp>
        <p:nvSpPr>
          <p:cNvPr id="42" name="Text 36"/>
          <p:cNvSpPr txBox="1"/>
          <p:nvPr/>
        </p:nvSpPr>
        <p:spPr>
          <a:xfrm>
            <a:off x="6351971" y="5285232"/>
            <a:ext cx="2377440" cy="91440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A match shows a file is unchanged, not genuine</a:t>
            </a:r>
            <a:endParaRPr lang="en-US" sz="1600" dirty="0"/>
          </a:p>
        </p:txBody>
      </p:sp>
      <p:sp>
        <p:nvSpPr>
          <p:cNvPr id="43" name="Shape 37"/>
          <p:cNvSpPr/>
          <p:nvPr/>
        </p:nvSpPr>
        <p:spPr>
          <a:xfrm>
            <a:off x="9006749" y="4297680"/>
            <a:ext cx="2651760" cy="1938528"/>
          </a:xfrm>
          <a:prstGeom prst="roundRect">
            <a:avLst>
              <a:gd name="adj" fmla="val 3774"/>
            </a:avLst>
          </a:prstGeom>
          <a:solidFill>
            <a:srgbClr val="F5FAF6"/>
          </a:solidFill>
          <a:ln w="12700">
            <a:solidFill>
              <a:srgbClr val="A6C8B1"/>
            </a:solidFill>
            <a:prstDash val="solid"/>
          </a:ln>
        </p:spPr>
        <p:txBody>
          <a:bodyPr/>
          <a:lstStyle/>
          <a:p>
            <a:endParaRPr lang="zh-CN" altLang="en-US"/>
          </a:p>
        </p:txBody>
      </p:sp>
      <p:pic>
        <p:nvPicPr>
          <p:cNvPr id="44" name="Image 4" descr="preencoded.png"/>
          <p:cNvPicPr>
            <a:picLocks noChangeAspect="1"/>
          </p:cNvPicPr>
          <p:nvPr/>
        </p:nvPicPr>
        <p:blipFill>
          <a:blip r:embed="rId7"/>
          <a:stretch>
            <a:fillRect/>
          </a:stretch>
        </p:blipFill>
        <p:spPr>
          <a:xfrm>
            <a:off x="9171341" y="4434840"/>
            <a:ext cx="384048" cy="384048"/>
          </a:xfrm>
          <a:prstGeom prst="rect">
            <a:avLst/>
          </a:prstGeom>
        </p:spPr>
      </p:pic>
      <p:sp>
        <p:nvSpPr>
          <p:cNvPr id="45" name="Text 38"/>
          <p:cNvSpPr txBox="1"/>
          <p:nvPr/>
        </p:nvSpPr>
        <p:spPr>
          <a:xfrm>
            <a:off x="9171341" y="4892040"/>
            <a:ext cx="2377440" cy="365760"/>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Local history</a:t>
            </a:r>
            <a:endParaRPr lang="en-US" sz="1800" dirty="0"/>
          </a:p>
        </p:txBody>
      </p:sp>
      <p:sp>
        <p:nvSpPr>
          <p:cNvPr id="46" name="Text 39"/>
          <p:cNvSpPr txBox="1"/>
          <p:nvPr/>
        </p:nvSpPr>
        <p:spPr>
          <a:xfrm>
            <a:off x="9171341" y="5285232"/>
            <a:ext cx="2377440" cy="914400"/>
          </a:xfrm>
          <a:prstGeom prst="rect">
            <a:avLst/>
          </a:prstGeom>
          <a:noFill/>
        </p:spPr>
        <p:txBody>
          <a:bodyPr wrap="square" lIns="0" tIns="0" rIns="0" bIns="0" rtlCol="0" anchor="t"/>
          <a:lstStyle/>
          <a:p>
            <a:pPr marL="0" indent="0">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The demo chain can be reset; no Etherscan record</a:t>
            </a:r>
            <a:endParaRPr lang="en-US" sz="1600" dirty="0"/>
          </a:p>
        </p:txBody>
      </p:sp>
      <p:sp>
        <p:nvSpPr>
          <p:cNvPr id="47"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05 · WORKFLOW &amp; MILESTONES</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Who does what, from plan to delivery</a:t>
            </a:r>
            <a:endParaRPr lang="en-US" sz="3200" dirty="0"/>
          </a:p>
        </p:txBody>
      </p:sp>
      <p:sp>
        <p:nvSpPr>
          <p:cNvPr id="5" name="Shape 3"/>
          <p:cNvSpPr/>
          <p:nvPr/>
        </p:nvSpPr>
        <p:spPr>
          <a:xfrm>
            <a:off x="548640" y="1371600"/>
            <a:ext cx="1517904" cy="2788920"/>
          </a:xfrm>
          <a:prstGeom prst="roundRect">
            <a:avLst>
              <a:gd name="adj" fmla="val 4819"/>
            </a:avLst>
          </a:prstGeom>
          <a:solidFill>
            <a:srgbClr val="F5FAF6"/>
          </a:solidFill>
          <a:ln w="12700">
            <a:solidFill>
              <a:srgbClr val="A6C8B1"/>
            </a:solidFill>
            <a:prstDash val="solid"/>
          </a:ln>
        </p:spPr>
        <p:txBody>
          <a:bodyPr/>
          <a:lstStyle/>
          <a:p>
            <a:endParaRPr lang="zh-CN" altLang="en-US"/>
          </a:p>
        </p:txBody>
      </p:sp>
      <p:sp>
        <p:nvSpPr>
          <p:cNvPr id="6" name="Text 4"/>
          <p:cNvSpPr txBox="1"/>
          <p:nvPr/>
        </p:nvSpPr>
        <p:spPr>
          <a:xfrm>
            <a:off x="658368" y="1463040"/>
            <a:ext cx="457200" cy="411480"/>
          </a:xfrm>
          <a:prstGeom prst="rect">
            <a:avLst/>
          </a:prstGeom>
          <a:noFill/>
        </p:spPr>
        <p:txBody>
          <a:bodyPr wrap="square" lIns="0" tIns="0" rIns="0" bIns="0" rtlCol="0" anchor="t"/>
          <a:lstStyle/>
          <a:p>
            <a:pPr marL="0" indent="0">
              <a:buNone/>
            </a:pPr>
            <a:r>
              <a:rPr lang="en-US" sz="2400" b="1" dirty="0">
                <a:solidFill>
                  <a:srgbClr val="2B8060"/>
                </a:solidFill>
                <a:latin typeface="Arial" panose="020B0604020202020204" pitchFamily="34" charset="0"/>
                <a:ea typeface="Arial" panose="020B0604020202020204" pitchFamily="34" charset="-122"/>
                <a:cs typeface="Arial" panose="020B0604020202020204" pitchFamily="34" charset="-120"/>
              </a:rPr>
              <a:t>1</a:t>
            </a:r>
            <a:endParaRPr lang="en-US" sz="2400" dirty="0"/>
          </a:p>
        </p:txBody>
      </p:sp>
      <p:sp>
        <p:nvSpPr>
          <p:cNvPr id="7" name="Text 5"/>
          <p:cNvSpPr txBox="1"/>
          <p:nvPr/>
        </p:nvSpPr>
        <p:spPr>
          <a:xfrm>
            <a:off x="658368" y="1901952"/>
            <a:ext cx="1335024" cy="566928"/>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Create project</a:t>
            </a:r>
            <a:endParaRPr lang="en-US" sz="1600" dirty="0"/>
          </a:p>
        </p:txBody>
      </p:sp>
      <p:sp>
        <p:nvSpPr>
          <p:cNvPr id="8" name="Text 6"/>
          <p:cNvSpPr txBox="1"/>
          <p:nvPr/>
        </p:nvSpPr>
        <p:spPr>
          <a:xfrm>
            <a:off x="658368" y="2514600"/>
            <a:ext cx="1298448" cy="310896"/>
          </a:xfrm>
          <a:prstGeom prst="roundRect">
            <a:avLst>
              <a:gd name="adj" fmla="val 35294"/>
            </a:avLst>
          </a:prstGeom>
          <a:solidFill>
            <a:srgbClr val="CFE8D6"/>
          </a:solidFill>
          <a:ln>
            <a:solidFill>
              <a:srgbClr val="CFE8D6"/>
            </a:solidFill>
          </a:ln>
        </p:spPr>
        <p:txBody>
          <a:bodyPr wrap="square" lIns="0" tIns="0" rIns="0" bIns="0" rtlCol="0" anchor="ctr"/>
          <a:lstStyle/>
          <a:p>
            <a:pPr marL="0" indent="0" algn="ctr">
              <a:buNone/>
            </a:pPr>
            <a:r>
              <a:rPr lang="en-US" sz="1200" b="1" dirty="0">
                <a:solidFill>
                  <a:srgbClr val="174D3A"/>
                </a:solidFill>
                <a:latin typeface="Arial" panose="020B0604020202020204" pitchFamily="34" charset="0"/>
                <a:ea typeface="Arial" panose="020B0604020202020204" pitchFamily="34" charset="-122"/>
                <a:cs typeface="Arial" panose="020B0604020202020204" pitchFamily="34" charset="-120"/>
              </a:rPr>
              <a:t>Organiser</a:t>
            </a:r>
            <a:endParaRPr lang="en-US" sz="1200" dirty="0"/>
          </a:p>
        </p:txBody>
      </p:sp>
      <p:sp>
        <p:nvSpPr>
          <p:cNvPr id="9" name="Text 7"/>
          <p:cNvSpPr txBox="1"/>
          <p:nvPr/>
        </p:nvSpPr>
        <p:spPr>
          <a:xfrm>
            <a:off x="658368" y="2907792"/>
            <a:ext cx="1316736" cy="914400"/>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Sets milestones and 2 reviewers</a:t>
            </a:r>
            <a:endParaRPr lang="en-US" sz="1500" dirty="0"/>
          </a:p>
        </p:txBody>
      </p:sp>
      <p:sp>
        <p:nvSpPr>
          <p:cNvPr id="10" name="Text 8"/>
          <p:cNvSpPr txBox="1"/>
          <p:nvPr/>
        </p:nvSpPr>
        <p:spPr>
          <a:xfrm>
            <a:off x="658368" y="3840480"/>
            <a:ext cx="1316736" cy="256032"/>
          </a:xfrm>
          <a:prstGeom prst="rect">
            <a:avLst/>
          </a:prstGeom>
          <a:noFill/>
        </p:spPr>
        <p:txBody>
          <a:bodyPr wrap="square" lIns="0" tIns="0" rIns="0" bIns="0" rtlCol="0" anchor="t"/>
          <a:lstStyle/>
          <a:p>
            <a:pPr marL="0" indent="0">
              <a:buNone/>
            </a:pPr>
            <a:r>
              <a:rPr lang="en-US" sz="1200" i="1" dirty="0">
                <a:solidFill>
                  <a:srgbClr val="45624F"/>
                </a:solidFill>
                <a:latin typeface="Arial" panose="020B0604020202020204" pitchFamily="34" charset="0"/>
                <a:ea typeface="Arial" panose="020B0604020202020204" pitchFamily="34" charset="-122"/>
                <a:cs typeface="Arial" panose="020B0604020202020204" pitchFamily="34" charset="-120"/>
              </a:rPr>
              <a:t>On-chain</a:t>
            </a:r>
            <a:endParaRPr lang="en-US" sz="1200" dirty="0"/>
          </a:p>
        </p:txBody>
      </p:sp>
      <p:sp>
        <p:nvSpPr>
          <p:cNvPr id="11" name="Shape 9"/>
          <p:cNvSpPr/>
          <p:nvPr/>
        </p:nvSpPr>
        <p:spPr>
          <a:xfrm>
            <a:off x="2144268" y="1371600"/>
            <a:ext cx="1517904" cy="2788920"/>
          </a:xfrm>
          <a:prstGeom prst="roundRect">
            <a:avLst>
              <a:gd name="adj" fmla="val 4819"/>
            </a:avLst>
          </a:prstGeom>
          <a:solidFill>
            <a:srgbClr val="F5FAF6"/>
          </a:solidFill>
          <a:ln w="12700">
            <a:solidFill>
              <a:srgbClr val="A6C8B1"/>
            </a:solidFill>
            <a:prstDash val="solid"/>
          </a:ln>
        </p:spPr>
        <p:txBody>
          <a:bodyPr/>
          <a:lstStyle/>
          <a:p>
            <a:endParaRPr lang="zh-CN" altLang="en-US"/>
          </a:p>
        </p:txBody>
      </p:sp>
      <p:sp>
        <p:nvSpPr>
          <p:cNvPr id="12" name="Text 10"/>
          <p:cNvSpPr txBox="1"/>
          <p:nvPr/>
        </p:nvSpPr>
        <p:spPr>
          <a:xfrm>
            <a:off x="2253996" y="1463040"/>
            <a:ext cx="457200" cy="411480"/>
          </a:xfrm>
          <a:prstGeom prst="rect">
            <a:avLst/>
          </a:prstGeom>
          <a:noFill/>
        </p:spPr>
        <p:txBody>
          <a:bodyPr wrap="square" lIns="0" tIns="0" rIns="0" bIns="0" rtlCol="0" anchor="t"/>
          <a:lstStyle/>
          <a:p>
            <a:pPr marL="0" indent="0">
              <a:buNone/>
            </a:pPr>
            <a:r>
              <a:rPr lang="en-US" sz="2400" b="1" dirty="0">
                <a:solidFill>
                  <a:srgbClr val="2B8060"/>
                </a:solidFill>
                <a:latin typeface="Arial" panose="020B0604020202020204" pitchFamily="34" charset="0"/>
                <a:ea typeface="Arial" panose="020B0604020202020204" pitchFamily="34" charset="-122"/>
                <a:cs typeface="Arial" panose="020B0604020202020204" pitchFamily="34" charset="-120"/>
              </a:rPr>
              <a:t>2</a:t>
            </a:r>
            <a:endParaRPr lang="en-US" sz="2400" dirty="0"/>
          </a:p>
        </p:txBody>
      </p:sp>
      <p:sp>
        <p:nvSpPr>
          <p:cNvPr id="13" name="Text 11"/>
          <p:cNvSpPr txBox="1"/>
          <p:nvPr/>
        </p:nvSpPr>
        <p:spPr>
          <a:xfrm>
            <a:off x="2253996" y="1901952"/>
            <a:ext cx="1335024" cy="566928"/>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Donate</a:t>
            </a:r>
            <a:endParaRPr lang="en-US" sz="1600" dirty="0"/>
          </a:p>
        </p:txBody>
      </p:sp>
      <p:sp>
        <p:nvSpPr>
          <p:cNvPr id="14" name="Text 12"/>
          <p:cNvSpPr txBox="1"/>
          <p:nvPr/>
        </p:nvSpPr>
        <p:spPr>
          <a:xfrm>
            <a:off x="2253996" y="2514600"/>
            <a:ext cx="1298448" cy="310896"/>
          </a:xfrm>
          <a:prstGeom prst="roundRect">
            <a:avLst>
              <a:gd name="adj" fmla="val 35294"/>
            </a:avLst>
          </a:prstGeom>
          <a:solidFill>
            <a:srgbClr val="CFE8D6"/>
          </a:solidFill>
          <a:ln>
            <a:solidFill>
              <a:srgbClr val="CFE8D6"/>
            </a:solidFill>
          </a:ln>
        </p:spPr>
        <p:txBody>
          <a:bodyPr wrap="square" lIns="0" tIns="0" rIns="0" bIns="0" rtlCol="0" anchor="ctr"/>
          <a:lstStyle/>
          <a:p>
            <a:pPr marL="0" indent="0" algn="ctr">
              <a:buNone/>
            </a:pPr>
            <a:r>
              <a:rPr lang="en-US" sz="1200" b="1" dirty="0">
                <a:solidFill>
                  <a:srgbClr val="174D3A"/>
                </a:solidFill>
                <a:latin typeface="Arial" panose="020B0604020202020204" pitchFamily="34" charset="0"/>
                <a:ea typeface="Arial" panose="020B0604020202020204" pitchFamily="34" charset="-122"/>
                <a:cs typeface="Arial" panose="020B0604020202020204" pitchFamily="34" charset="-120"/>
              </a:rPr>
              <a:t>Donor</a:t>
            </a:r>
            <a:endParaRPr lang="en-US" sz="1200" dirty="0"/>
          </a:p>
        </p:txBody>
      </p:sp>
      <p:sp>
        <p:nvSpPr>
          <p:cNvPr id="15" name="Text 13"/>
          <p:cNvSpPr txBox="1"/>
          <p:nvPr/>
        </p:nvSpPr>
        <p:spPr>
          <a:xfrm>
            <a:off x="2253996" y="2907792"/>
            <a:ext cx="1316736" cy="914400"/>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S$100 + S$1 fee</a:t>
            </a:r>
            <a:endParaRPr lang="en-US" sz="1500" dirty="0"/>
          </a:p>
        </p:txBody>
      </p:sp>
      <p:sp>
        <p:nvSpPr>
          <p:cNvPr id="16" name="Text 14"/>
          <p:cNvSpPr txBox="1"/>
          <p:nvPr/>
        </p:nvSpPr>
        <p:spPr>
          <a:xfrm>
            <a:off x="2253996" y="3840480"/>
            <a:ext cx="1316736" cy="256032"/>
          </a:xfrm>
          <a:prstGeom prst="rect">
            <a:avLst/>
          </a:prstGeom>
          <a:noFill/>
        </p:spPr>
        <p:txBody>
          <a:bodyPr wrap="square" lIns="0" tIns="0" rIns="0" bIns="0" rtlCol="0" anchor="t"/>
          <a:lstStyle/>
          <a:p>
            <a:pPr marL="0" indent="0">
              <a:buNone/>
            </a:pPr>
            <a:r>
              <a:rPr lang="en-US" sz="1200" i="1" dirty="0">
                <a:solidFill>
                  <a:srgbClr val="45624F"/>
                </a:solidFill>
                <a:latin typeface="Arial" panose="020B0604020202020204" pitchFamily="34" charset="0"/>
                <a:ea typeface="Arial" panose="020B0604020202020204" pitchFamily="34" charset="-122"/>
                <a:cs typeface="Arial" panose="020B0604020202020204" pitchFamily="34" charset="-120"/>
              </a:rPr>
              <a:t>On-chain</a:t>
            </a:r>
            <a:endParaRPr lang="en-US" sz="1200" dirty="0"/>
          </a:p>
        </p:txBody>
      </p:sp>
      <p:sp>
        <p:nvSpPr>
          <p:cNvPr id="17" name="Shape 15"/>
          <p:cNvSpPr/>
          <p:nvPr/>
        </p:nvSpPr>
        <p:spPr>
          <a:xfrm>
            <a:off x="3739896" y="1371600"/>
            <a:ext cx="1517904" cy="2788920"/>
          </a:xfrm>
          <a:prstGeom prst="roundRect">
            <a:avLst>
              <a:gd name="adj" fmla="val 4819"/>
            </a:avLst>
          </a:prstGeom>
          <a:solidFill>
            <a:srgbClr val="174D3A"/>
          </a:solidFill>
          <a:ln w="12700">
            <a:solidFill>
              <a:srgbClr val="174D3A"/>
            </a:solidFill>
            <a:prstDash val="solid"/>
          </a:ln>
        </p:spPr>
        <p:txBody>
          <a:bodyPr/>
          <a:lstStyle/>
          <a:p>
            <a:endParaRPr lang="zh-CN" altLang="en-US"/>
          </a:p>
        </p:txBody>
      </p:sp>
      <p:sp>
        <p:nvSpPr>
          <p:cNvPr id="18" name="Text 16"/>
          <p:cNvSpPr txBox="1"/>
          <p:nvPr/>
        </p:nvSpPr>
        <p:spPr>
          <a:xfrm>
            <a:off x="3849624" y="1463040"/>
            <a:ext cx="457200" cy="411480"/>
          </a:xfrm>
          <a:prstGeom prst="rect">
            <a:avLst/>
          </a:prstGeom>
          <a:noFill/>
        </p:spPr>
        <p:txBody>
          <a:bodyPr wrap="square" lIns="0" tIns="0" rIns="0" bIns="0" rtlCol="0" anchor="t"/>
          <a:lstStyle/>
          <a:p>
            <a:pPr marL="0" indent="0">
              <a:buNone/>
            </a:pPr>
            <a:r>
              <a:rPr lang="en-US" sz="2400" b="1" dirty="0">
                <a:solidFill>
                  <a:srgbClr val="9FD3B4"/>
                </a:solidFill>
                <a:latin typeface="Arial" panose="020B0604020202020204" pitchFamily="34" charset="0"/>
                <a:ea typeface="Arial" panose="020B0604020202020204" pitchFamily="34" charset="-122"/>
                <a:cs typeface="Arial" panose="020B0604020202020204" pitchFamily="34" charset="-120"/>
              </a:rPr>
              <a:t>3</a:t>
            </a:r>
            <a:endParaRPr lang="en-US" sz="2400" dirty="0"/>
          </a:p>
        </p:txBody>
      </p:sp>
      <p:sp>
        <p:nvSpPr>
          <p:cNvPr id="19" name="Text 17"/>
          <p:cNvSpPr txBox="1"/>
          <p:nvPr/>
        </p:nvSpPr>
        <p:spPr>
          <a:xfrm>
            <a:off x="3849624" y="1901952"/>
            <a:ext cx="1335024" cy="566928"/>
          </a:xfrm>
          <a:prstGeom prst="rect">
            <a:avLst/>
          </a:prstGeom>
          <a:noFill/>
        </p:spPr>
        <p:txBody>
          <a:bodyPr wrap="square" lIns="0" tIns="0" rIns="0" bIns="0" rtlCol="0" anchor="t"/>
          <a:lstStyle/>
          <a:p>
            <a:pPr marL="0" indent="0">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Hold in escrow</a:t>
            </a:r>
            <a:endParaRPr lang="en-US" sz="1600" dirty="0"/>
          </a:p>
        </p:txBody>
      </p:sp>
      <p:sp>
        <p:nvSpPr>
          <p:cNvPr id="20" name="Text 18"/>
          <p:cNvSpPr txBox="1"/>
          <p:nvPr/>
        </p:nvSpPr>
        <p:spPr>
          <a:xfrm>
            <a:off x="3849624" y="2514600"/>
            <a:ext cx="1298448" cy="310896"/>
          </a:xfrm>
          <a:prstGeom prst="roundRect">
            <a:avLst>
              <a:gd name="adj" fmla="val 35294"/>
            </a:avLst>
          </a:prstGeom>
          <a:solidFill>
            <a:srgbClr val="2E6E57"/>
          </a:solidFill>
          <a:ln>
            <a:solidFill>
              <a:srgbClr val="2E6E57"/>
            </a:solidFill>
          </a:ln>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Contract</a:t>
            </a:r>
            <a:endParaRPr lang="en-US" sz="1200" dirty="0"/>
          </a:p>
        </p:txBody>
      </p:sp>
      <p:sp>
        <p:nvSpPr>
          <p:cNvPr id="21" name="Text 19"/>
          <p:cNvSpPr txBox="1"/>
          <p:nvPr/>
        </p:nvSpPr>
        <p:spPr>
          <a:xfrm>
            <a:off x="3849624" y="2907792"/>
            <a:ext cx="1316736" cy="914400"/>
          </a:xfrm>
          <a:prstGeom prst="rect">
            <a:avLst/>
          </a:prstGeom>
          <a:noFill/>
        </p:spPr>
        <p:txBody>
          <a:bodyPr wrap="square" lIns="0" tIns="0" rIns="0" bIns="0" rtlCol="0" anchor="t"/>
          <a:lstStyle/>
          <a:p>
            <a:pPr marL="0" indent="0">
              <a:buNone/>
            </a:pPr>
            <a:r>
              <a:rPr lang="en-US" sz="1500" dirty="0">
                <a:solidFill>
                  <a:srgbClr val="E3F2E8"/>
                </a:solidFill>
                <a:latin typeface="Arial" panose="020B0604020202020204" pitchFamily="34" charset="0"/>
                <a:ea typeface="Arial" panose="020B0604020202020204" pitchFamily="34" charset="-122"/>
                <a:cs typeface="Arial" panose="020B0604020202020204" pitchFamily="34" charset="-120"/>
              </a:rPr>
              <a:t>Locked until rules are met</a:t>
            </a:r>
            <a:endParaRPr lang="en-US" sz="1500" dirty="0"/>
          </a:p>
        </p:txBody>
      </p:sp>
      <p:sp>
        <p:nvSpPr>
          <p:cNvPr id="22" name="Text 20"/>
          <p:cNvSpPr txBox="1"/>
          <p:nvPr/>
        </p:nvSpPr>
        <p:spPr>
          <a:xfrm>
            <a:off x="3849624" y="3840480"/>
            <a:ext cx="1316736" cy="256032"/>
          </a:xfrm>
          <a:prstGeom prst="rect">
            <a:avLst/>
          </a:prstGeom>
          <a:noFill/>
        </p:spPr>
        <p:txBody>
          <a:bodyPr wrap="square" lIns="0" tIns="0" rIns="0" bIns="0" rtlCol="0" anchor="t"/>
          <a:lstStyle/>
          <a:p>
            <a:pPr marL="0" indent="0">
              <a:buNone/>
            </a:pPr>
            <a:r>
              <a:rPr lang="en-US" sz="1200" i="1" dirty="0">
                <a:solidFill>
                  <a:srgbClr val="BFE0CC"/>
                </a:solidFill>
                <a:latin typeface="Arial" panose="020B0604020202020204" pitchFamily="34" charset="0"/>
                <a:ea typeface="Arial" panose="020B0604020202020204" pitchFamily="34" charset="-122"/>
                <a:cs typeface="Arial" panose="020B0604020202020204" pitchFamily="34" charset="-120"/>
              </a:rPr>
              <a:t>On-chain</a:t>
            </a:r>
            <a:endParaRPr lang="en-US" sz="1200" dirty="0"/>
          </a:p>
        </p:txBody>
      </p:sp>
      <p:sp>
        <p:nvSpPr>
          <p:cNvPr id="23" name="Shape 21"/>
          <p:cNvSpPr/>
          <p:nvPr/>
        </p:nvSpPr>
        <p:spPr>
          <a:xfrm>
            <a:off x="5335524" y="1371600"/>
            <a:ext cx="1517904" cy="2788920"/>
          </a:xfrm>
          <a:prstGeom prst="roundRect">
            <a:avLst>
              <a:gd name="adj" fmla="val 4819"/>
            </a:avLst>
          </a:prstGeom>
          <a:solidFill>
            <a:srgbClr val="F5FAF6"/>
          </a:solidFill>
          <a:ln w="12700">
            <a:solidFill>
              <a:srgbClr val="A6C8B1"/>
            </a:solidFill>
            <a:prstDash val="solid"/>
          </a:ln>
        </p:spPr>
        <p:txBody>
          <a:bodyPr/>
          <a:lstStyle/>
          <a:p>
            <a:endParaRPr lang="zh-CN" altLang="en-US"/>
          </a:p>
        </p:txBody>
      </p:sp>
      <p:sp>
        <p:nvSpPr>
          <p:cNvPr id="24" name="Text 22"/>
          <p:cNvSpPr txBox="1"/>
          <p:nvPr/>
        </p:nvSpPr>
        <p:spPr>
          <a:xfrm>
            <a:off x="5445252" y="1463040"/>
            <a:ext cx="457200" cy="411480"/>
          </a:xfrm>
          <a:prstGeom prst="rect">
            <a:avLst/>
          </a:prstGeom>
          <a:noFill/>
        </p:spPr>
        <p:txBody>
          <a:bodyPr wrap="square" lIns="0" tIns="0" rIns="0" bIns="0" rtlCol="0" anchor="t"/>
          <a:lstStyle/>
          <a:p>
            <a:pPr marL="0" indent="0">
              <a:buNone/>
            </a:pPr>
            <a:r>
              <a:rPr lang="en-US" sz="2400" b="1" dirty="0">
                <a:solidFill>
                  <a:srgbClr val="2B8060"/>
                </a:solidFill>
                <a:latin typeface="Arial" panose="020B0604020202020204" pitchFamily="34" charset="0"/>
                <a:ea typeface="Arial" panose="020B0604020202020204" pitchFamily="34" charset="-122"/>
                <a:cs typeface="Arial" panose="020B0604020202020204" pitchFamily="34" charset="-120"/>
              </a:rPr>
              <a:t>4</a:t>
            </a:r>
            <a:endParaRPr lang="en-US" sz="2400" dirty="0"/>
          </a:p>
        </p:txBody>
      </p:sp>
      <p:sp>
        <p:nvSpPr>
          <p:cNvPr id="25" name="Text 23"/>
          <p:cNvSpPr txBox="1"/>
          <p:nvPr/>
        </p:nvSpPr>
        <p:spPr>
          <a:xfrm>
            <a:off x="5445252" y="1901952"/>
            <a:ext cx="1335024" cy="566928"/>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Submit evidence</a:t>
            </a:r>
            <a:endParaRPr lang="en-US" sz="1600" dirty="0"/>
          </a:p>
        </p:txBody>
      </p:sp>
      <p:sp>
        <p:nvSpPr>
          <p:cNvPr id="26" name="Text 24"/>
          <p:cNvSpPr txBox="1"/>
          <p:nvPr/>
        </p:nvSpPr>
        <p:spPr>
          <a:xfrm>
            <a:off x="5445252" y="2514600"/>
            <a:ext cx="1298448" cy="310896"/>
          </a:xfrm>
          <a:prstGeom prst="roundRect">
            <a:avLst>
              <a:gd name="adj" fmla="val 35294"/>
            </a:avLst>
          </a:prstGeom>
          <a:solidFill>
            <a:srgbClr val="CFE8D6"/>
          </a:solidFill>
          <a:ln>
            <a:solidFill>
              <a:srgbClr val="CFE8D6"/>
            </a:solidFill>
          </a:ln>
        </p:spPr>
        <p:txBody>
          <a:bodyPr wrap="square" lIns="0" tIns="0" rIns="0" bIns="0" rtlCol="0" anchor="ctr"/>
          <a:lstStyle/>
          <a:p>
            <a:pPr marL="0" indent="0" algn="ctr">
              <a:buNone/>
            </a:pPr>
            <a:r>
              <a:rPr lang="en-US" sz="1200" b="1" dirty="0">
                <a:solidFill>
                  <a:srgbClr val="174D3A"/>
                </a:solidFill>
                <a:latin typeface="Arial" panose="020B0604020202020204" pitchFamily="34" charset="0"/>
                <a:ea typeface="Arial" panose="020B0604020202020204" pitchFamily="34" charset="-122"/>
                <a:cs typeface="Arial" panose="020B0604020202020204" pitchFamily="34" charset="-120"/>
              </a:rPr>
              <a:t>Organiser</a:t>
            </a:r>
            <a:endParaRPr lang="en-US" sz="1200" dirty="0"/>
          </a:p>
        </p:txBody>
      </p:sp>
      <p:sp>
        <p:nvSpPr>
          <p:cNvPr id="27" name="Text 25"/>
          <p:cNvSpPr txBox="1"/>
          <p:nvPr/>
        </p:nvSpPr>
        <p:spPr>
          <a:xfrm>
            <a:off x="5445252" y="2907792"/>
            <a:ext cx="1316736" cy="914400"/>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Invoice: 10 kits × S$10</a:t>
            </a:r>
            <a:endParaRPr lang="en-US" sz="1500" dirty="0"/>
          </a:p>
        </p:txBody>
      </p:sp>
      <p:sp>
        <p:nvSpPr>
          <p:cNvPr id="28" name="Text 26"/>
          <p:cNvSpPr txBox="1"/>
          <p:nvPr/>
        </p:nvSpPr>
        <p:spPr>
          <a:xfrm>
            <a:off x="5445252" y="3840480"/>
            <a:ext cx="1316736" cy="256032"/>
          </a:xfrm>
          <a:prstGeom prst="rect">
            <a:avLst/>
          </a:prstGeom>
          <a:noFill/>
        </p:spPr>
        <p:txBody>
          <a:bodyPr wrap="square" lIns="0" tIns="0" rIns="0" bIns="0" rtlCol="0" anchor="t"/>
          <a:lstStyle/>
          <a:p>
            <a:pPr marL="0" indent="0">
              <a:buNone/>
            </a:pPr>
            <a:r>
              <a:rPr lang="en-US" sz="1200" i="1" dirty="0">
                <a:solidFill>
                  <a:srgbClr val="45624F"/>
                </a:solidFill>
                <a:latin typeface="Arial" panose="020B0604020202020204" pitchFamily="34" charset="0"/>
                <a:ea typeface="Arial" panose="020B0604020202020204" pitchFamily="34" charset="-122"/>
                <a:cs typeface="Arial" panose="020B0604020202020204" pitchFamily="34" charset="-120"/>
              </a:rPr>
              <a:t>Hash on-chain</a:t>
            </a:r>
            <a:endParaRPr lang="en-US" sz="1200" dirty="0"/>
          </a:p>
        </p:txBody>
      </p:sp>
      <p:sp>
        <p:nvSpPr>
          <p:cNvPr id="29" name="Shape 27"/>
          <p:cNvSpPr/>
          <p:nvPr/>
        </p:nvSpPr>
        <p:spPr>
          <a:xfrm>
            <a:off x="6931152" y="1371600"/>
            <a:ext cx="1517904" cy="2788920"/>
          </a:xfrm>
          <a:prstGeom prst="roundRect">
            <a:avLst>
              <a:gd name="adj" fmla="val 4819"/>
            </a:avLst>
          </a:prstGeom>
          <a:solidFill>
            <a:srgbClr val="F5FAF6"/>
          </a:solidFill>
          <a:ln w="12700">
            <a:solidFill>
              <a:srgbClr val="A6C8B1"/>
            </a:solidFill>
            <a:prstDash val="solid"/>
          </a:ln>
        </p:spPr>
        <p:txBody>
          <a:bodyPr/>
          <a:lstStyle/>
          <a:p>
            <a:endParaRPr lang="zh-CN" altLang="en-US"/>
          </a:p>
        </p:txBody>
      </p:sp>
      <p:sp>
        <p:nvSpPr>
          <p:cNvPr id="30" name="Text 28"/>
          <p:cNvSpPr txBox="1"/>
          <p:nvPr/>
        </p:nvSpPr>
        <p:spPr>
          <a:xfrm>
            <a:off x="7040880" y="1463040"/>
            <a:ext cx="457200" cy="411480"/>
          </a:xfrm>
          <a:prstGeom prst="rect">
            <a:avLst/>
          </a:prstGeom>
          <a:noFill/>
        </p:spPr>
        <p:txBody>
          <a:bodyPr wrap="square" lIns="0" tIns="0" rIns="0" bIns="0" rtlCol="0" anchor="t"/>
          <a:lstStyle/>
          <a:p>
            <a:pPr marL="0" indent="0">
              <a:buNone/>
            </a:pPr>
            <a:r>
              <a:rPr lang="en-US" sz="2400" b="1" dirty="0">
                <a:solidFill>
                  <a:srgbClr val="2B8060"/>
                </a:solidFill>
                <a:latin typeface="Arial" panose="020B0604020202020204" pitchFamily="34" charset="0"/>
                <a:ea typeface="Arial" panose="020B0604020202020204" pitchFamily="34" charset="-122"/>
                <a:cs typeface="Arial" panose="020B0604020202020204" pitchFamily="34" charset="-120"/>
              </a:rPr>
              <a:t>5</a:t>
            </a:r>
            <a:endParaRPr lang="en-US" sz="2400" dirty="0"/>
          </a:p>
        </p:txBody>
      </p:sp>
      <p:sp>
        <p:nvSpPr>
          <p:cNvPr id="31" name="Text 29"/>
          <p:cNvSpPr txBox="1"/>
          <p:nvPr/>
        </p:nvSpPr>
        <p:spPr>
          <a:xfrm>
            <a:off x="7040880" y="1901952"/>
            <a:ext cx="1335024" cy="566928"/>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Review</a:t>
            </a:r>
            <a:endParaRPr lang="en-US" sz="1600" dirty="0"/>
          </a:p>
        </p:txBody>
      </p:sp>
      <p:sp>
        <p:nvSpPr>
          <p:cNvPr id="32" name="Text 30"/>
          <p:cNvSpPr txBox="1"/>
          <p:nvPr/>
        </p:nvSpPr>
        <p:spPr>
          <a:xfrm>
            <a:off x="7040880" y="2514600"/>
            <a:ext cx="1298448" cy="310896"/>
          </a:xfrm>
          <a:prstGeom prst="roundRect">
            <a:avLst>
              <a:gd name="adj" fmla="val 35294"/>
            </a:avLst>
          </a:prstGeom>
          <a:solidFill>
            <a:srgbClr val="CFE8D6"/>
          </a:solidFill>
          <a:ln>
            <a:solidFill>
              <a:srgbClr val="CFE8D6"/>
            </a:solidFill>
          </a:ln>
        </p:spPr>
        <p:txBody>
          <a:bodyPr wrap="square" lIns="0" tIns="0" rIns="0" bIns="0" rtlCol="0" anchor="ctr"/>
          <a:lstStyle/>
          <a:p>
            <a:pPr marL="0" indent="0" algn="ctr">
              <a:buNone/>
            </a:pPr>
            <a:r>
              <a:rPr lang="en-US" sz="1200" b="1" dirty="0">
                <a:solidFill>
                  <a:srgbClr val="174D3A"/>
                </a:solidFill>
                <a:latin typeface="Arial" panose="020B0604020202020204" pitchFamily="34" charset="0"/>
                <a:ea typeface="Arial" panose="020B0604020202020204" pitchFamily="34" charset="-122"/>
                <a:cs typeface="Arial" panose="020B0604020202020204" pitchFamily="34" charset="-120"/>
              </a:rPr>
              <a:t>Reviewers ×2</a:t>
            </a:r>
            <a:endParaRPr lang="en-US" sz="1200" dirty="0"/>
          </a:p>
        </p:txBody>
      </p:sp>
      <p:sp>
        <p:nvSpPr>
          <p:cNvPr id="33" name="Text 31"/>
          <p:cNvSpPr txBox="1"/>
          <p:nvPr/>
        </p:nvSpPr>
        <p:spPr>
          <a:xfrm>
            <a:off x="7040880" y="2907792"/>
            <a:ext cx="1316736" cy="914400"/>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Approve the same revision</a:t>
            </a:r>
            <a:endParaRPr lang="en-US" sz="1500" dirty="0"/>
          </a:p>
        </p:txBody>
      </p:sp>
      <p:sp>
        <p:nvSpPr>
          <p:cNvPr id="34" name="Text 32"/>
          <p:cNvSpPr txBox="1"/>
          <p:nvPr/>
        </p:nvSpPr>
        <p:spPr>
          <a:xfrm>
            <a:off x="7040880" y="3840480"/>
            <a:ext cx="1316736" cy="256032"/>
          </a:xfrm>
          <a:prstGeom prst="rect">
            <a:avLst/>
          </a:prstGeom>
          <a:noFill/>
        </p:spPr>
        <p:txBody>
          <a:bodyPr wrap="square" lIns="0" tIns="0" rIns="0" bIns="0" rtlCol="0" anchor="t"/>
          <a:lstStyle/>
          <a:p>
            <a:pPr marL="0" indent="0">
              <a:buNone/>
            </a:pPr>
            <a:r>
              <a:rPr lang="en-US" sz="1200" i="1" dirty="0">
                <a:solidFill>
                  <a:srgbClr val="45624F"/>
                </a:solidFill>
                <a:latin typeface="Arial" panose="020B0604020202020204" pitchFamily="34" charset="0"/>
                <a:ea typeface="Arial" panose="020B0604020202020204" pitchFamily="34" charset="-122"/>
                <a:cs typeface="Arial" panose="020B0604020202020204" pitchFamily="34" charset="-120"/>
              </a:rPr>
              <a:t>On-chain</a:t>
            </a:r>
            <a:endParaRPr lang="en-US" sz="1200" dirty="0"/>
          </a:p>
        </p:txBody>
      </p:sp>
      <p:sp>
        <p:nvSpPr>
          <p:cNvPr id="35" name="Shape 33"/>
          <p:cNvSpPr/>
          <p:nvPr/>
        </p:nvSpPr>
        <p:spPr>
          <a:xfrm>
            <a:off x="8526780" y="1371600"/>
            <a:ext cx="1517904" cy="2788920"/>
          </a:xfrm>
          <a:prstGeom prst="roundRect">
            <a:avLst>
              <a:gd name="adj" fmla="val 4819"/>
            </a:avLst>
          </a:prstGeom>
          <a:solidFill>
            <a:srgbClr val="174D3A"/>
          </a:solidFill>
          <a:ln w="12700">
            <a:solidFill>
              <a:srgbClr val="174D3A"/>
            </a:solidFill>
            <a:prstDash val="solid"/>
          </a:ln>
        </p:spPr>
        <p:txBody>
          <a:bodyPr/>
          <a:lstStyle/>
          <a:p>
            <a:endParaRPr lang="zh-CN" altLang="en-US"/>
          </a:p>
        </p:txBody>
      </p:sp>
      <p:sp>
        <p:nvSpPr>
          <p:cNvPr id="36" name="Text 34"/>
          <p:cNvSpPr txBox="1"/>
          <p:nvPr/>
        </p:nvSpPr>
        <p:spPr>
          <a:xfrm>
            <a:off x="8636508" y="1463040"/>
            <a:ext cx="457200" cy="411480"/>
          </a:xfrm>
          <a:prstGeom prst="rect">
            <a:avLst/>
          </a:prstGeom>
          <a:noFill/>
        </p:spPr>
        <p:txBody>
          <a:bodyPr wrap="square" lIns="0" tIns="0" rIns="0" bIns="0" rtlCol="0" anchor="t"/>
          <a:lstStyle/>
          <a:p>
            <a:pPr marL="0" indent="0">
              <a:buNone/>
            </a:pPr>
            <a:r>
              <a:rPr lang="en-US" sz="2400" b="1" dirty="0">
                <a:solidFill>
                  <a:srgbClr val="9FD3B4"/>
                </a:solidFill>
                <a:latin typeface="Arial" panose="020B0604020202020204" pitchFamily="34" charset="0"/>
                <a:ea typeface="Arial" panose="020B0604020202020204" pitchFamily="34" charset="-122"/>
                <a:cs typeface="Arial" panose="020B0604020202020204" pitchFamily="34" charset="-120"/>
              </a:rPr>
              <a:t>6</a:t>
            </a:r>
            <a:endParaRPr lang="en-US" sz="2400" dirty="0"/>
          </a:p>
        </p:txBody>
      </p:sp>
      <p:sp>
        <p:nvSpPr>
          <p:cNvPr id="37" name="Text 35"/>
          <p:cNvSpPr txBox="1"/>
          <p:nvPr/>
        </p:nvSpPr>
        <p:spPr>
          <a:xfrm>
            <a:off x="8636508" y="1901952"/>
            <a:ext cx="1335024" cy="566928"/>
          </a:xfrm>
          <a:prstGeom prst="rect">
            <a:avLst/>
          </a:prstGeom>
          <a:noFill/>
        </p:spPr>
        <p:txBody>
          <a:bodyPr wrap="square" lIns="0" tIns="0" rIns="0" bIns="0" rtlCol="0" anchor="t"/>
          <a:lstStyle/>
          <a:p>
            <a:pPr marL="0" indent="0">
              <a:buNone/>
            </a:pPr>
            <a:r>
              <a:rPr lang="en-US" sz="1600" b="1" dirty="0">
                <a:solidFill>
                  <a:srgbClr val="FFFFFF"/>
                </a:solidFill>
                <a:latin typeface="Arial" panose="020B0604020202020204" pitchFamily="34" charset="0"/>
                <a:ea typeface="Arial" panose="020B0604020202020204" pitchFamily="34" charset="-122"/>
                <a:cs typeface="Arial" panose="020B0604020202020204" pitchFamily="34" charset="-120"/>
              </a:rPr>
              <a:t>Pay supplier</a:t>
            </a:r>
            <a:endParaRPr lang="en-US" sz="1600" dirty="0"/>
          </a:p>
        </p:txBody>
      </p:sp>
      <p:sp>
        <p:nvSpPr>
          <p:cNvPr id="38" name="Text 36"/>
          <p:cNvSpPr txBox="1"/>
          <p:nvPr/>
        </p:nvSpPr>
        <p:spPr>
          <a:xfrm>
            <a:off x="8636508" y="2514600"/>
            <a:ext cx="1298448" cy="310896"/>
          </a:xfrm>
          <a:prstGeom prst="roundRect">
            <a:avLst>
              <a:gd name="adj" fmla="val 35294"/>
            </a:avLst>
          </a:prstGeom>
          <a:solidFill>
            <a:srgbClr val="2E6E57"/>
          </a:solidFill>
          <a:ln>
            <a:solidFill>
              <a:srgbClr val="2E6E57"/>
            </a:solidFill>
          </a:ln>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Contract</a:t>
            </a:r>
            <a:endParaRPr lang="en-US" sz="1200" dirty="0"/>
          </a:p>
        </p:txBody>
      </p:sp>
      <p:sp>
        <p:nvSpPr>
          <p:cNvPr id="39" name="Text 37"/>
          <p:cNvSpPr txBox="1"/>
          <p:nvPr/>
        </p:nvSpPr>
        <p:spPr>
          <a:xfrm>
            <a:off x="8636508" y="2907792"/>
            <a:ext cx="1316736" cy="914400"/>
          </a:xfrm>
          <a:prstGeom prst="rect">
            <a:avLst/>
          </a:prstGeom>
          <a:noFill/>
        </p:spPr>
        <p:txBody>
          <a:bodyPr wrap="square" lIns="0" tIns="0" rIns="0" bIns="0" rtlCol="0" anchor="t"/>
          <a:lstStyle/>
          <a:p>
            <a:pPr marL="0" indent="0">
              <a:buNone/>
            </a:pPr>
            <a:r>
              <a:rPr lang="en-US" sz="1500" dirty="0">
                <a:solidFill>
                  <a:srgbClr val="E3F2E8"/>
                </a:solidFill>
                <a:latin typeface="Arial" panose="020B0604020202020204" pitchFamily="34" charset="0"/>
                <a:ea typeface="Arial" panose="020B0604020202020204" pitchFamily="34" charset="-122"/>
                <a:cs typeface="Arial" panose="020B0604020202020204" pitchFamily="34" charset="-120"/>
              </a:rPr>
              <a:t>Anyone may trigger release</a:t>
            </a:r>
            <a:endParaRPr lang="en-US" sz="1500" dirty="0"/>
          </a:p>
        </p:txBody>
      </p:sp>
      <p:sp>
        <p:nvSpPr>
          <p:cNvPr id="40" name="Text 38"/>
          <p:cNvSpPr txBox="1"/>
          <p:nvPr/>
        </p:nvSpPr>
        <p:spPr>
          <a:xfrm>
            <a:off x="8636508" y="3840480"/>
            <a:ext cx="1316736" cy="256032"/>
          </a:xfrm>
          <a:prstGeom prst="rect">
            <a:avLst/>
          </a:prstGeom>
          <a:noFill/>
        </p:spPr>
        <p:txBody>
          <a:bodyPr wrap="square" lIns="0" tIns="0" rIns="0" bIns="0" rtlCol="0" anchor="t"/>
          <a:lstStyle/>
          <a:p>
            <a:pPr marL="0" indent="0">
              <a:buNone/>
            </a:pPr>
            <a:r>
              <a:rPr lang="en-US" sz="1200" i="1" dirty="0">
                <a:solidFill>
                  <a:srgbClr val="BFE0CC"/>
                </a:solidFill>
                <a:latin typeface="Arial" panose="020B0604020202020204" pitchFamily="34" charset="0"/>
                <a:ea typeface="Arial" panose="020B0604020202020204" pitchFamily="34" charset="-122"/>
                <a:cs typeface="Arial" panose="020B0604020202020204" pitchFamily="34" charset="-120"/>
              </a:rPr>
              <a:t>On-chain</a:t>
            </a:r>
            <a:endParaRPr lang="en-US" sz="1200" dirty="0"/>
          </a:p>
        </p:txBody>
      </p:sp>
      <p:sp>
        <p:nvSpPr>
          <p:cNvPr id="41" name="Shape 39"/>
          <p:cNvSpPr/>
          <p:nvPr/>
        </p:nvSpPr>
        <p:spPr>
          <a:xfrm>
            <a:off x="10122408" y="1371600"/>
            <a:ext cx="1517904" cy="2788920"/>
          </a:xfrm>
          <a:prstGeom prst="roundRect">
            <a:avLst>
              <a:gd name="adj" fmla="val 4819"/>
            </a:avLst>
          </a:prstGeom>
          <a:solidFill>
            <a:srgbClr val="F5FAF6"/>
          </a:solidFill>
          <a:ln w="12700">
            <a:solidFill>
              <a:srgbClr val="A6C8B1"/>
            </a:solidFill>
            <a:prstDash val="solid"/>
          </a:ln>
        </p:spPr>
        <p:txBody>
          <a:bodyPr/>
          <a:lstStyle/>
          <a:p>
            <a:endParaRPr lang="zh-CN" altLang="en-US"/>
          </a:p>
        </p:txBody>
      </p:sp>
      <p:sp>
        <p:nvSpPr>
          <p:cNvPr id="42" name="Text 40"/>
          <p:cNvSpPr txBox="1"/>
          <p:nvPr/>
        </p:nvSpPr>
        <p:spPr>
          <a:xfrm>
            <a:off x="10232136" y="1463040"/>
            <a:ext cx="457200" cy="411480"/>
          </a:xfrm>
          <a:prstGeom prst="rect">
            <a:avLst/>
          </a:prstGeom>
          <a:noFill/>
        </p:spPr>
        <p:txBody>
          <a:bodyPr wrap="square" lIns="0" tIns="0" rIns="0" bIns="0" rtlCol="0" anchor="t"/>
          <a:lstStyle/>
          <a:p>
            <a:pPr marL="0" indent="0">
              <a:buNone/>
            </a:pPr>
            <a:r>
              <a:rPr lang="en-US" sz="2400" b="1" dirty="0">
                <a:solidFill>
                  <a:srgbClr val="2B8060"/>
                </a:solidFill>
                <a:latin typeface="Arial" panose="020B0604020202020204" pitchFamily="34" charset="0"/>
                <a:ea typeface="Arial" panose="020B0604020202020204" pitchFamily="34" charset="-122"/>
                <a:cs typeface="Arial" panose="020B0604020202020204" pitchFamily="34" charset="-120"/>
              </a:rPr>
              <a:t>7</a:t>
            </a:r>
            <a:endParaRPr lang="en-US" sz="2400" dirty="0"/>
          </a:p>
        </p:txBody>
      </p:sp>
      <p:sp>
        <p:nvSpPr>
          <p:cNvPr id="43" name="Text 41"/>
          <p:cNvSpPr txBox="1"/>
          <p:nvPr/>
        </p:nvSpPr>
        <p:spPr>
          <a:xfrm>
            <a:off x="10232136" y="1901952"/>
            <a:ext cx="1335024" cy="566928"/>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Close out</a:t>
            </a:r>
            <a:endParaRPr lang="en-US" sz="1600" dirty="0"/>
          </a:p>
        </p:txBody>
      </p:sp>
      <p:sp>
        <p:nvSpPr>
          <p:cNvPr id="44" name="Text 42"/>
          <p:cNvSpPr txBox="1"/>
          <p:nvPr/>
        </p:nvSpPr>
        <p:spPr>
          <a:xfrm>
            <a:off x="10232136" y="2514600"/>
            <a:ext cx="1298448" cy="310896"/>
          </a:xfrm>
          <a:prstGeom prst="roundRect">
            <a:avLst>
              <a:gd name="adj" fmla="val 35294"/>
            </a:avLst>
          </a:prstGeom>
          <a:solidFill>
            <a:srgbClr val="CFE8D6"/>
          </a:solidFill>
          <a:ln>
            <a:solidFill>
              <a:srgbClr val="CFE8D6"/>
            </a:solidFill>
          </a:ln>
        </p:spPr>
        <p:txBody>
          <a:bodyPr wrap="square" lIns="0" tIns="0" rIns="0" bIns="0" rtlCol="0" anchor="ctr"/>
          <a:lstStyle/>
          <a:p>
            <a:pPr marL="0" indent="0" algn="ctr">
              <a:buNone/>
            </a:pPr>
            <a:r>
              <a:rPr lang="en-US" sz="1200" b="1" dirty="0">
                <a:solidFill>
                  <a:srgbClr val="174D3A"/>
                </a:solidFill>
                <a:latin typeface="Arial" panose="020B0604020202020204" pitchFamily="34" charset="0"/>
                <a:ea typeface="Arial" panose="020B0604020202020204" pitchFamily="34" charset="-122"/>
                <a:cs typeface="Arial" panose="020B0604020202020204" pitchFamily="34" charset="-120"/>
              </a:rPr>
              <a:t>Supplier · Donor</a:t>
            </a:r>
            <a:endParaRPr lang="en-US" sz="1200" dirty="0"/>
          </a:p>
        </p:txBody>
      </p:sp>
      <p:sp>
        <p:nvSpPr>
          <p:cNvPr id="45" name="Text 43"/>
          <p:cNvSpPr txBox="1"/>
          <p:nvPr/>
        </p:nvSpPr>
        <p:spPr>
          <a:xfrm>
            <a:off x="10232136" y="2907792"/>
            <a:ext cx="1316736" cy="914400"/>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Delivery signed; unspent refundable</a:t>
            </a:r>
            <a:endParaRPr lang="en-US" sz="1500" dirty="0"/>
          </a:p>
        </p:txBody>
      </p:sp>
      <p:sp>
        <p:nvSpPr>
          <p:cNvPr id="46" name="Text 44"/>
          <p:cNvSpPr txBox="1"/>
          <p:nvPr/>
        </p:nvSpPr>
        <p:spPr>
          <a:xfrm>
            <a:off x="10232136" y="3840480"/>
            <a:ext cx="1316736" cy="256032"/>
          </a:xfrm>
          <a:prstGeom prst="rect">
            <a:avLst/>
          </a:prstGeom>
          <a:noFill/>
        </p:spPr>
        <p:txBody>
          <a:bodyPr wrap="square" lIns="0" tIns="0" rIns="0" bIns="0" rtlCol="0" anchor="t"/>
          <a:lstStyle/>
          <a:p>
            <a:pPr marL="0" indent="0">
              <a:buNone/>
            </a:pPr>
            <a:r>
              <a:rPr lang="en-US" sz="1200" i="1" dirty="0">
                <a:solidFill>
                  <a:srgbClr val="45624F"/>
                </a:solidFill>
                <a:latin typeface="Arial" panose="020B0604020202020204" pitchFamily="34" charset="0"/>
                <a:ea typeface="Arial" panose="020B0604020202020204" pitchFamily="34" charset="-122"/>
                <a:cs typeface="Arial" panose="020B0604020202020204" pitchFamily="34" charset="-120"/>
              </a:rPr>
              <a:t>Off- / on-chain</a:t>
            </a:r>
            <a:endParaRPr lang="en-US" sz="1200" dirty="0"/>
          </a:p>
        </p:txBody>
      </p:sp>
      <p:sp>
        <p:nvSpPr>
          <p:cNvPr id="47" name="Shape 45"/>
          <p:cNvSpPr/>
          <p:nvPr/>
        </p:nvSpPr>
        <p:spPr>
          <a:xfrm>
            <a:off x="548640" y="4389120"/>
            <a:ext cx="6766560" cy="1856232"/>
          </a:xfrm>
          <a:prstGeom prst="roundRect">
            <a:avLst>
              <a:gd name="adj" fmla="val 3941"/>
            </a:avLst>
          </a:prstGeom>
          <a:solidFill>
            <a:srgbClr val="FFFFFF"/>
          </a:solidFill>
          <a:ln w="15875">
            <a:solidFill>
              <a:srgbClr val="2B8060"/>
            </a:solidFill>
            <a:prstDash val="solid"/>
          </a:ln>
        </p:spPr>
        <p:txBody>
          <a:bodyPr/>
          <a:lstStyle/>
          <a:p>
            <a:endParaRPr lang="zh-CN" altLang="en-US"/>
          </a:p>
        </p:txBody>
      </p:sp>
      <p:sp>
        <p:nvSpPr>
          <p:cNvPr id="48" name="Text 46"/>
          <p:cNvSpPr txBox="1"/>
          <p:nvPr/>
        </p:nvSpPr>
        <p:spPr>
          <a:xfrm>
            <a:off x="731520" y="4480560"/>
            <a:ext cx="6400800" cy="347472"/>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What a milestone fixes</a:t>
            </a:r>
            <a:endParaRPr lang="en-US" sz="1800" dirty="0"/>
          </a:p>
        </p:txBody>
      </p:sp>
      <p:sp>
        <p:nvSpPr>
          <p:cNvPr id="49" name="Text 47"/>
          <p:cNvSpPr txBox="1"/>
          <p:nvPr/>
        </p:nvSpPr>
        <p:spPr>
          <a:xfrm>
            <a:off x="731520" y="4919472"/>
            <a:ext cx="1188720" cy="274320"/>
          </a:xfrm>
          <a:prstGeom prst="rect">
            <a:avLst/>
          </a:prstGeom>
          <a:noFill/>
        </p:spPr>
        <p:txBody>
          <a:bodyPr wrap="square" lIns="0" tIns="0" rIns="0" bIns="0" rtlCol="0" anchor="t"/>
          <a:lstStyle/>
          <a:p>
            <a:pPr marL="0" indent="0">
              <a:buNone/>
            </a:pPr>
            <a:r>
              <a:rPr lang="en-US" sz="1400" b="1" dirty="0">
                <a:solidFill>
                  <a:srgbClr val="2B8060"/>
                </a:solidFill>
                <a:latin typeface="Arial" panose="020B0604020202020204" pitchFamily="34" charset="0"/>
                <a:ea typeface="Arial" panose="020B0604020202020204" pitchFamily="34" charset="-122"/>
                <a:cs typeface="Arial" panose="020B0604020202020204" pitchFamily="34" charset="-120"/>
              </a:rPr>
              <a:t>Budget</a:t>
            </a:r>
            <a:endParaRPr lang="en-US" sz="1400" dirty="0"/>
          </a:p>
        </p:txBody>
      </p:sp>
      <p:sp>
        <p:nvSpPr>
          <p:cNvPr id="50" name="Text 48"/>
          <p:cNvSpPr txBox="1"/>
          <p:nvPr/>
        </p:nvSpPr>
        <p:spPr>
          <a:xfrm>
            <a:off x="731520" y="5175504"/>
            <a:ext cx="3017520" cy="329184"/>
          </a:xfrm>
          <a:prstGeom prst="rect">
            <a:avLst/>
          </a:prstGeom>
          <a:noFill/>
        </p:spPr>
        <p:txBody>
          <a:bodyPr wrap="square" lIns="0" tIns="0" rIns="0" bIns="0" rtlCol="0" anchor="t"/>
          <a:lstStyle/>
          <a:p>
            <a:pPr marL="0" indent="0">
              <a:buNone/>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S$100 (fixed)</a:t>
            </a:r>
            <a:endParaRPr lang="en-US" sz="1700" dirty="0"/>
          </a:p>
        </p:txBody>
      </p:sp>
      <p:sp>
        <p:nvSpPr>
          <p:cNvPr id="51" name="Text 49"/>
          <p:cNvSpPr txBox="1"/>
          <p:nvPr/>
        </p:nvSpPr>
        <p:spPr>
          <a:xfrm>
            <a:off x="3977640" y="4919472"/>
            <a:ext cx="1188720" cy="274320"/>
          </a:xfrm>
          <a:prstGeom prst="rect">
            <a:avLst/>
          </a:prstGeom>
          <a:noFill/>
        </p:spPr>
        <p:txBody>
          <a:bodyPr wrap="square" lIns="0" tIns="0" rIns="0" bIns="0" rtlCol="0" anchor="t"/>
          <a:lstStyle/>
          <a:p>
            <a:pPr marL="0" indent="0">
              <a:buNone/>
            </a:pPr>
            <a:r>
              <a:rPr lang="en-US" sz="1400" b="1" dirty="0">
                <a:solidFill>
                  <a:srgbClr val="2B8060"/>
                </a:solidFill>
                <a:latin typeface="Arial" panose="020B0604020202020204" pitchFamily="34" charset="0"/>
                <a:ea typeface="Arial" panose="020B0604020202020204" pitchFamily="34" charset="-122"/>
                <a:cs typeface="Arial" panose="020B0604020202020204" pitchFamily="34" charset="-120"/>
              </a:rPr>
              <a:t>Supplier</a:t>
            </a:r>
            <a:endParaRPr lang="en-US" sz="1400" dirty="0"/>
          </a:p>
        </p:txBody>
      </p:sp>
      <p:sp>
        <p:nvSpPr>
          <p:cNvPr id="52" name="Text 50"/>
          <p:cNvSpPr txBox="1"/>
          <p:nvPr/>
        </p:nvSpPr>
        <p:spPr>
          <a:xfrm>
            <a:off x="3977640" y="5175504"/>
            <a:ext cx="3017520" cy="329184"/>
          </a:xfrm>
          <a:prstGeom prst="rect">
            <a:avLst/>
          </a:prstGeom>
          <a:noFill/>
        </p:spPr>
        <p:txBody>
          <a:bodyPr wrap="square" lIns="0" tIns="0" rIns="0" bIns="0" rtlCol="0" anchor="t"/>
          <a:lstStyle/>
          <a:p>
            <a:pPr marL="0" indent="0">
              <a:buNone/>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Learning Supplies 1</a:t>
            </a:r>
            <a:endParaRPr lang="en-US" sz="1700" dirty="0"/>
          </a:p>
        </p:txBody>
      </p:sp>
      <p:sp>
        <p:nvSpPr>
          <p:cNvPr id="53" name="Text 51"/>
          <p:cNvSpPr txBox="1"/>
          <p:nvPr/>
        </p:nvSpPr>
        <p:spPr>
          <a:xfrm>
            <a:off x="731520" y="5541264"/>
            <a:ext cx="1188720" cy="274320"/>
          </a:xfrm>
          <a:prstGeom prst="rect">
            <a:avLst/>
          </a:prstGeom>
          <a:noFill/>
        </p:spPr>
        <p:txBody>
          <a:bodyPr wrap="square" lIns="0" tIns="0" rIns="0" bIns="0" rtlCol="0" anchor="t"/>
          <a:lstStyle/>
          <a:p>
            <a:pPr marL="0" indent="0">
              <a:buNone/>
            </a:pPr>
            <a:r>
              <a:rPr lang="en-US" sz="1400" b="1" dirty="0">
                <a:solidFill>
                  <a:srgbClr val="2B8060"/>
                </a:solidFill>
                <a:latin typeface="Arial" panose="020B0604020202020204" pitchFamily="34" charset="0"/>
                <a:ea typeface="Arial" panose="020B0604020202020204" pitchFamily="34" charset="-122"/>
                <a:cs typeface="Arial" panose="020B0604020202020204" pitchFamily="34" charset="-120"/>
              </a:rPr>
              <a:t>Deadlines</a:t>
            </a:r>
            <a:endParaRPr lang="en-US" sz="1400" dirty="0"/>
          </a:p>
        </p:txBody>
      </p:sp>
      <p:sp>
        <p:nvSpPr>
          <p:cNvPr id="54" name="Text 52"/>
          <p:cNvSpPr txBox="1"/>
          <p:nvPr/>
        </p:nvSpPr>
        <p:spPr>
          <a:xfrm>
            <a:off x="731520" y="5797296"/>
            <a:ext cx="3017520" cy="329184"/>
          </a:xfrm>
          <a:prstGeom prst="rect">
            <a:avLst/>
          </a:prstGeom>
          <a:noFill/>
        </p:spPr>
        <p:txBody>
          <a:bodyPr wrap="square" lIns="0" tIns="0" rIns="0" bIns="0" rtlCol="0" anchor="t"/>
          <a:lstStyle/>
          <a:p>
            <a:pPr marL="0" indent="0">
              <a:buNone/>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Campaign funding + delivery</a:t>
            </a:r>
            <a:endParaRPr lang="en-US" sz="1700" dirty="0"/>
          </a:p>
        </p:txBody>
      </p:sp>
      <p:sp>
        <p:nvSpPr>
          <p:cNvPr id="55" name="Text 53"/>
          <p:cNvSpPr txBox="1"/>
          <p:nvPr/>
        </p:nvSpPr>
        <p:spPr>
          <a:xfrm>
            <a:off x="3977640" y="5541264"/>
            <a:ext cx="1188720" cy="274320"/>
          </a:xfrm>
          <a:prstGeom prst="rect">
            <a:avLst/>
          </a:prstGeom>
          <a:noFill/>
        </p:spPr>
        <p:txBody>
          <a:bodyPr wrap="square" lIns="0" tIns="0" rIns="0" bIns="0" rtlCol="0" anchor="t"/>
          <a:lstStyle/>
          <a:p>
            <a:pPr marL="0" indent="0">
              <a:buNone/>
            </a:pPr>
            <a:r>
              <a:rPr lang="en-US" sz="1400" b="1" dirty="0">
                <a:solidFill>
                  <a:srgbClr val="2B8060"/>
                </a:solidFill>
                <a:latin typeface="Arial" panose="020B0604020202020204" pitchFamily="34" charset="0"/>
                <a:ea typeface="Arial" panose="020B0604020202020204" pitchFamily="34" charset="-122"/>
                <a:cs typeface="Arial" panose="020B0604020202020204" pitchFamily="34" charset="-120"/>
              </a:rPr>
              <a:t>Approval</a:t>
            </a:r>
            <a:endParaRPr lang="en-US" sz="1400" dirty="0"/>
          </a:p>
        </p:txBody>
      </p:sp>
      <p:sp>
        <p:nvSpPr>
          <p:cNvPr id="56" name="Text 54"/>
          <p:cNvSpPr txBox="1"/>
          <p:nvPr/>
        </p:nvSpPr>
        <p:spPr>
          <a:xfrm>
            <a:off x="3977640" y="5797296"/>
            <a:ext cx="3017520" cy="329184"/>
          </a:xfrm>
          <a:prstGeom prst="rect">
            <a:avLst/>
          </a:prstGeom>
          <a:noFill/>
        </p:spPr>
        <p:txBody>
          <a:bodyPr wrap="square" lIns="0" tIns="0" rIns="0" bIns="0" rtlCol="0" anchor="t"/>
          <a:lstStyle/>
          <a:p>
            <a:pPr marL="0" indent="0">
              <a:buNone/>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2 of 2, same revision</a:t>
            </a:r>
            <a:endParaRPr lang="en-US" sz="1700" dirty="0"/>
          </a:p>
        </p:txBody>
      </p:sp>
      <p:sp>
        <p:nvSpPr>
          <p:cNvPr id="57" name="Shape 55"/>
          <p:cNvSpPr/>
          <p:nvPr/>
        </p:nvSpPr>
        <p:spPr>
          <a:xfrm>
            <a:off x="7543800" y="4389120"/>
            <a:ext cx="4114800" cy="1856232"/>
          </a:xfrm>
          <a:prstGeom prst="roundRect">
            <a:avLst>
              <a:gd name="adj" fmla="val 3941"/>
            </a:avLst>
          </a:prstGeom>
          <a:solidFill>
            <a:srgbClr val="F5FAF6"/>
          </a:solidFill>
          <a:ln w="12700">
            <a:solidFill>
              <a:srgbClr val="A6C8B1"/>
            </a:solidFill>
            <a:prstDash val="solid"/>
          </a:ln>
        </p:spPr>
        <p:txBody>
          <a:bodyPr/>
          <a:lstStyle/>
          <a:p>
            <a:endParaRPr lang="zh-CN" altLang="en-US"/>
          </a:p>
        </p:txBody>
      </p:sp>
      <p:pic>
        <p:nvPicPr>
          <p:cNvPr id="58" name="Image 0" descr="preencoded.png"/>
          <p:cNvPicPr>
            <a:picLocks noChangeAspect="1"/>
          </p:cNvPicPr>
          <p:nvPr/>
        </p:nvPicPr>
        <p:blipFill>
          <a:blip r:embed="rId3"/>
          <a:stretch>
            <a:fillRect/>
          </a:stretch>
        </p:blipFill>
        <p:spPr>
          <a:xfrm>
            <a:off x="7726680" y="4526280"/>
            <a:ext cx="384048" cy="384048"/>
          </a:xfrm>
          <a:prstGeom prst="rect">
            <a:avLst/>
          </a:prstGeom>
        </p:spPr>
      </p:pic>
      <p:sp>
        <p:nvSpPr>
          <p:cNvPr id="59" name="Text 56"/>
          <p:cNvSpPr txBox="1"/>
          <p:nvPr/>
        </p:nvSpPr>
        <p:spPr>
          <a:xfrm>
            <a:off x="8229600" y="4526280"/>
            <a:ext cx="3291840" cy="384048"/>
          </a:xfrm>
          <a:prstGeom prst="rect">
            <a:avLst/>
          </a:prstGeom>
          <a:noFill/>
        </p:spPr>
        <p:txBody>
          <a:bodyPr wrap="square" lIns="0" tIns="0" rIns="0" bIns="0" rtlCol="0" anchor="ctr"/>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Collaboration rule</a:t>
            </a:r>
            <a:endParaRPr lang="en-US" sz="1800" dirty="0"/>
          </a:p>
        </p:txBody>
      </p:sp>
      <p:sp>
        <p:nvSpPr>
          <p:cNvPr id="60" name="Text 57"/>
          <p:cNvSpPr txBox="1"/>
          <p:nvPr/>
        </p:nvSpPr>
        <p:spPr>
          <a:xfrm>
            <a:off x="7726680" y="5029200"/>
            <a:ext cx="3794760" cy="1143000"/>
          </a:xfrm>
          <a:prstGeom prst="rect">
            <a:avLst/>
          </a:prstGeom>
          <a:noFill/>
        </p:spPr>
        <p:txBody>
          <a:bodyPr wrap="square" lIns="0" tIns="0" rIns="0" bIns="0" rtlCol="0" anchor="t"/>
          <a:lstStyle/>
          <a:p>
            <a:pPr marL="0" indent="0">
              <a:buNone/>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Organiser, both reviewers and supplier must be different addresses, or creation fails.</a:t>
            </a:r>
            <a:endParaRPr lang="en-US" sz="1700" dirty="0"/>
          </a:p>
        </p:txBody>
      </p:sp>
      <p:sp>
        <p:nvSpPr>
          <p:cNvPr id="61"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05 · DEMO &amp; REFUND EXAMPLES</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What the demo records, and how a refund is shared</a:t>
            </a:r>
            <a:endParaRPr lang="en-US" sz="3200" dirty="0"/>
          </a:p>
        </p:txBody>
      </p:sp>
      <p:sp>
        <p:nvSpPr>
          <p:cNvPr id="5" name="Text 3"/>
          <p:cNvSpPr txBox="1"/>
          <p:nvPr/>
        </p:nvSpPr>
        <p:spPr>
          <a:xfrm>
            <a:off x="548640" y="1325880"/>
            <a:ext cx="2651760" cy="274320"/>
          </a:xfrm>
          <a:prstGeom prst="roundRect">
            <a:avLst>
              <a:gd name="adj" fmla="val 50000"/>
            </a:avLst>
          </a:prstGeom>
          <a:solidFill>
            <a:srgbClr val="2B8060"/>
          </a:solidFill>
          <a:ln w="12700">
            <a:solidFill>
              <a:srgbClr val="2B8060"/>
            </a:solid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RECORDED EXAMPLE · RECEIPT</a:t>
            </a:r>
            <a:endParaRPr lang="en-US" sz="1100" dirty="0"/>
          </a:p>
        </p:txBody>
      </p:sp>
      <p:pic>
        <p:nvPicPr>
          <p:cNvPr id="6" name="Image 0" descr="shots/receipt_z.png"/>
          <p:cNvPicPr>
            <a:picLocks noChangeAspect="1"/>
          </p:cNvPicPr>
          <p:nvPr/>
        </p:nvPicPr>
        <p:blipFill>
          <a:blip r:embed="rId3"/>
          <a:stretch>
            <a:fillRect/>
          </a:stretch>
        </p:blipFill>
        <p:spPr>
          <a:xfrm>
            <a:off x="548640" y="1664208"/>
            <a:ext cx="3017520" cy="2055412"/>
          </a:xfrm>
          <a:prstGeom prst="rect">
            <a:avLst/>
          </a:prstGeom>
        </p:spPr>
      </p:pic>
      <p:sp>
        <p:nvSpPr>
          <p:cNvPr id="7" name="Shape 4"/>
          <p:cNvSpPr/>
          <p:nvPr/>
        </p:nvSpPr>
        <p:spPr>
          <a:xfrm>
            <a:off x="548640" y="1664208"/>
            <a:ext cx="3017520" cy="2055412"/>
          </a:xfrm>
          <a:prstGeom prst="rect">
            <a:avLst/>
          </a:prstGeom>
          <a:ln w="12700">
            <a:solidFill>
              <a:srgbClr val="A6C8B1"/>
            </a:solidFill>
            <a:prstDash val="solid"/>
          </a:ln>
        </p:spPr>
        <p:txBody>
          <a:bodyPr/>
          <a:lstStyle/>
          <a:p>
            <a:endParaRPr lang="zh-CN" altLang="en-US"/>
          </a:p>
        </p:txBody>
      </p:sp>
      <p:sp>
        <p:nvSpPr>
          <p:cNvPr id="8" name="Shape 5"/>
          <p:cNvSpPr/>
          <p:nvPr/>
        </p:nvSpPr>
        <p:spPr>
          <a:xfrm>
            <a:off x="3520440" y="1910857"/>
            <a:ext cx="320040" cy="0"/>
          </a:xfrm>
          <a:prstGeom prst="line">
            <a:avLst/>
          </a:prstGeom>
          <a:noFill/>
          <a:ln w="15875">
            <a:solidFill>
              <a:srgbClr val="2B8060"/>
            </a:solidFill>
            <a:prstDash val="solid"/>
          </a:ln>
        </p:spPr>
        <p:txBody>
          <a:bodyPr/>
          <a:lstStyle/>
          <a:p>
            <a:endParaRPr lang="zh-CN" altLang="en-US"/>
          </a:p>
        </p:txBody>
      </p:sp>
      <p:sp>
        <p:nvSpPr>
          <p:cNvPr id="9" name="Shape 6"/>
          <p:cNvSpPr/>
          <p:nvPr/>
        </p:nvSpPr>
        <p:spPr>
          <a:xfrm>
            <a:off x="3474720" y="1865137"/>
            <a:ext cx="91440" cy="91440"/>
          </a:xfrm>
          <a:prstGeom prst="ellipse">
            <a:avLst/>
          </a:prstGeom>
          <a:solidFill>
            <a:srgbClr val="2B8060"/>
          </a:solidFill>
          <a:ln w="12700">
            <a:solidFill>
              <a:srgbClr val="2B8060"/>
            </a:solidFill>
            <a:prstDash val="solid"/>
          </a:ln>
        </p:spPr>
        <p:txBody>
          <a:bodyPr/>
          <a:lstStyle/>
          <a:p>
            <a:endParaRPr lang="zh-CN" altLang="en-US"/>
          </a:p>
        </p:txBody>
      </p:sp>
      <p:sp>
        <p:nvSpPr>
          <p:cNvPr id="10" name="Text 7"/>
          <p:cNvSpPr txBox="1"/>
          <p:nvPr/>
        </p:nvSpPr>
        <p:spPr>
          <a:xfrm>
            <a:off x="3886200" y="1737121"/>
            <a:ext cx="3657600" cy="347472"/>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S$100 → campaign escrow</a:t>
            </a:r>
            <a:endParaRPr lang="en-US" sz="1600" dirty="0"/>
          </a:p>
        </p:txBody>
      </p:sp>
      <p:sp>
        <p:nvSpPr>
          <p:cNvPr id="11" name="Shape 8"/>
          <p:cNvSpPr/>
          <p:nvPr/>
        </p:nvSpPr>
        <p:spPr>
          <a:xfrm>
            <a:off x="3520440" y="2486373"/>
            <a:ext cx="320040" cy="0"/>
          </a:xfrm>
          <a:prstGeom prst="line">
            <a:avLst/>
          </a:prstGeom>
          <a:noFill/>
          <a:ln w="15875">
            <a:solidFill>
              <a:srgbClr val="2B8060"/>
            </a:solidFill>
            <a:prstDash val="solid"/>
          </a:ln>
        </p:spPr>
        <p:txBody>
          <a:bodyPr/>
          <a:lstStyle/>
          <a:p>
            <a:endParaRPr lang="zh-CN" altLang="en-US"/>
          </a:p>
        </p:txBody>
      </p:sp>
      <p:sp>
        <p:nvSpPr>
          <p:cNvPr id="12" name="Shape 9"/>
          <p:cNvSpPr/>
          <p:nvPr/>
        </p:nvSpPr>
        <p:spPr>
          <a:xfrm>
            <a:off x="3474720" y="2440653"/>
            <a:ext cx="91440" cy="91440"/>
          </a:xfrm>
          <a:prstGeom prst="ellipse">
            <a:avLst/>
          </a:prstGeom>
          <a:solidFill>
            <a:srgbClr val="2B8060"/>
          </a:solidFill>
          <a:ln w="12700">
            <a:solidFill>
              <a:srgbClr val="2B8060"/>
            </a:solidFill>
            <a:prstDash val="solid"/>
          </a:ln>
        </p:spPr>
        <p:txBody>
          <a:bodyPr/>
          <a:lstStyle/>
          <a:p>
            <a:endParaRPr lang="zh-CN" altLang="en-US"/>
          </a:p>
        </p:txBody>
      </p:sp>
      <p:sp>
        <p:nvSpPr>
          <p:cNvPr id="13" name="Text 10"/>
          <p:cNvSpPr txBox="1"/>
          <p:nvPr/>
        </p:nvSpPr>
        <p:spPr>
          <a:xfrm>
            <a:off x="3886200" y="2312637"/>
            <a:ext cx="3657600" cy="347472"/>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S$1 fee · S$101 deducted in total</a:t>
            </a:r>
            <a:endParaRPr lang="en-US" sz="1600" dirty="0"/>
          </a:p>
        </p:txBody>
      </p:sp>
      <p:sp>
        <p:nvSpPr>
          <p:cNvPr id="14" name="Shape 11"/>
          <p:cNvSpPr/>
          <p:nvPr/>
        </p:nvSpPr>
        <p:spPr>
          <a:xfrm>
            <a:off x="3520440" y="2897455"/>
            <a:ext cx="320040" cy="0"/>
          </a:xfrm>
          <a:prstGeom prst="line">
            <a:avLst/>
          </a:prstGeom>
          <a:noFill/>
          <a:ln w="15875">
            <a:solidFill>
              <a:srgbClr val="2B8060"/>
            </a:solidFill>
            <a:prstDash val="solid"/>
          </a:ln>
        </p:spPr>
        <p:txBody>
          <a:bodyPr/>
          <a:lstStyle/>
          <a:p>
            <a:endParaRPr lang="zh-CN" altLang="en-US"/>
          </a:p>
        </p:txBody>
      </p:sp>
      <p:sp>
        <p:nvSpPr>
          <p:cNvPr id="15" name="Shape 12"/>
          <p:cNvSpPr/>
          <p:nvPr/>
        </p:nvSpPr>
        <p:spPr>
          <a:xfrm>
            <a:off x="3474720" y="2851735"/>
            <a:ext cx="91440" cy="91440"/>
          </a:xfrm>
          <a:prstGeom prst="ellipse">
            <a:avLst/>
          </a:prstGeom>
          <a:solidFill>
            <a:srgbClr val="2B8060"/>
          </a:solidFill>
          <a:ln w="12700">
            <a:solidFill>
              <a:srgbClr val="2B8060"/>
            </a:solidFill>
            <a:prstDash val="solid"/>
          </a:ln>
        </p:spPr>
        <p:txBody>
          <a:bodyPr/>
          <a:lstStyle/>
          <a:p>
            <a:endParaRPr lang="zh-CN" altLang="en-US"/>
          </a:p>
        </p:txBody>
      </p:sp>
      <p:sp>
        <p:nvSpPr>
          <p:cNvPr id="16" name="Text 13"/>
          <p:cNvSpPr txBox="1"/>
          <p:nvPr/>
        </p:nvSpPr>
        <p:spPr>
          <a:xfrm>
            <a:off x="3886200" y="2723719"/>
            <a:ext cx="3657600" cy="347472"/>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Wallet balance after: S$99</a:t>
            </a:r>
            <a:endParaRPr lang="en-US" sz="1600" dirty="0"/>
          </a:p>
        </p:txBody>
      </p:sp>
      <p:sp>
        <p:nvSpPr>
          <p:cNvPr id="17" name="Shape 14"/>
          <p:cNvSpPr/>
          <p:nvPr/>
        </p:nvSpPr>
        <p:spPr>
          <a:xfrm>
            <a:off x="3520440" y="3616850"/>
            <a:ext cx="320040" cy="0"/>
          </a:xfrm>
          <a:prstGeom prst="line">
            <a:avLst/>
          </a:prstGeom>
          <a:noFill/>
          <a:ln w="15875">
            <a:solidFill>
              <a:srgbClr val="2B8060"/>
            </a:solidFill>
            <a:prstDash val="solid"/>
          </a:ln>
        </p:spPr>
        <p:txBody>
          <a:bodyPr/>
          <a:lstStyle/>
          <a:p>
            <a:endParaRPr lang="zh-CN" altLang="en-US"/>
          </a:p>
        </p:txBody>
      </p:sp>
      <p:sp>
        <p:nvSpPr>
          <p:cNvPr id="18" name="Shape 15"/>
          <p:cNvSpPr/>
          <p:nvPr/>
        </p:nvSpPr>
        <p:spPr>
          <a:xfrm>
            <a:off x="3474720" y="3571130"/>
            <a:ext cx="91440" cy="91440"/>
          </a:xfrm>
          <a:prstGeom prst="ellipse">
            <a:avLst/>
          </a:prstGeom>
          <a:solidFill>
            <a:srgbClr val="2B8060"/>
          </a:solidFill>
          <a:ln w="12700">
            <a:solidFill>
              <a:srgbClr val="2B8060"/>
            </a:solidFill>
            <a:prstDash val="solid"/>
          </a:ln>
        </p:spPr>
        <p:txBody>
          <a:bodyPr/>
          <a:lstStyle/>
          <a:p>
            <a:endParaRPr lang="zh-CN" altLang="en-US"/>
          </a:p>
        </p:txBody>
      </p:sp>
      <p:sp>
        <p:nvSpPr>
          <p:cNvPr id="19" name="Text 16"/>
          <p:cNvSpPr txBox="1"/>
          <p:nvPr/>
        </p:nvSpPr>
        <p:spPr>
          <a:xfrm>
            <a:off x="3886200" y="3443114"/>
            <a:ext cx="3657600" cy="347472"/>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Recorded in a local block (here 28)</a:t>
            </a:r>
            <a:endParaRPr lang="en-US" sz="1600" dirty="0"/>
          </a:p>
        </p:txBody>
      </p:sp>
      <p:sp>
        <p:nvSpPr>
          <p:cNvPr id="20" name="Text 17"/>
          <p:cNvSpPr txBox="1"/>
          <p:nvPr/>
        </p:nvSpPr>
        <p:spPr>
          <a:xfrm>
            <a:off x="548640" y="3765340"/>
            <a:ext cx="2926080" cy="274320"/>
          </a:xfrm>
          <a:prstGeom prst="roundRect">
            <a:avLst>
              <a:gd name="adj" fmla="val 50000"/>
            </a:avLst>
          </a:prstGeom>
          <a:solidFill>
            <a:srgbClr val="2B8060"/>
          </a:solidFill>
          <a:ln w="12700">
            <a:solidFill>
              <a:srgbClr val="2B8060"/>
            </a:solid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RECORDED EXAMPLE · BLOCKS VARY</a:t>
            </a:r>
            <a:endParaRPr lang="en-US" sz="1100" dirty="0"/>
          </a:p>
        </p:txBody>
      </p:sp>
      <p:pic>
        <p:nvPicPr>
          <p:cNvPr id="21" name="Image 1" descr="shots/trail_rows.png"/>
          <p:cNvPicPr>
            <a:picLocks noChangeAspect="1"/>
          </p:cNvPicPr>
          <p:nvPr/>
        </p:nvPicPr>
        <p:blipFill>
          <a:blip r:embed="rId4"/>
          <a:stretch>
            <a:fillRect/>
          </a:stretch>
        </p:blipFill>
        <p:spPr>
          <a:xfrm>
            <a:off x="548640" y="4103668"/>
            <a:ext cx="3017520" cy="2074179"/>
          </a:xfrm>
          <a:prstGeom prst="rect">
            <a:avLst/>
          </a:prstGeom>
        </p:spPr>
      </p:pic>
      <p:sp>
        <p:nvSpPr>
          <p:cNvPr id="22" name="Shape 18"/>
          <p:cNvSpPr/>
          <p:nvPr/>
        </p:nvSpPr>
        <p:spPr>
          <a:xfrm>
            <a:off x="548640" y="4103668"/>
            <a:ext cx="3017520" cy="2074179"/>
          </a:xfrm>
          <a:prstGeom prst="rect">
            <a:avLst/>
          </a:prstGeom>
          <a:ln w="12700">
            <a:solidFill>
              <a:srgbClr val="A6C8B1"/>
            </a:solidFill>
            <a:prstDash val="solid"/>
          </a:ln>
        </p:spPr>
        <p:txBody>
          <a:bodyPr/>
          <a:lstStyle/>
          <a:p>
            <a:endParaRPr lang="zh-CN" altLang="en-US"/>
          </a:p>
        </p:txBody>
      </p:sp>
      <p:sp>
        <p:nvSpPr>
          <p:cNvPr id="23" name="Shape 19"/>
          <p:cNvSpPr/>
          <p:nvPr/>
        </p:nvSpPr>
        <p:spPr>
          <a:xfrm>
            <a:off x="3520440" y="4302789"/>
            <a:ext cx="320040" cy="0"/>
          </a:xfrm>
          <a:prstGeom prst="line">
            <a:avLst/>
          </a:prstGeom>
          <a:noFill/>
          <a:ln w="15875">
            <a:solidFill>
              <a:srgbClr val="2B8060"/>
            </a:solidFill>
            <a:prstDash val="solid"/>
          </a:ln>
        </p:spPr>
        <p:txBody>
          <a:bodyPr/>
          <a:lstStyle/>
          <a:p>
            <a:endParaRPr lang="zh-CN" altLang="en-US"/>
          </a:p>
        </p:txBody>
      </p:sp>
      <p:sp>
        <p:nvSpPr>
          <p:cNvPr id="24" name="Shape 20"/>
          <p:cNvSpPr/>
          <p:nvPr/>
        </p:nvSpPr>
        <p:spPr>
          <a:xfrm>
            <a:off x="3474720" y="4257069"/>
            <a:ext cx="91440" cy="91440"/>
          </a:xfrm>
          <a:prstGeom prst="ellipse">
            <a:avLst/>
          </a:prstGeom>
          <a:solidFill>
            <a:srgbClr val="2B8060"/>
          </a:solidFill>
          <a:ln w="12700">
            <a:solidFill>
              <a:srgbClr val="2B8060"/>
            </a:solidFill>
            <a:prstDash val="solid"/>
          </a:ln>
        </p:spPr>
        <p:txBody>
          <a:bodyPr/>
          <a:lstStyle/>
          <a:p>
            <a:endParaRPr lang="zh-CN" altLang="en-US"/>
          </a:p>
        </p:txBody>
      </p:sp>
      <p:sp>
        <p:nvSpPr>
          <p:cNvPr id="25" name="Text 21"/>
          <p:cNvSpPr txBox="1"/>
          <p:nvPr/>
        </p:nvSpPr>
        <p:spPr>
          <a:xfrm>
            <a:off x="3886200" y="4129053"/>
            <a:ext cx="3749040" cy="347472"/>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Block 32 · S$100 paid to supplier</a:t>
            </a:r>
            <a:endParaRPr lang="en-US" sz="1600" dirty="0"/>
          </a:p>
        </p:txBody>
      </p:sp>
      <p:sp>
        <p:nvSpPr>
          <p:cNvPr id="26" name="Shape 22"/>
          <p:cNvSpPr/>
          <p:nvPr/>
        </p:nvSpPr>
        <p:spPr>
          <a:xfrm>
            <a:off x="3520440" y="4725922"/>
            <a:ext cx="320040" cy="0"/>
          </a:xfrm>
          <a:prstGeom prst="line">
            <a:avLst/>
          </a:prstGeom>
          <a:noFill/>
          <a:ln w="15875">
            <a:solidFill>
              <a:srgbClr val="2B8060"/>
            </a:solidFill>
            <a:prstDash val="solid"/>
          </a:ln>
        </p:spPr>
        <p:txBody>
          <a:bodyPr/>
          <a:lstStyle/>
          <a:p>
            <a:endParaRPr lang="zh-CN" altLang="en-US"/>
          </a:p>
        </p:txBody>
      </p:sp>
      <p:sp>
        <p:nvSpPr>
          <p:cNvPr id="27" name="Shape 23"/>
          <p:cNvSpPr/>
          <p:nvPr/>
        </p:nvSpPr>
        <p:spPr>
          <a:xfrm>
            <a:off x="3474720" y="4680202"/>
            <a:ext cx="91440" cy="91440"/>
          </a:xfrm>
          <a:prstGeom prst="ellipse">
            <a:avLst/>
          </a:prstGeom>
          <a:solidFill>
            <a:srgbClr val="2B8060"/>
          </a:solidFill>
          <a:ln w="12700">
            <a:solidFill>
              <a:srgbClr val="2B8060"/>
            </a:solidFill>
            <a:prstDash val="solid"/>
          </a:ln>
        </p:spPr>
        <p:txBody>
          <a:bodyPr/>
          <a:lstStyle/>
          <a:p>
            <a:endParaRPr lang="zh-CN" altLang="en-US"/>
          </a:p>
        </p:txBody>
      </p:sp>
      <p:sp>
        <p:nvSpPr>
          <p:cNvPr id="28" name="Text 24"/>
          <p:cNvSpPr txBox="1"/>
          <p:nvPr/>
        </p:nvSpPr>
        <p:spPr>
          <a:xfrm>
            <a:off x="3886200" y="4552186"/>
            <a:ext cx="3749040" cy="347472"/>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Block 31 · approval, reviewer 2</a:t>
            </a:r>
            <a:endParaRPr lang="en-US" sz="1600" dirty="0"/>
          </a:p>
        </p:txBody>
      </p:sp>
      <p:sp>
        <p:nvSpPr>
          <p:cNvPr id="29" name="Shape 25"/>
          <p:cNvSpPr/>
          <p:nvPr/>
        </p:nvSpPr>
        <p:spPr>
          <a:xfrm>
            <a:off x="3520440" y="5140758"/>
            <a:ext cx="320040" cy="0"/>
          </a:xfrm>
          <a:prstGeom prst="line">
            <a:avLst/>
          </a:prstGeom>
          <a:noFill/>
          <a:ln w="15875">
            <a:solidFill>
              <a:srgbClr val="2B8060"/>
            </a:solidFill>
            <a:prstDash val="solid"/>
          </a:ln>
        </p:spPr>
        <p:txBody>
          <a:bodyPr/>
          <a:lstStyle/>
          <a:p>
            <a:endParaRPr lang="zh-CN" altLang="en-US"/>
          </a:p>
        </p:txBody>
      </p:sp>
      <p:sp>
        <p:nvSpPr>
          <p:cNvPr id="30" name="Shape 26"/>
          <p:cNvSpPr/>
          <p:nvPr/>
        </p:nvSpPr>
        <p:spPr>
          <a:xfrm>
            <a:off x="3474720" y="5095038"/>
            <a:ext cx="91440" cy="91440"/>
          </a:xfrm>
          <a:prstGeom prst="ellipse">
            <a:avLst/>
          </a:prstGeom>
          <a:solidFill>
            <a:srgbClr val="2B8060"/>
          </a:solidFill>
          <a:ln w="12700">
            <a:solidFill>
              <a:srgbClr val="2B8060"/>
            </a:solidFill>
            <a:prstDash val="solid"/>
          </a:ln>
        </p:spPr>
        <p:txBody>
          <a:bodyPr/>
          <a:lstStyle/>
          <a:p>
            <a:endParaRPr lang="zh-CN" altLang="en-US"/>
          </a:p>
        </p:txBody>
      </p:sp>
      <p:sp>
        <p:nvSpPr>
          <p:cNvPr id="31" name="Text 27"/>
          <p:cNvSpPr txBox="1"/>
          <p:nvPr/>
        </p:nvSpPr>
        <p:spPr>
          <a:xfrm>
            <a:off x="3886200" y="4967022"/>
            <a:ext cx="3749040" cy="347472"/>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Block 30 · approval, reviewer 1</a:t>
            </a:r>
            <a:endParaRPr lang="en-US" sz="1600" dirty="0"/>
          </a:p>
        </p:txBody>
      </p:sp>
      <p:sp>
        <p:nvSpPr>
          <p:cNvPr id="32" name="Shape 28"/>
          <p:cNvSpPr/>
          <p:nvPr/>
        </p:nvSpPr>
        <p:spPr>
          <a:xfrm>
            <a:off x="3520440" y="5555593"/>
            <a:ext cx="320040" cy="0"/>
          </a:xfrm>
          <a:prstGeom prst="line">
            <a:avLst/>
          </a:prstGeom>
          <a:noFill/>
          <a:ln w="15875">
            <a:solidFill>
              <a:srgbClr val="2B8060"/>
            </a:solidFill>
            <a:prstDash val="solid"/>
          </a:ln>
        </p:spPr>
        <p:txBody>
          <a:bodyPr/>
          <a:lstStyle/>
          <a:p>
            <a:endParaRPr lang="zh-CN" altLang="en-US"/>
          </a:p>
        </p:txBody>
      </p:sp>
      <p:sp>
        <p:nvSpPr>
          <p:cNvPr id="33" name="Shape 29"/>
          <p:cNvSpPr/>
          <p:nvPr/>
        </p:nvSpPr>
        <p:spPr>
          <a:xfrm>
            <a:off x="3474720" y="5509873"/>
            <a:ext cx="91440" cy="91440"/>
          </a:xfrm>
          <a:prstGeom prst="ellipse">
            <a:avLst/>
          </a:prstGeom>
          <a:solidFill>
            <a:srgbClr val="2B8060"/>
          </a:solidFill>
          <a:ln w="12700">
            <a:solidFill>
              <a:srgbClr val="2B8060"/>
            </a:solidFill>
            <a:prstDash val="solid"/>
          </a:ln>
        </p:spPr>
        <p:txBody>
          <a:bodyPr/>
          <a:lstStyle/>
          <a:p>
            <a:endParaRPr lang="zh-CN" altLang="en-US"/>
          </a:p>
        </p:txBody>
      </p:sp>
      <p:sp>
        <p:nvSpPr>
          <p:cNvPr id="34" name="Text 30"/>
          <p:cNvSpPr txBox="1"/>
          <p:nvPr/>
        </p:nvSpPr>
        <p:spPr>
          <a:xfrm>
            <a:off x="3886200" y="5381857"/>
            <a:ext cx="3749040" cy="347472"/>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Block 29 · evidence, revision 1</a:t>
            </a:r>
            <a:endParaRPr lang="en-US" sz="1600" dirty="0"/>
          </a:p>
        </p:txBody>
      </p:sp>
      <p:sp>
        <p:nvSpPr>
          <p:cNvPr id="35" name="Shape 31"/>
          <p:cNvSpPr/>
          <p:nvPr/>
        </p:nvSpPr>
        <p:spPr>
          <a:xfrm>
            <a:off x="3520440" y="5970429"/>
            <a:ext cx="320040" cy="0"/>
          </a:xfrm>
          <a:prstGeom prst="line">
            <a:avLst/>
          </a:prstGeom>
          <a:noFill/>
          <a:ln w="15875">
            <a:solidFill>
              <a:srgbClr val="2B8060"/>
            </a:solidFill>
            <a:prstDash val="solid"/>
          </a:ln>
        </p:spPr>
        <p:txBody>
          <a:bodyPr/>
          <a:lstStyle/>
          <a:p>
            <a:endParaRPr lang="zh-CN" altLang="en-US"/>
          </a:p>
        </p:txBody>
      </p:sp>
      <p:sp>
        <p:nvSpPr>
          <p:cNvPr id="36" name="Shape 32"/>
          <p:cNvSpPr/>
          <p:nvPr/>
        </p:nvSpPr>
        <p:spPr>
          <a:xfrm>
            <a:off x="3474720" y="5924709"/>
            <a:ext cx="91440" cy="91440"/>
          </a:xfrm>
          <a:prstGeom prst="ellipse">
            <a:avLst/>
          </a:prstGeom>
          <a:solidFill>
            <a:srgbClr val="2B8060"/>
          </a:solidFill>
          <a:ln w="12700">
            <a:solidFill>
              <a:srgbClr val="2B8060"/>
            </a:solidFill>
            <a:prstDash val="solid"/>
          </a:ln>
        </p:spPr>
        <p:txBody>
          <a:bodyPr/>
          <a:lstStyle/>
          <a:p>
            <a:endParaRPr lang="zh-CN" altLang="en-US"/>
          </a:p>
        </p:txBody>
      </p:sp>
      <p:sp>
        <p:nvSpPr>
          <p:cNvPr id="37" name="Text 33"/>
          <p:cNvSpPr txBox="1"/>
          <p:nvPr/>
        </p:nvSpPr>
        <p:spPr>
          <a:xfrm>
            <a:off x="3886200" y="5796693"/>
            <a:ext cx="3749040" cy="347472"/>
          </a:xfrm>
          <a:prstGeom prst="rect">
            <a:avLst/>
          </a:prstGeom>
          <a:noFill/>
        </p:spPr>
        <p:txBody>
          <a:bodyPr wrap="square" lIns="0" tIns="0" rIns="0" bIns="0" rtlCol="0" anchor="ctr"/>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Block 28 · S$1 fee collected</a:t>
            </a:r>
            <a:endParaRPr lang="en-US" sz="1600" dirty="0"/>
          </a:p>
        </p:txBody>
      </p:sp>
      <p:sp>
        <p:nvSpPr>
          <p:cNvPr id="38" name="Shape 34"/>
          <p:cNvSpPr/>
          <p:nvPr/>
        </p:nvSpPr>
        <p:spPr>
          <a:xfrm>
            <a:off x="8001000" y="1325880"/>
            <a:ext cx="3657600" cy="4919472"/>
          </a:xfrm>
          <a:prstGeom prst="roundRect">
            <a:avLst>
              <a:gd name="adj" fmla="val 2000"/>
            </a:avLst>
          </a:prstGeom>
          <a:solidFill>
            <a:srgbClr val="FFFFFF"/>
          </a:solidFill>
          <a:ln w="12700">
            <a:solidFill>
              <a:srgbClr val="A6C8B1"/>
            </a:solidFill>
            <a:prstDash val="solid"/>
          </a:ln>
        </p:spPr>
        <p:txBody>
          <a:bodyPr/>
          <a:lstStyle/>
          <a:p>
            <a:endParaRPr lang="zh-CN" altLang="en-US"/>
          </a:p>
        </p:txBody>
      </p:sp>
      <p:sp>
        <p:nvSpPr>
          <p:cNvPr id="39" name="Text 35"/>
          <p:cNvSpPr txBox="1"/>
          <p:nvPr/>
        </p:nvSpPr>
        <p:spPr>
          <a:xfrm>
            <a:off x="8156448" y="1783080"/>
            <a:ext cx="3429000" cy="384048"/>
          </a:xfrm>
          <a:prstGeom prst="rect">
            <a:avLst/>
          </a:prstGeom>
          <a:noFill/>
        </p:spPr>
        <p:txBody>
          <a:bodyPr wrap="square" lIns="0" tIns="0" rIns="0" bIns="0" rtlCol="0" anchor="ctr"/>
          <a:lstStyle/>
          <a:p>
            <a:pPr marL="0" indent="0">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Learning Kits campaign</a:t>
            </a:r>
            <a:endParaRPr lang="en-US" sz="1700" dirty="0"/>
          </a:p>
        </p:txBody>
      </p:sp>
      <p:sp>
        <p:nvSpPr>
          <p:cNvPr id="40" name="Text 36"/>
          <p:cNvSpPr txBox="1"/>
          <p:nvPr/>
        </p:nvSpPr>
        <p:spPr>
          <a:xfrm>
            <a:off x="8156448" y="1435608"/>
            <a:ext cx="1874519" cy="274320"/>
          </a:xfrm>
          <a:prstGeom prst="roundRect">
            <a:avLst>
              <a:gd name="adj" fmla="val 50000"/>
            </a:avLst>
          </a:prstGeom>
          <a:solidFill>
            <a:srgbClr val="F2EEE2"/>
          </a:solidFill>
          <a:ln w="12700">
            <a:solidFill>
              <a:srgbClr val="6B5A2E"/>
            </a:solidFill>
          </a:ln>
        </p:spPr>
        <p:txBody>
          <a:bodyPr wrap="square" lIns="0" tIns="0" rIns="0" bIns="0" rtlCol="0" anchor="ctr"/>
          <a:lstStyle/>
          <a:p>
            <a:pPr marL="0" indent="0" algn="ctr">
              <a:buNone/>
            </a:pPr>
            <a:r>
              <a:rPr lang="en-US" sz="1100" b="1" dirty="0">
                <a:solidFill>
                  <a:srgbClr val="6B5A2E"/>
                </a:solidFill>
                <a:latin typeface="Arial" panose="020B0604020202020204" pitchFamily="34" charset="0"/>
                <a:ea typeface="Arial" panose="020B0604020202020204" pitchFamily="34" charset="-122"/>
                <a:cs typeface="Arial" panose="020B0604020202020204" pitchFamily="34" charset="-120"/>
              </a:rPr>
              <a:t>LIVE DEMO SCENARIO</a:t>
            </a:r>
            <a:endParaRPr lang="en-US" sz="1100" dirty="0"/>
          </a:p>
        </p:txBody>
      </p:sp>
      <p:sp>
        <p:nvSpPr>
          <p:cNvPr id="41" name="Text 37"/>
          <p:cNvSpPr txBox="1"/>
          <p:nvPr/>
        </p:nvSpPr>
        <p:spPr>
          <a:xfrm>
            <a:off x="8156448" y="2240280"/>
            <a:ext cx="1338682" cy="731520"/>
          </a:xfrm>
          <a:prstGeom prst="rect">
            <a:avLst/>
          </a:prstGeom>
          <a:solidFill>
            <a:srgbClr val="A6C8B1"/>
          </a:solidFill>
          <a:ln>
            <a:solidFill>
              <a:srgbClr val="A6C8B1"/>
            </a:solidFill>
          </a:ln>
        </p:spPr>
        <p:txBody>
          <a:bodyPr wrap="square" lIns="0" tIns="0" rIns="0" bIns="0" rtlCol="0" anchor="ctr"/>
          <a:lstStyle/>
          <a:p>
            <a:pPr marL="0" indent="0" algn="ctr">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S$400</a:t>
            </a:r>
            <a:endParaRPr lang="en-US" sz="1700" dirty="0"/>
          </a:p>
          <a:p>
            <a:pPr marL="0" indent="0" algn="ctr">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paid</a:t>
            </a:r>
            <a:endParaRPr lang="en-US" sz="1700" dirty="0"/>
          </a:p>
        </p:txBody>
      </p:sp>
      <p:sp>
        <p:nvSpPr>
          <p:cNvPr id="42" name="Text 38"/>
          <p:cNvSpPr txBox="1"/>
          <p:nvPr/>
        </p:nvSpPr>
        <p:spPr>
          <a:xfrm>
            <a:off x="9495130" y="2240280"/>
            <a:ext cx="2008022" cy="731520"/>
          </a:xfrm>
          <a:prstGeom prst="rect">
            <a:avLst/>
          </a:prstGeom>
          <a:solidFill>
            <a:srgbClr val="2B8060"/>
          </a:solidFill>
          <a:ln>
            <a:solidFill>
              <a:srgbClr val="2B8060"/>
            </a:solidFill>
          </a:ln>
        </p:spPr>
        <p:txBody>
          <a:bodyPr wrap="square" lIns="0" tIns="0" rIns="0" bIns="0" rtlCol="0" anchor="ctr"/>
          <a:lstStyle/>
          <a:p>
            <a:pPr marL="0" indent="0" algn="ctr">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S$600</a:t>
            </a:r>
            <a:endParaRPr lang="en-US" sz="1700" dirty="0"/>
          </a:p>
          <a:p>
            <a:pPr marL="0" indent="0" algn="ctr">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unspent</a:t>
            </a:r>
            <a:endParaRPr lang="en-US" sz="1700" dirty="0"/>
          </a:p>
        </p:txBody>
      </p:sp>
      <p:sp>
        <p:nvSpPr>
          <p:cNvPr id="43" name="Text 39"/>
          <p:cNvSpPr txBox="1"/>
          <p:nvPr/>
        </p:nvSpPr>
        <p:spPr>
          <a:xfrm>
            <a:off x="8156448" y="3017520"/>
            <a:ext cx="3346704" cy="292608"/>
          </a:xfrm>
          <a:prstGeom prst="rect">
            <a:avLst/>
          </a:prstGeom>
          <a:noFill/>
        </p:spPr>
        <p:txBody>
          <a:bodyPr wrap="square" lIns="0" tIns="0" rIns="0" bIns="0" rtlCol="0" anchor="t"/>
          <a:lstStyle/>
          <a:p>
            <a:pPr marL="0" indent="0" algn="ctr">
              <a:buNone/>
            </a:pPr>
            <a:r>
              <a:rPr lang="en-US" sz="1600" dirty="0">
                <a:solidFill>
                  <a:srgbClr val="45624F"/>
                </a:solidFill>
                <a:latin typeface="Arial" panose="020B0604020202020204" pitchFamily="34" charset="0"/>
                <a:ea typeface="Arial" panose="020B0604020202020204" pitchFamily="34" charset="-122"/>
                <a:cs typeface="Arial" panose="020B0604020202020204" pitchFamily="34" charset="-120"/>
              </a:rPr>
              <a:t>S$1,000 collected · S$10 fee kept</a:t>
            </a:r>
            <a:endParaRPr lang="en-US" sz="1600" dirty="0"/>
          </a:p>
        </p:txBody>
      </p:sp>
      <p:sp>
        <p:nvSpPr>
          <p:cNvPr id="44" name="Shape 40"/>
          <p:cNvSpPr/>
          <p:nvPr/>
        </p:nvSpPr>
        <p:spPr>
          <a:xfrm>
            <a:off x="8156448" y="3383280"/>
            <a:ext cx="3346704" cy="1143000"/>
          </a:xfrm>
          <a:prstGeom prst="roundRect">
            <a:avLst>
              <a:gd name="adj" fmla="val 6400"/>
            </a:avLst>
          </a:prstGeom>
          <a:solidFill>
            <a:srgbClr val="F5FAF6"/>
          </a:solidFill>
          <a:ln w="15875">
            <a:solidFill>
              <a:srgbClr val="2B8060"/>
            </a:solidFill>
            <a:prstDash val="solid"/>
          </a:ln>
        </p:spPr>
        <p:txBody>
          <a:bodyPr/>
          <a:lstStyle/>
          <a:p>
            <a:endParaRPr lang="zh-CN" altLang="en-US"/>
          </a:p>
        </p:txBody>
      </p:sp>
      <p:sp>
        <p:nvSpPr>
          <p:cNvPr id="45" name="Text 41"/>
          <p:cNvSpPr txBox="1"/>
          <p:nvPr/>
        </p:nvSpPr>
        <p:spPr>
          <a:xfrm>
            <a:off x="8293608" y="3429000"/>
            <a:ext cx="3118104" cy="1051560"/>
          </a:xfrm>
          <a:prstGeom prst="rect">
            <a:avLst/>
          </a:prstGeom>
          <a:noFill/>
        </p:spPr>
        <p:txBody>
          <a:bodyPr wrap="square" lIns="0" tIns="0" rIns="0" bIns="0" rtlCol="0" anchor="ctr"/>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Alex gave S$600:</a:t>
            </a:r>
            <a:endParaRPr lang="en-US" sz="1800" dirty="0"/>
          </a:p>
          <a:p>
            <a:pPr marL="0" indent="0">
              <a:buNone/>
            </a:pPr>
            <a:r>
              <a:rPr lang="en-US" sz="1800" dirty="0">
                <a:solidFill>
                  <a:srgbClr val="1C2A23"/>
                </a:solidFill>
                <a:latin typeface="Arial" panose="020B0604020202020204" pitchFamily="34" charset="0"/>
                <a:ea typeface="Arial" panose="020B0604020202020204" pitchFamily="34" charset="-122"/>
                <a:cs typeface="Arial" panose="020B0604020202020204" pitchFamily="34" charset="-120"/>
              </a:rPr>
              <a:t>600 ÷ 1,000 × 600</a:t>
            </a:r>
            <a:endParaRPr lang="en-US" sz="1800" dirty="0"/>
          </a:p>
          <a:p>
            <a:pPr marL="0" indent="0">
              <a:buNone/>
            </a:pPr>
            <a:r>
              <a:rPr lang="en-US" sz="1800" b="1" dirty="0">
                <a:solidFill>
                  <a:srgbClr val="2B8060"/>
                </a:solidFill>
                <a:latin typeface="Arial" panose="020B0604020202020204" pitchFamily="34" charset="0"/>
                <a:ea typeface="Arial" panose="020B0604020202020204" pitchFamily="34" charset="-122"/>
                <a:cs typeface="Arial" panose="020B0604020202020204" pitchFamily="34" charset="-120"/>
              </a:rPr>
              <a:t>= S$360 refunded</a:t>
            </a:r>
            <a:endParaRPr lang="en-US" sz="1800" dirty="0"/>
          </a:p>
        </p:txBody>
      </p:sp>
      <p:sp>
        <p:nvSpPr>
          <p:cNvPr id="46" name="Text 42"/>
          <p:cNvSpPr txBox="1"/>
          <p:nvPr/>
        </p:nvSpPr>
        <p:spPr>
          <a:xfrm>
            <a:off x="8156448" y="4663440"/>
            <a:ext cx="2514600" cy="274320"/>
          </a:xfrm>
          <a:prstGeom prst="roundRect">
            <a:avLst>
              <a:gd name="adj" fmla="val 50000"/>
            </a:avLst>
          </a:prstGeom>
          <a:solidFill>
            <a:srgbClr val="FFFFFF"/>
          </a:solidFill>
          <a:ln w="12700">
            <a:solidFill>
              <a:srgbClr val="2B8060"/>
            </a:solidFill>
          </a:ln>
        </p:spPr>
        <p:txBody>
          <a:bodyPr wrap="square" lIns="0" tIns="0" rIns="0" bIns="0" rtlCol="0" anchor="ctr"/>
          <a:lstStyle/>
          <a:p>
            <a:pPr marL="0" indent="0" algn="ctr">
              <a:buNone/>
            </a:pPr>
            <a:r>
              <a:rPr lang="en-US" sz="1100" b="1" dirty="0">
                <a:solidFill>
                  <a:srgbClr val="2B8060"/>
                </a:solidFill>
                <a:latin typeface="Arial" panose="020B0604020202020204" pitchFamily="34" charset="0"/>
                <a:ea typeface="Arial" panose="020B0604020202020204" pitchFamily="34" charset="-122"/>
                <a:cs typeface="Arial" panose="020B0604020202020204" pitchFamily="34" charset="-120"/>
              </a:rPr>
              <a:t>VERIFIED BY CONTRACT TEST</a:t>
            </a:r>
            <a:endParaRPr lang="en-US" sz="1100" dirty="0"/>
          </a:p>
        </p:txBody>
      </p:sp>
      <p:sp>
        <p:nvSpPr>
          <p:cNvPr id="47" name="Text 43"/>
          <p:cNvSpPr txBox="1"/>
          <p:nvPr/>
        </p:nvSpPr>
        <p:spPr>
          <a:xfrm>
            <a:off x="8156448" y="5010912"/>
            <a:ext cx="3346704" cy="777240"/>
          </a:xfrm>
          <a:prstGeom prst="rect">
            <a:avLst/>
          </a:prstGeom>
          <a:noFill/>
        </p:spPr>
        <p:txBody>
          <a:bodyPr wrap="square" lIns="0" tIns="0" rIns="0" bIns="0" rtlCol="0" anchor="t"/>
          <a:lstStyle/>
          <a:p>
            <a:pPr marL="0" indent="0">
              <a:buNone/>
            </a:pPr>
            <a:r>
              <a:rPr lang="en-US" sz="1500" dirty="0">
                <a:solidFill>
                  <a:srgbClr val="1C2A23"/>
                </a:solidFill>
                <a:latin typeface="Arial" panose="020B0604020202020204" pitchFamily="34" charset="0"/>
                <a:ea typeface="Arial" panose="020B0604020202020204" pitchFamily="34" charset="-122"/>
                <a:cs typeface="Arial" panose="020B0604020202020204" pitchFamily="34" charset="-120"/>
              </a:rPr>
              <a:t>Mei can still claim S$240. Rule tested in contracts.test.mjs.</a:t>
            </a:r>
            <a:endParaRPr lang="en-US" sz="1500" dirty="0"/>
          </a:p>
        </p:txBody>
      </p:sp>
      <p:sp>
        <p:nvSpPr>
          <p:cNvPr id="48" name="Text 44"/>
          <p:cNvSpPr txBox="1"/>
          <p:nvPr/>
        </p:nvSpPr>
        <p:spPr>
          <a:xfrm>
            <a:off x="8156448" y="5669280"/>
            <a:ext cx="3346704" cy="457200"/>
          </a:xfrm>
          <a:prstGeom prst="rect">
            <a:avLst/>
          </a:prstGeom>
          <a:noFill/>
        </p:spPr>
        <p:txBody>
          <a:bodyPr wrap="square" lIns="0" tIns="0" rIns="0" bIns="0" rtlCol="0" anchor="t"/>
          <a:lstStyle/>
          <a:p>
            <a:pPr marL="0" indent="0">
              <a:buNone/>
            </a:pPr>
            <a:r>
              <a:rPr lang="en-US" sz="1400" i="1" dirty="0">
                <a:solidFill>
                  <a:srgbClr val="45624F"/>
                </a:solidFill>
                <a:latin typeface="Arial" panose="020B0604020202020204" pitchFamily="34" charset="0"/>
                <a:ea typeface="Arial" panose="020B0604020202020204" pitchFamily="34" charset="-122"/>
                <a:cs typeface="Arial" panose="020B0604020202020204" pitchFamily="34" charset="-120"/>
              </a:rPr>
              <a:t>The supplier’s S$400 stays paid.</a:t>
            </a:r>
            <a:endParaRPr lang="en-US" sz="1400" dirty="0"/>
          </a:p>
        </p:txBody>
      </p:sp>
      <p:sp>
        <p:nvSpPr>
          <p:cNvPr id="49"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06 · CONCLUSION / PROJECT VALUE</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Payments follow agreed rules and approvals</a:t>
            </a:r>
            <a:endParaRPr lang="en-US" sz="3200" dirty="0"/>
          </a:p>
        </p:txBody>
      </p:sp>
      <p:sp>
        <p:nvSpPr>
          <p:cNvPr id="5" name="Shape 3"/>
          <p:cNvSpPr/>
          <p:nvPr/>
        </p:nvSpPr>
        <p:spPr>
          <a:xfrm>
            <a:off x="4636008" y="1554480"/>
            <a:ext cx="2926080" cy="2926080"/>
          </a:xfrm>
          <a:prstGeom prst="ellipse">
            <a:avLst/>
          </a:prstGeom>
          <a:solidFill>
            <a:srgbClr val="174D3A"/>
          </a:solidFill>
          <a:ln w="12700">
            <a:solidFill>
              <a:srgbClr val="174D3A"/>
            </a:solidFill>
            <a:prstDash val="solid"/>
          </a:ln>
        </p:spPr>
        <p:txBody>
          <a:bodyPr/>
          <a:lstStyle/>
          <a:p>
            <a:endParaRPr lang="zh-CN" altLang="en-US"/>
          </a:p>
        </p:txBody>
      </p:sp>
      <p:sp>
        <p:nvSpPr>
          <p:cNvPr id="6" name="Text 4"/>
          <p:cNvSpPr txBox="1"/>
          <p:nvPr/>
        </p:nvSpPr>
        <p:spPr>
          <a:xfrm>
            <a:off x="4636008" y="2514600"/>
            <a:ext cx="2926080" cy="457200"/>
          </a:xfrm>
          <a:prstGeom prst="rect">
            <a:avLst/>
          </a:prstGeom>
          <a:noFill/>
        </p:spPr>
        <p:txBody>
          <a:bodyPr wrap="square" lIns="0" tIns="0" rIns="0" bIns="0" rtlCol="0" anchor="t"/>
          <a:lstStyle/>
          <a:p>
            <a:pPr marL="0" indent="0" algn="ctr">
              <a:buNone/>
            </a:pPr>
            <a:r>
              <a:rPr lang="en-US" sz="2600" b="1" dirty="0">
                <a:solidFill>
                  <a:srgbClr val="FFFFFF"/>
                </a:solidFill>
                <a:latin typeface="Arial" panose="020B0604020202020204" pitchFamily="34" charset="0"/>
                <a:ea typeface="Arial" panose="020B0604020202020204" pitchFamily="34" charset="-122"/>
                <a:cs typeface="Arial" panose="020B0604020202020204" pitchFamily="34" charset="-120"/>
              </a:rPr>
              <a:t>ClearGive</a:t>
            </a:r>
            <a:endParaRPr lang="en-US" sz="2600" dirty="0"/>
          </a:p>
        </p:txBody>
      </p:sp>
      <p:sp>
        <p:nvSpPr>
          <p:cNvPr id="7" name="Text 5"/>
          <p:cNvSpPr txBox="1"/>
          <p:nvPr/>
        </p:nvSpPr>
        <p:spPr>
          <a:xfrm>
            <a:off x="4892040" y="3017520"/>
            <a:ext cx="2423160" cy="822960"/>
          </a:xfrm>
          <a:prstGeom prst="rect">
            <a:avLst/>
          </a:prstGeom>
          <a:noFill/>
        </p:spPr>
        <p:txBody>
          <a:bodyPr wrap="square" lIns="0" tIns="0" rIns="0" bIns="0" rtlCol="0" anchor="t"/>
          <a:lstStyle/>
          <a:p>
            <a:pPr marL="0" indent="0" algn="ctr">
              <a:buNone/>
            </a:pPr>
            <a:r>
              <a:rPr lang="en-US" sz="1500" dirty="0">
                <a:solidFill>
                  <a:srgbClr val="CFE8D6"/>
                </a:solidFill>
                <a:latin typeface="Arial" panose="020B0604020202020204" pitchFamily="34" charset="0"/>
                <a:ea typeface="Arial" panose="020B0604020202020204" pitchFamily="34" charset="-122"/>
                <a:cs typeface="Arial" panose="020B0604020202020204" pitchFamily="34" charset="-120"/>
              </a:rPr>
              <a:t>rules → review → restricted payment</a:t>
            </a:r>
            <a:endParaRPr lang="en-US" sz="1500" dirty="0"/>
          </a:p>
        </p:txBody>
      </p:sp>
      <p:sp>
        <p:nvSpPr>
          <p:cNvPr id="8" name="Shape 6"/>
          <p:cNvSpPr/>
          <p:nvPr/>
        </p:nvSpPr>
        <p:spPr>
          <a:xfrm>
            <a:off x="7818120" y="1508760"/>
            <a:ext cx="3840480" cy="566928"/>
          </a:xfrm>
          <a:prstGeom prst="roundRect">
            <a:avLst>
              <a:gd name="adj" fmla="val 12903"/>
            </a:avLst>
          </a:prstGeom>
          <a:solidFill>
            <a:srgbClr val="F5FAF6"/>
          </a:solidFill>
          <a:ln w="15875">
            <a:solidFill>
              <a:srgbClr val="2B8060"/>
            </a:solidFill>
            <a:prstDash val="solid"/>
          </a:ln>
        </p:spPr>
        <p:txBody>
          <a:bodyPr/>
          <a:lstStyle/>
          <a:p>
            <a:endParaRPr lang="zh-CN" altLang="en-US"/>
          </a:p>
        </p:txBody>
      </p:sp>
      <p:sp>
        <p:nvSpPr>
          <p:cNvPr id="9" name="Text 7"/>
          <p:cNvSpPr txBox="1"/>
          <p:nvPr/>
        </p:nvSpPr>
        <p:spPr>
          <a:xfrm>
            <a:off x="7973568" y="1508760"/>
            <a:ext cx="3611880" cy="566928"/>
          </a:xfrm>
          <a:prstGeom prst="rect">
            <a:avLst/>
          </a:prstGeom>
          <a:noFill/>
        </p:spPr>
        <p:txBody>
          <a:bodyPr wrap="square" lIns="0" tIns="0" rIns="0" bIns="0" rtlCol="0" anchor="ctr"/>
          <a:lstStyle/>
          <a:p>
            <a:pPr marL="0" indent="0">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Predefined spending rules</a:t>
            </a:r>
            <a:endParaRPr lang="en-US" sz="1700" dirty="0"/>
          </a:p>
        </p:txBody>
      </p:sp>
      <p:sp>
        <p:nvSpPr>
          <p:cNvPr id="10" name="Shape 8"/>
          <p:cNvSpPr/>
          <p:nvPr/>
        </p:nvSpPr>
        <p:spPr>
          <a:xfrm flipV="1">
            <a:off x="7562088" y="1792224"/>
            <a:ext cx="256032" cy="1225296"/>
          </a:xfrm>
          <a:prstGeom prst="line">
            <a:avLst/>
          </a:prstGeom>
          <a:noFill/>
          <a:ln w="15875">
            <a:solidFill>
              <a:srgbClr val="A6C8B1"/>
            </a:solidFill>
            <a:prstDash val="solid"/>
          </a:ln>
        </p:spPr>
        <p:txBody>
          <a:bodyPr/>
          <a:lstStyle/>
          <a:p>
            <a:endParaRPr lang="zh-CN" altLang="en-US"/>
          </a:p>
        </p:txBody>
      </p:sp>
      <p:sp>
        <p:nvSpPr>
          <p:cNvPr id="11" name="Shape 9"/>
          <p:cNvSpPr/>
          <p:nvPr/>
        </p:nvSpPr>
        <p:spPr>
          <a:xfrm>
            <a:off x="7818120" y="2331720"/>
            <a:ext cx="3840480" cy="566928"/>
          </a:xfrm>
          <a:prstGeom prst="roundRect">
            <a:avLst>
              <a:gd name="adj" fmla="val 12903"/>
            </a:avLst>
          </a:prstGeom>
          <a:solidFill>
            <a:srgbClr val="F5FAF6"/>
          </a:solidFill>
          <a:ln w="15875">
            <a:solidFill>
              <a:srgbClr val="2B8060"/>
            </a:solidFill>
            <a:prstDash val="solid"/>
          </a:ln>
        </p:spPr>
        <p:txBody>
          <a:bodyPr/>
          <a:lstStyle/>
          <a:p>
            <a:endParaRPr lang="zh-CN" altLang="en-US"/>
          </a:p>
        </p:txBody>
      </p:sp>
      <p:sp>
        <p:nvSpPr>
          <p:cNvPr id="12" name="Text 10"/>
          <p:cNvSpPr txBox="1"/>
          <p:nvPr/>
        </p:nvSpPr>
        <p:spPr>
          <a:xfrm>
            <a:off x="7973568" y="2331720"/>
            <a:ext cx="3611880" cy="566928"/>
          </a:xfrm>
          <a:prstGeom prst="rect">
            <a:avLst/>
          </a:prstGeom>
          <a:noFill/>
        </p:spPr>
        <p:txBody>
          <a:bodyPr wrap="square" lIns="0" tIns="0" rIns="0" bIns="0" rtlCol="0" anchor="ctr"/>
          <a:lstStyle/>
          <a:p>
            <a:pPr marL="0" indent="0">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Review-linked payments</a:t>
            </a:r>
            <a:endParaRPr lang="en-US" sz="1700" dirty="0"/>
          </a:p>
        </p:txBody>
      </p:sp>
      <p:sp>
        <p:nvSpPr>
          <p:cNvPr id="13" name="Shape 11"/>
          <p:cNvSpPr/>
          <p:nvPr/>
        </p:nvSpPr>
        <p:spPr>
          <a:xfrm flipV="1">
            <a:off x="7562088" y="2615184"/>
            <a:ext cx="256032" cy="402336"/>
          </a:xfrm>
          <a:prstGeom prst="line">
            <a:avLst/>
          </a:prstGeom>
          <a:noFill/>
          <a:ln w="15875">
            <a:solidFill>
              <a:srgbClr val="A6C8B1"/>
            </a:solidFill>
            <a:prstDash val="solid"/>
          </a:ln>
        </p:spPr>
        <p:txBody>
          <a:bodyPr/>
          <a:lstStyle/>
          <a:p>
            <a:endParaRPr lang="zh-CN" altLang="en-US"/>
          </a:p>
        </p:txBody>
      </p:sp>
      <p:sp>
        <p:nvSpPr>
          <p:cNvPr id="14" name="Shape 12"/>
          <p:cNvSpPr/>
          <p:nvPr/>
        </p:nvSpPr>
        <p:spPr>
          <a:xfrm>
            <a:off x="7818120" y="3154680"/>
            <a:ext cx="3840480" cy="566928"/>
          </a:xfrm>
          <a:prstGeom prst="roundRect">
            <a:avLst>
              <a:gd name="adj" fmla="val 12903"/>
            </a:avLst>
          </a:prstGeom>
          <a:solidFill>
            <a:srgbClr val="F5FAF6"/>
          </a:solidFill>
          <a:ln w="15875">
            <a:solidFill>
              <a:srgbClr val="2B8060"/>
            </a:solidFill>
            <a:prstDash val="solid"/>
          </a:ln>
        </p:spPr>
        <p:txBody>
          <a:bodyPr/>
          <a:lstStyle/>
          <a:p>
            <a:endParaRPr lang="zh-CN" altLang="en-US"/>
          </a:p>
        </p:txBody>
      </p:sp>
      <p:sp>
        <p:nvSpPr>
          <p:cNvPr id="15" name="Text 13"/>
          <p:cNvSpPr txBox="1"/>
          <p:nvPr/>
        </p:nvSpPr>
        <p:spPr>
          <a:xfrm>
            <a:off x="7973568" y="3154680"/>
            <a:ext cx="3611880" cy="566928"/>
          </a:xfrm>
          <a:prstGeom prst="rect">
            <a:avLst/>
          </a:prstGeom>
          <a:noFill/>
        </p:spPr>
        <p:txBody>
          <a:bodyPr wrap="square" lIns="0" tIns="0" rIns="0" bIns="0" rtlCol="0" anchor="ctr"/>
          <a:lstStyle/>
          <a:p>
            <a:pPr marL="0" indent="0">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Traceable approvals &amp; transfers</a:t>
            </a:r>
            <a:endParaRPr lang="en-US" sz="1700" dirty="0"/>
          </a:p>
        </p:txBody>
      </p:sp>
      <p:sp>
        <p:nvSpPr>
          <p:cNvPr id="16" name="Shape 14"/>
          <p:cNvSpPr/>
          <p:nvPr/>
        </p:nvSpPr>
        <p:spPr>
          <a:xfrm>
            <a:off x="7562088" y="3017520"/>
            <a:ext cx="256032" cy="420624"/>
          </a:xfrm>
          <a:prstGeom prst="line">
            <a:avLst/>
          </a:prstGeom>
          <a:noFill/>
          <a:ln w="15875">
            <a:solidFill>
              <a:srgbClr val="A6C8B1"/>
            </a:solidFill>
            <a:prstDash val="solid"/>
          </a:ln>
        </p:spPr>
        <p:txBody>
          <a:bodyPr/>
          <a:lstStyle/>
          <a:p>
            <a:endParaRPr lang="zh-CN" altLang="en-US"/>
          </a:p>
        </p:txBody>
      </p:sp>
      <p:sp>
        <p:nvSpPr>
          <p:cNvPr id="17" name="Shape 15"/>
          <p:cNvSpPr/>
          <p:nvPr/>
        </p:nvSpPr>
        <p:spPr>
          <a:xfrm>
            <a:off x="7818120" y="3977640"/>
            <a:ext cx="3840480" cy="566928"/>
          </a:xfrm>
          <a:prstGeom prst="roundRect">
            <a:avLst>
              <a:gd name="adj" fmla="val 12903"/>
            </a:avLst>
          </a:prstGeom>
          <a:solidFill>
            <a:srgbClr val="F5FAF6"/>
          </a:solidFill>
          <a:ln w="15875">
            <a:solidFill>
              <a:srgbClr val="2B8060"/>
            </a:solidFill>
            <a:prstDash val="solid"/>
          </a:ln>
        </p:spPr>
        <p:txBody>
          <a:bodyPr/>
          <a:lstStyle/>
          <a:p>
            <a:endParaRPr lang="zh-CN" altLang="en-US"/>
          </a:p>
        </p:txBody>
      </p:sp>
      <p:sp>
        <p:nvSpPr>
          <p:cNvPr id="18" name="Text 16"/>
          <p:cNvSpPr txBox="1"/>
          <p:nvPr/>
        </p:nvSpPr>
        <p:spPr>
          <a:xfrm>
            <a:off x="7973568" y="3977640"/>
            <a:ext cx="3611880" cy="566928"/>
          </a:xfrm>
          <a:prstGeom prst="rect">
            <a:avLst/>
          </a:prstGeom>
          <a:noFill/>
        </p:spPr>
        <p:txBody>
          <a:bodyPr wrap="square" lIns="0" tIns="0" rIns="0" bIns="0" rtlCol="0" anchor="ctr"/>
          <a:lstStyle/>
          <a:p>
            <a:pPr marL="0" indent="0">
              <a:buNone/>
            </a:pPr>
            <a:r>
              <a:rPr lang="en-US" sz="1700" b="1" dirty="0">
                <a:solidFill>
                  <a:srgbClr val="174D3A"/>
                </a:solidFill>
                <a:latin typeface="Arial" panose="020B0604020202020204" pitchFamily="34" charset="0"/>
                <a:ea typeface="Arial" panose="020B0604020202020204" pitchFamily="34" charset="-122"/>
                <a:cs typeface="Arial" panose="020B0604020202020204" pitchFamily="34" charset="-120"/>
              </a:rPr>
              <a:t>Route to claim unspent funds</a:t>
            </a:r>
            <a:endParaRPr lang="en-US" sz="1700" dirty="0"/>
          </a:p>
        </p:txBody>
      </p:sp>
      <p:sp>
        <p:nvSpPr>
          <p:cNvPr id="19" name="Shape 17"/>
          <p:cNvSpPr/>
          <p:nvPr/>
        </p:nvSpPr>
        <p:spPr>
          <a:xfrm>
            <a:off x="7562088" y="3017520"/>
            <a:ext cx="256032" cy="1243584"/>
          </a:xfrm>
          <a:prstGeom prst="line">
            <a:avLst/>
          </a:prstGeom>
          <a:noFill/>
          <a:ln w="15875">
            <a:solidFill>
              <a:srgbClr val="A6C8B1"/>
            </a:solidFill>
            <a:prstDash val="solid"/>
          </a:ln>
        </p:spPr>
        <p:txBody>
          <a:bodyPr/>
          <a:lstStyle/>
          <a:p>
            <a:endParaRPr lang="zh-CN" altLang="en-US"/>
          </a:p>
        </p:txBody>
      </p:sp>
      <p:sp>
        <p:nvSpPr>
          <p:cNvPr id="20" name="Shape 18"/>
          <p:cNvSpPr/>
          <p:nvPr/>
        </p:nvSpPr>
        <p:spPr>
          <a:xfrm>
            <a:off x="548640" y="1508760"/>
            <a:ext cx="3840480" cy="896112"/>
          </a:xfrm>
          <a:prstGeom prst="roundRect">
            <a:avLst>
              <a:gd name="adj" fmla="val 8163"/>
            </a:avLst>
          </a:prstGeom>
          <a:solidFill>
            <a:srgbClr val="F5FAF6"/>
          </a:solidFill>
          <a:ln w="12700">
            <a:solidFill>
              <a:srgbClr val="A6C8B1"/>
            </a:solidFill>
            <a:prstDash val="solid"/>
          </a:ln>
        </p:spPr>
        <p:txBody>
          <a:bodyPr/>
          <a:lstStyle/>
          <a:p>
            <a:endParaRPr lang="zh-CN" altLang="en-US"/>
          </a:p>
        </p:txBody>
      </p:sp>
      <p:pic>
        <p:nvPicPr>
          <p:cNvPr id="21" name="Image 0" descr="preencoded.png"/>
          <p:cNvPicPr>
            <a:picLocks noChangeAspect="1"/>
          </p:cNvPicPr>
          <p:nvPr/>
        </p:nvPicPr>
        <p:blipFill>
          <a:blip r:embed="rId3"/>
          <a:stretch>
            <a:fillRect/>
          </a:stretch>
        </p:blipFill>
        <p:spPr>
          <a:xfrm>
            <a:off x="713232" y="1755648"/>
            <a:ext cx="384048" cy="384048"/>
          </a:xfrm>
          <a:prstGeom prst="rect">
            <a:avLst/>
          </a:prstGeom>
        </p:spPr>
      </p:pic>
      <p:sp>
        <p:nvSpPr>
          <p:cNvPr id="22" name="Text 19"/>
          <p:cNvSpPr txBox="1"/>
          <p:nvPr/>
        </p:nvSpPr>
        <p:spPr>
          <a:xfrm>
            <a:off x="1234440" y="1581912"/>
            <a:ext cx="3017520" cy="310896"/>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Donors</a:t>
            </a:r>
            <a:endParaRPr lang="en-US" sz="1600" dirty="0"/>
          </a:p>
        </p:txBody>
      </p:sp>
      <p:sp>
        <p:nvSpPr>
          <p:cNvPr id="23" name="Text 20"/>
          <p:cNvSpPr txBox="1"/>
          <p:nvPr/>
        </p:nvSpPr>
        <p:spPr>
          <a:xfrm>
            <a:off x="1234440" y="1892808"/>
            <a:ext cx="3108960" cy="493776"/>
          </a:xfrm>
          <a:prstGeom prst="rect">
            <a:avLst/>
          </a:prstGeom>
          <a:noFill/>
        </p:spPr>
        <p:txBody>
          <a:bodyPr wrap="square" lIns="0" tIns="0" rIns="0" bIns="0" rtlCol="0" anchor="t"/>
          <a:lstStyle/>
          <a:p>
            <a:pPr marL="0" indent="0">
              <a:buNone/>
            </a:pPr>
            <a:r>
              <a:rPr lang="en-US" sz="1500" dirty="0">
                <a:solidFill>
                  <a:srgbClr val="45624F"/>
                </a:solidFill>
                <a:latin typeface="Arial" panose="020B0604020202020204" pitchFamily="34" charset="0"/>
                <a:ea typeface="Arial" panose="020B0604020202020204" pitchFamily="34" charset="-122"/>
                <a:cs typeface="Arial" panose="020B0604020202020204" pitchFamily="34" charset="-120"/>
              </a:rPr>
              <a:t>See where money may go; reclaim unspent funds</a:t>
            </a:r>
            <a:endParaRPr lang="en-US" sz="1500" dirty="0"/>
          </a:p>
        </p:txBody>
      </p:sp>
      <p:sp>
        <p:nvSpPr>
          <p:cNvPr id="24" name="Shape 21"/>
          <p:cNvSpPr/>
          <p:nvPr/>
        </p:nvSpPr>
        <p:spPr>
          <a:xfrm>
            <a:off x="4389120" y="1956816"/>
            <a:ext cx="320040" cy="1060704"/>
          </a:xfrm>
          <a:prstGeom prst="line">
            <a:avLst/>
          </a:prstGeom>
          <a:noFill/>
          <a:ln w="15875">
            <a:solidFill>
              <a:srgbClr val="A6C8B1"/>
            </a:solidFill>
            <a:prstDash val="solid"/>
          </a:ln>
        </p:spPr>
        <p:txBody>
          <a:bodyPr/>
          <a:lstStyle/>
          <a:p>
            <a:endParaRPr lang="zh-CN" altLang="en-US"/>
          </a:p>
        </p:txBody>
      </p:sp>
      <p:sp>
        <p:nvSpPr>
          <p:cNvPr id="25" name="Shape 22"/>
          <p:cNvSpPr/>
          <p:nvPr/>
        </p:nvSpPr>
        <p:spPr>
          <a:xfrm>
            <a:off x="548640" y="2532888"/>
            <a:ext cx="3840480" cy="896112"/>
          </a:xfrm>
          <a:prstGeom prst="roundRect">
            <a:avLst>
              <a:gd name="adj" fmla="val 8163"/>
            </a:avLst>
          </a:prstGeom>
          <a:solidFill>
            <a:srgbClr val="F5FAF6"/>
          </a:solidFill>
          <a:ln w="12700">
            <a:solidFill>
              <a:srgbClr val="A6C8B1"/>
            </a:solidFill>
            <a:prstDash val="solid"/>
          </a:ln>
        </p:spPr>
        <p:txBody>
          <a:bodyPr/>
          <a:lstStyle/>
          <a:p>
            <a:endParaRPr lang="zh-CN" altLang="en-US"/>
          </a:p>
        </p:txBody>
      </p:sp>
      <p:pic>
        <p:nvPicPr>
          <p:cNvPr id="26" name="Image 1" descr="preencoded.png"/>
          <p:cNvPicPr>
            <a:picLocks noChangeAspect="1"/>
          </p:cNvPicPr>
          <p:nvPr/>
        </p:nvPicPr>
        <p:blipFill>
          <a:blip r:embed="rId4"/>
          <a:stretch>
            <a:fillRect/>
          </a:stretch>
        </p:blipFill>
        <p:spPr>
          <a:xfrm>
            <a:off x="713232" y="2779776"/>
            <a:ext cx="384048" cy="384048"/>
          </a:xfrm>
          <a:prstGeom prst="rect">
            <a:avLst/>
          </a:prstGeom>
        </p:spPr>
      </p:pic>
      <p:sp>
        <p:nvSpPr>
          <p:cNvPr id="27" name="Text 23"/>
          <p:cNvSpPr txBox="1"/>
          <p:nvPr/>
        </p:nvSpPr>
        <p:spPr>
          <a:xfrm>
            <a:off x="1234440" y="2606040"/>
            <a:ext cx="3017520" cy="310896"/>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Organisers</a:t>
            </a:r>
            <a:endParaRPr lang="en-US" sz="1600" dirty="0"/>
          </a:p>
        </p:txBody>
      </p:sp>
      <p:sp>
        <p:nvSpPr>
          <p:cNvPr id="28" name="Text 24"/>
          <p:cNvSpPr txBox="1"/>
          <p:nvPr/>
        </p:nvSpPr>
        <p:spPr>
          <a:xfrm>
            <a:off x="1234440" y="2916936"/>
            <a:ext cx="3108960" cy="493776"/>
          </a:xfrm>
          <a:prstGeom prst="rect">
            <a:avLst/>
          </a:prstGeom>
          <a:noFill/>
        </p:spPr>
        <p:txBody>
          <a:bodyPr wrap="square" lIns="0" tIns="0" rIns="0" bIns="0" rtlCol="0" anchor="t"/>
          <a:lstStyle/>
          <a:p>
            <a:pPr marL="0" indent="0">
              <a:buNone/>
            </a:pPr>
            <a:r>
              <a:rPr lang="en-US" sz="1500" dirty="0">
                <a:solidFill>
                  <a:srgbClr val="45624F"/>
                </a:solidFill>
                <a:latin typeface="Arial" panose="020B0604020202020204" pitchFamily="34" charset="0"/>
                <a:ea typeface="Arial" panose="020B0604020202020204" pitchFamily="34" charset="-122"/>
                <a:cs typeface="Arial" panose="020B0604020202020204" pitchFamily="34" charset="-120"/>
              </a:rPr>
              <a:t>Show discipline without holding the pool</a:t>
            </a:r>
            <a:endParaRPr lang="en-US" sz="1500" dirty="0"/>
          </a:p>
        </p:txBody>
      </p:sp>
      <p:sp>
        <p:nvSpPr>
          <p:cNvPr id="29" name="Shape 25"/>
          <p:cNvSpPr/>
          <p:nvPr/>
        </p:nvSpPr>
        <p:spPr>
          <a:xfrm>
            <a:off x="4389120" y="2980944"/>
            <a:ext cx="320040" cy="36576"/>
          </a:xfrm>
          <a:prstGeom prst="line">
            <a:avLst/>
          </a:prstGeom>
          <a:noFill/>
          <a:ln w="15875">
            <a:solidFill>
              <a:srgbClr val="A6C8B1"/>
            </a:solidFill>
            <a:prstDash val="solid"/>
          </a:ln>
        </p:spPr>
        <p:txBody>
          <a:bodyPr/>
          <a:lstStyle/>
          <a:p>
            <a:endParaRPr lang="zh-CN" altLang="en-US"/>
          </a:p>
        </p:txBody>
      </p:sp>
      <p:sp>
        <p:nvSpPr>
          <p:cNvPr id="30" name="Shape 26"/>
          <p:cNvSpPr/>
          <p:nvPr/>
        </p:nvSpPr>
        <p:spPr>
          <a:xfrm>
            <a:off x="548640" y="3557016"/>
            <a:ext cx="3840480" cy="896112"/>
          </a:xfrm>
          <a:prstGeom prst="roundRect">
            <a:avLst>
              <a:gd name="adj" fmla="val 8163"/>
            </a:avLst>
          </a:prstGeom>
          <a:solidFill>
            <a:srgbClr val="F5FAF6"/>
          </a:solidFill>
          <a:ln w="12700">
            <a:solidFill>
              <a:srgbClr val="A6C8B1"/>
            </a:solidFill>
            <a:prstDash val="solid"/>
          </a:ln>
        </p:spPr>
        <p:txBody>
          <a:bodyPr/>
          <a:lstStyle/>
          <a:p>
            <a:endParaRPr lang="zh-CN" altLang="en-US"/>
          </a:p>
        </p:txBody>
      </p:sp>
      <p:pic>
        <p:nvPicPr>
          <p:cNvPr id="31" name="Image 2" descr="preencoded.png"/>
          <p:cNvPicPr>
            <a:picLocks noChangeAspect="1"/>
          </p:cNvPicPr>
          <p:nvPr/>
        </p:nvPicPr>
        <p:blipFill>
          <a:blip r:embed="rId5"/>
          <a:stretch>
            <a:fillRect/>
          </a:stretch>
        </p:blipFill>
        <p:spPr>
          <a:xfrm>
            <a:off x="713232" y="3803904"/>
            <a:ext cx="384048" cy="384048"/>
          </a:xfrm>
          <a:prstGeom prst="rect">
            <a:avLst/>
          </a:prstGeom>
        </p:spPr>
      </p:pic>
      <p:sp>
        <p:nvSpPr>
          <p:cNvPr id="32" name="Text 27"/>
          <p:cNvSpPr txBox="1"/>
          <p:nvPr/>
        </p:nvSpPr>
        <p:spPr>
          <a:xfrm>
            <a:off x="1234440" y="3630168"/>
            <a:ext cx="3017520" cy="310896"/>
          </a:xfrm>
          <a:prstGeom prst="rect">
            <a:avLst/>
          </a:prstGeom>
          <a:noFill/>
        </p:spPr>
        <p:txBody>
          <a:bodyPr wrap="square" lIns="0" tIns="0" rIns="0" bIns="0" rtlCol="0" anchor="t"/>
          <a:lstStyle/>
          <a:p>
            <a:pPr marL="0" indent="0">
              <a:buNone/>
            </a:pPr>
            <a:r>
              <a:rPr lang="en-US" sz="1600" b="1" dirty="0">
                <a:solidFill>
                  <a:srgbClr val="174D3A"/>
                </a:solidFill>
                <a:latin typeface="Arial" panose="020B0604020202020204" pitchFamily="34" charset="0"/>
                <a:ea typeface="Arial" panose="020B0604020202020204" pitchFamily="34" charset="-122"/>
                <a:cs typeface="Arial" panose="020B0604020202020204" pitchFamily="34" charset="-120"/>
              </a:rPr>
              <a:t>Sponsors</a:t>
            </a:r>
            <a:endParaRPr lang="en-US" sz="1600" dirty="0"/>
          </a:p>
        </p:txBody>
      </p:sp>
      <p:sp>
        <p:nvSpPr>
          <p:cNvPr id="33" name="Text 28"/>
          <p:cNvSpPr txBox="1"/>
          <p:nvPr/>
        </p:nvSpPr>
        <p:spPr>
          <a:xfrm>
            <a:off x="1234440" y="3941064"/>
            <a:ext cx="3108960" cy="493776"/>
          </a:xfrm>
          <a:prstGeom prst="rect">
            <a:avLst/>
          </a:prstGeom>
          <a:noFill/>
        </p:spPr>
        <p:txBody>
          <a:bodyPr wrap="square" lIns="0" tIns="0" rIns="0" bIns="0" rtlCol="0" anchor="t"/>
          <a:lstStyle/>
          <a:p>
            <a:pPr marL="0" indent="0">
              <a:buNone/>
            </a:pPr>
            <a:r>
              <a:rPr lang="en-US" sz="1500" dirty="0">
                <a:solidFill>
                  <a:srgbClr val="45624F"/>
                </a:solidFill>
                <a:latin typeface="Arial" panose="020B0604020202020204" pitchFamily="34" charset="0"/>
                <a:ea typeface="Arial" panose="020B0604020202020204" pitchFamily="34" charset="-122"/>
                <a:cs typeface="Arial" panose="020B0604020202020204" pitchFamily="34" charset="-120"/>
              </a:rPr>
              <a:t>One shared record to check spending</a:t>
            </a:r>
            <a:endParaRPr lang="en-US" sz="1500" dirty="0"/>
          </a:p>
        </p:txBody>
      </p:sp>
      <p:sp>
        <p:nvSpPr>
          <p:cNvPr id="34" name="Shape 29"/>
          <p:cNvSpPr/>
          <p:nvPr/>
        </p:nvSpPr>
        <p:spPr>
          <a:xfrm flipV="1">
            <a:off x="4389120" y="3017520"/>
            <a:ext cx="320040" cy="987552"/>
          </a:xfrm>
          <a:prstGeom prst="line">
            <a:avLst/>
          </a:prstGeom>
          <a:noFill/>
          <a:ln w="15875">
            <a:solidFill>
              <a:srgbClr val="A6C8B1"/>
            </a:solidFill>
            <a:prstDash val="solid"/>
          </a:ln>
        </p:spPr>
        <p:txBody>
          <a:bodyPr/>
          <a:lstStyle/>
          <a:p>
            <a:endParaRPr lang="zh-CN" altLang="en-US"/>
          </a:p>
        </p:txBody>
      </p:sp>
      <p:sp>
        <p:nvSpPr>
          <p:cNvPr id="35" name="Shape 30"/>
          <p:cNvSpPr/>
          <p:nvPr/>
        </p:nvSpPr>
        <p:spPr>
          <a:xfrm>
            <a:off x="548640" y="4709160"/>
            <a:ext cx="5486400" cy="1536192"/>
          </a:xfrm>
          <a:prstGeom prst="roundRect">
            <a:avLst>
              <a:gd name="adj" fmla="val 4762"/>
            </a:avLst>
          </a:prstGeom>
          <a:solidFill>
            <a:srgbClr val="FFFFFF"/>
          </a:solidFill>
          <a:ln w="15875">
            <a:solidFill>
              <a:srgbClr val="2B8060"/>
            </a:solidFill>
            <a:prstDash val="solid"/>
          </a:ln>
        </p:spPr>
        <p:txBody>
          <a:bodyPr/>
          <a:lstStyle/>
          <a:p>
            <a:endParaRPr lang="zh-CN" altLang="en-US"/>
          </a:p>
        </p:txBody>
      </p:sp>
      <p:sp>
        <p:nvSpPr>
          <p:cNvPr id="36" name="Text 31"/>
          <p:cNvSpPr txBox="1"/>
          <p:nvPr/>
        </p:nvSpPr>
        <p:spPr>
          <a:xfrm>
            <a:off x="731520" y="4818888"/>
            <a:ext cx="1920240" cy="274320"/>
          </a:xfrm>
          <a:prstGeom prst="roundRect">
            <a:avLst>
              <a:gd name="adj" fmla="val 50000"/>
            </a:avLst>
          </a:prstGeom>
          <a:solidFill>
            <a:srgbClr val="2B8060"/>
          </a:solidFill>
          <a:ln w="12700">
            <a:solidFill>
              <a:srgbClr val="2B8060"/>
            </a:solid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Arial" panose="020B0604020202020204" pitchFamily="34" charset="-122"/>
                <a:cs typeface="Arial" panose="020B0604020202020204" pitchFamily="34" charset="-120"/>
              </a:rPr>
              <a:t>THE DEMO VERIFIED</a:t>
            </a:r>
            <a:endParaRPr lang="en-US" sz="1100" dirty="0"/>
          </a:p>
        </p:txBody>
      </p:sp>
      <p:sp>
        <p:nvSpPr>
          <p:cNvPr id="37" name="Text 32"/>
          <p:cNvSpPr txBox="1"/>
          <p:nvPr/>
        </p:nvSpPr>
        <p:spPr>
          <a:xfrm>
            <a:off x="731520" y="5212080"/>
            <a:ext cx="5166360" cy="960120"/>
          </a:xfrm>
          <a:prstGeom prst="rect">
            <a:avLst/>
          </a:prstGeom>
          <a:noFill/>
        </p:spPr>
        <p:txBody>
          <a:bodyPr wrap="square" lIns="0" tIns="0" rIns="0" bIns="0" rtlCol="0" anchor="t"/>
          <a:lstStyle/>
          <a:p>
            <a:pPr marL="0" indent="0">
              <a:buNone/>
            </a:pPr>
            <a:r>
              <a:rPr lang="en-US" sz="1800" dirty="0">
                <a:solidFill>
                  <a:srgbClr val="1C2A23"/>
                </a:solidFill>
                <a:latin typeface="Arial" panose="020B0604020202020204" pitchFamily="34" charset="0"/>
                <a:ea typeface="Arial" panose="020B0604020202020204" pitchFamily="34" charset="-122"/>
                <a:cs typeface="Arial" panose="020B0604020202020204" pitchFamily="34" charset="-120"/>
              </a:rPr>
              <a:t>Escrow, 1% fee vault, two-approval release, evidence hashing, pro-rata refunds — on a local chain</a:t>
            </a:r>
            <a:endParaRPr lang="en-US" sz="1800" dirty="0"/>
          </a:p>
        </p:txBody>
      </p:sp>
      <p:sp>
        <p:nvSpPr>
          <p:cNvPr id="38" name="Shape 33"/>
          <p:cNvSpPr/>
          <p:nvPr/>
        </p:nvSpPr>
        <p:spPr>
          <a:xfrm>
            <a:off x="6172200" y="4709160"/>
            <a:ext cx="5486400" cy="1536192"/>
          </a:xfrm>
          <a:prstGeom prst="roundRect">
            <a:avLst>
              <a:gd name="adj" fmla="val 4762"/>
            </a:avLst>
          </a:prstGeom>
          <a:solidFill>
            <a:srgbClr val="F7E4D4"/>
          </a:solidFill>
          <a:ln w="15875">
            <a:solidFill>
              <a:srgbClr val="9A4A22"/>
            </a:solidFill>
            <a:prstDash val="solid"/>
          </a:ln>
        </p:spPr>
        <p:txBody>
          <a:bodyPr/>
          <a:lstStyle/>
          <a:p>
            <a:endParaRPr lang="zh-CN" altLang="en-US"/>
          </a:p>
        </p:txBody>
      </p:sp>
      <p:sp>
        <p:nvSpPr>
          <p:cNvPr id="39" name="Text 34"/>
          <p:cNvSpPr txBox="1"/>
          <p:nvPr/>
        </p:nvSpPr>
        <p:spPr>
          <a:xfrm>
            <a:off x="6355080" y="4818888"/>
            <a:ext cx="1828800" cy="274320"/>
          </a:xfrm>
          <a:prstGeom prst="roundRect">
            <a:avLst>
              <a:gd name="adj" fmla="val 50000"/>
            </a:avLst>
          </a:prstGeom>
          <a:solidFill>
            <a:srgbClr val="F7E4D4"/>
          </a:solidFill>
          <a:ln w="12700">
            <a:solidFill>
              <a:srgbClr val="9A4A22"/>
            </a:solidFill>
          </a:ln>
        </p:spPr>
        <p:txBody>
          <a:bodyPr wrap="square" lIns="0" tIns="0" rIns="0" bIns="0" rtlCol="0" anchor="ctr"/>
          <a:lstStyle/>
          <a:p>
            <a:pPr marL="0" indent="0" algn="ctr">
              <a:buNone/>
            </a:pPr>
            <a:r>
              <a:rPr lang="en-US" sz="1100" b="1" dirty="0">
                <a:solidFill>
                  <a:srgbClr val="9A4A22"/>
                </a:solidFill>
                <a:latin typeface="Arial" panose="020B0604020202020204" pitchFamily="34" charset="0"/>
                <a:ea typeface="Arial" panose="020B0604020202020204" pitchFamily="34" charset="-122"/>
                <a:cs typeface="Arial" panose="020B0604020202020204" pitchFamily="34" charset="-120"/>
              </a:rPr>
              <a:t>NOT YET VERIFIED</a:t>
            </a:r>
            <a:endParaRPr lang="en-US" sz="1100" dirty="0"/>
          </a:p>
        </p:txBody>
      </p:sp>
      <p:sp>
        <p:nvSpPr>
          <p:cNvPr id="40" name="Text 35"/>
          <p:cNvSpPr txBox="1"/>
          <p:nvPr/>
        </p:nvSpPr>
        <p:spPr>
          <a:xfrm>
            <a:off x="6355080" y="5212080"/>
            <a:ext cx="5166360" cy="960120"/>
          </a:xfrm>
          <a:prstGeom prst="rect">
            <a:avLst/>
          </a:prstGeom>
          <a:noFill/>
        </p:spPr>
        <p:txBody>
          <a:bodyPr wrap="square" lIns="0" tIns="0" rIns="0" bIns="0" rtlCol="0" anchor="t"/>
          <a:lstStyle/>
          <a:p>
            <a:pPr marL="0" indent="0">
              <a:buNone/>
            </a:pPr>
            <a:r>
              <a:rPr lang="en-US" sz="1800" dirty="0">
                <a:solidFill>
                  <a:srgbClr val="1C2A23"/>
                </a:solidFill>
                <a:latin typeface="Arial" panose="020B0604020202020204" pitchFamily="34" charset="0"/>
                <a:ea typeface="Arial" panose="020B0604020202020204" pitchFamily="34" charset="-122"/>
                <a:cs typeface="Arial" panose="020B0604020202020204" pitchFamily="34" charset="-120"/>
              </a:rPr>
              <a:t>Reviewer independence, real-money payments, cost coverage, security, effect on donor trust</a:t>
            </a:r>
            <a:endParaRPr lang="en-US" sz="1800" dirty="0"/>
          </a:p>
        </p:txBody>
      </p:sp>
      <p:sp>
        <p:nvSpPr>
          <p:cNvPr id="41"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06 · LIMITATIONS &amp; FUTURE IMPROVEMENTS</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Where it fits poorly, what could fail, what comes next</a:t>
            </a:r>
            <a:endParaRPr lang="en-US" sz="3200" dirty="0"/>
          </a:p>
        </p:txBody>
      </p:sp>
      <p:sp>
        <p:nvSpPr>
          <p:cNvPr id="4" name="Text 2"/>
          <p:cNvSpPr txBox="1"/>
          <p:nvPr/>
        </p:nvSpPr>
        <p:spPr>
          <a:xfrm>
            <a:off x="548640" y="6400800"/>
            <a:ext cx="10515600" cy="274320"/>
          </a:xfrm>
          <a:prstGeom prst="rect">
            <a:avLst/>
          </a:prstGeom>
          <a:noFill/>
        </p:spPr>
        <p:txBody>
          <a:bodyPr wrap="square" lIns="0" tIns="0" rIns="0" bIns="0" rtlCol="0" anchor="ctr"/>
          <a:lstStyle/>
          <a:p>
            <a:pPr marL="0" indent="0">
              <a:buNone/>
            </a:pPr>
            <a:r>
              <a:rPr lang="en-US" sz="1100" dirty="0">
                <a:solidFill>
                  <a:srgbClr val="45624F"/>
                </a:solidFill>
                <a:latin typeface="Arial" panose="020B0604020202020204" pitchFamily="34" charset="0"/>
                <a:ea typeface="Arial" panose="020B0604020202020204" pitchFamily="34" charset="-122"/>
                <a:cs typeface="Arial" panose="020B0604020202020204" pitchFamily="34" charset="-120"/>
              </a:rPr>
              <a:t>Source: Ethereum.org (2026).</a:t>
            </a:r>
            <a:endParaRPr lang="en-US" sz="1100" dirty="0"/>
          </a:p>
        </p:txBody>
      </p:sp>
      <p:sp>
        <p:nvSpPr>
          <p:cNvPr id="5" name="Shape 3"/>
          <p:cNvSpPr/>
          <p:nvPr/>
        </p:nvSpPr>
        <p:spPr>
          <a:xfrm>
            <a:off x="548640" y="1325880"/>
            <a:ext cx="3611880" cy="3200400"/>
          </a:xfrm>
          <a:prstGeom prst="roundRect">
            <a:avLst>
              <a:gd name="adj" fmla="val 2286"/>
            </a:avLst>
          </a:prstGeom>
          <a:solidFill>
            <a:srgbClr val="F7E4D4"/>
          </a:solidFill>
          <a:ln w="15875">
            <a:solidFill>
              <a:srgbClr val="9A4A22"/>
            </a:solidFill>
            <a:prstDash val="solid"/>
          </a:ln>
        </p:spPr>
        <p:txBody>
          <a:bodyPr/>
          <a:lstStyle/>
          <a:p>
            <a:endParaRPr lang="zh-CN" altLang="en-US"/>
          </a:p>
        </p:txBody>
      </p:sp>
      <p:pic>
        <p:nvPicPr>
          <p:cNvPr id="6" name="Image 0" descr="preencoded.png"/>
          <p:cNvPicPr>
            <a:picLocks noChangeAspect="1"/>
          </p:cNvPicPr>
          <p:nvPr/>
        </p:nvPicPr>
        <p:blipFill>
          <a:blip r:embed="rId3"/>
          <a:stretch>
            <a:fillRect/>
          </a:stretch>
        </p:blipFill>
        <p:spPr>
          <a:xfrm>
            <a:off x="713232" y="1444752"/>
            <a:ext cx="365760" cy="365760"/>
          </a:xfrm>
          <a:prstGeom prst="rect">
            <a:avLst/>
          </a:prstGeom>
        </p:spPr>
      </p:pic>
      <p:sp>
        <p:nvSpPr>
          <p:cNvPr id="7" name="Text 4"/>
          <p:cNvSpPr txBox="1"/>
          <p:nvPr/>
        </p:nvSpPr>
        <p:spPr>
          <a:xfrm>
            <a:off x="1188720" y="1444752"/>
            <a:ext cx="2834640" cy="365760"/>
          </a:xfrm>
          <a:prstGeom prst="rect">
            <a:avLst/>
          </a:prstGeom>
          <a:noFill/>
        </p:spPr>
        <p:txBody>
          <a:bodyPr wrap="square" lIns="0" tIns="0" rIns="0" bIns="0" rtlCol="0" anchor="ctr"/>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Poor </a:t>
            </a:r>
            <a:r>
              <a:rPr lang="en-US" altLang="zh-CN" b="1" dirty="0">
                <a:solidFill>
                  <a:srgbClr val="174D3A"/>
                </a:solidFill>
                <a:latin typeface="Arial" panose="020B0604020202020204" pitchFamily="34" charset="0"/>
                <a:ea typeface="Arial" panose="020B0604020202020204" pitchFamily="34" charset="-122"/>
                <a:cs typeface="Arial" panose="020B0604020202020204" pitchFamily="34" charset="-120"/>
              </a:rPr>
              <a:t>scenario</a:t>
            </a:r>
            <a:endParaRPr lang="en-US" sz="1800" dirty="0"/>
          </a:p>
        </p:txBody>
      </p:sp>
      <p:sp>
        <p:nvSpPr>
          <p:cNvPr id="8" name="Text 5"/>
          <p:cNvSpPr txBox="1"/>
          <p:nvPr/>
        </p:nvSpPr>
        <p:spPr>
          <a:xfrm>
            <a:off x="731520" y="1938528"/>
            <a:ext cx="3291840" cy="2560320"/>
          </a:xfrm>
          <a:prstGeom prst="rect">
            <a:avLst/>
          </a:prstGeom>
          <a:noFill/>
        </p:spPr>
        <p:txBody>
          <a:bodyPr wrap="square" lIns="0" tIns="0" rIns="0" bIns="0" rtlCol="0" anchor="t"/>
          <a:lstStyle/>
          <a:p>
            <a:pPr marL="342900" indent="-342900">
              <a:spcAft>
                <a:spcPts val="900"/>
              </a:spcAft>
              <a:buSzPct val="100000"/>
              <a:buChar char="•"/>
            </a:pPr>
            <a:r>
              <a:rPr lang="en-US" altLang="zh-CN" sz="1700" dirty="0"/>
              <a:t>T</a:t>
            </a:r>
            <a:r>
              <a:rPr lang="zh-CN" altLang="zh-CN" sz="1700" dirty="0"/>
              <a:t>he intended use of funds frequently changes</a:t>
            </a:r>
            <a:endParaRPr lang="en-US" altLang="zh-CN" sz="1700" dirty="0"/>
          </a:p>
          <a:p>
            <a:pPr marL="342900" indent="-342900">
              <a:spcAft>
                <a:spcPts val="9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Aid needed immediately</a:t>
            </a:r>
            <a:endParaRPr lang="en-US" sz="1700" dirty="0"/>
          </a:p>
          <a:p>
            <a:pPr marL="342900" indent="-342900">
              <a:spcAft>
                <a:spcPts val="900"/>
              </a:spcAft>
              <a:buSzPct val="100000"/>
              <a:buChar char="•"/>
            </a:pPr>
            <a:r>
              <a:rPr lang="zh-CN" altLang="zh-CN" dirty="0"/>
              <a:t>Donations requiring a high level of privacy</a:t>
            </a:r>
            <a:endParaRPr lang="en-US" altLang="zh-CN" dirty="0"/>
          </a:p>
          <a:p>
            <a:pPr marL="342900" indent="-342900">
              <a:spcAft>
                <a:spcPts val="900"/>
              </a:spcAft>
              <a:buSzPct val="100000"/>
              <a:buChar char="•"/>
            </a:pPr>
            <a:r>
              <a:rPr lang="zh-CN" altLang="zh-CN" sz="1700" dirty="0"/>
              <a:t>Expenses that are difficult to verify</a:t>
            </a:r>
            <a:endParaRPr lang="en-US" sz="1700" dirty="0"/>
          </a:p>
        </p:txBody>
      </p:sp>
      <p:sp>
        <p:nvSpPr>
          <p:cNvPr id="9" name="Shape 6"/>
          <p:cNvSpPr/>
          <p:nvPr/>
        </p:nvSpPr>
        <p:spPr>
          <a:xfrm>
            <a:off x="4297680" y="1325880"/>
            <a:ext cx="3611880" cy="3200400"/>
          </a:xfrm>
          <a:prstGeom prst="roundRect">
            <a:avLst>
              <a:gd name="adj" fmla="val 2286"/>
            </a:avLst>
          </a:prstGeom>
          <a:solidFill>
            <a:srgbClr val="F5FAF6"/>
          </a:solidFill>
          <a:ln w="15875">
            <a:solidFill>
              <a:srgbClr val="A6C8B1"/>
            </a:solidFill>
            <a:prstDash val="solid"/>
          </a:ln>
        </p:spPr>
        <p:txBody>
          <a:bodyPr/>
          <a:lstStyle/>
          <a:p>
            <a:endParaRPr lang="zh-CN" altLang="en-US"/>
          </a:p>
        </p:txBody>
      </p:sp>
      <p:pic>
        <p:nvPicPr>
          <p:cNvPr id="10" name="Image 1" descr="preencoded.png"/>
          <p:cNvPicPr>
            <a:picLocks noChangeAspect="1"/>
          </p:cNvPicPr>
          <p:nvPr/>
        </p:nvPicPr>
        <p:blipFill>
          <a:blip r:embed="rId4"/>
          <a:stretch>
            <a:fillRect/>
          </a:stretch>
        </p:blipFill>
        <p:spPr>
          <a:xfrm>
            <a:off x="4462272" y="1444752"/>
            <a:ext cx="365760" cy="365760"/>
          </a:xfrm>
          <a:prstGeom prst="rect">
            <a:avLst/>
          </a:prstGeom>
        </p:spPr>
      </p:pic>
      <p:sp>
        <p:nvSpPr>
          <p:cNvPr id="11" name="Text 7"/>
          <p:cNvSpPr txBox="1"/>
          <p:nvPr/>
        </p:nvSpPr>
        <p:spPr>
          <a:xfrm>
            <a:off x="4937760" y="1444752"/>
            <a:ext cx="2834640" cy="365760"/>
          </a:xfrm>
          <a:prstGeom prst="rect">
            <a:avLst/>
          </a:prstGeom>
          <a:noFill/>
        </p:spPr>
        <p:txBody>
          <a:bodyPr wrap="square" lIns="0" tIns="0" rIns="0" bIns="0" rtlCol="0" anchor="ctr"/>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Risks after launch</a:t>
            </a:r>
            <a:endParaRPr lang="en-US" sz="1800" dirty="0"/>
          </a:p>
        </p:txBody>
      </p:sp>
      <p:sp>
        <p:nvSpPr>
          <p:cNvPr id="12" name="Text 8"/>
          <p:cNvSpPr txBox="1"/>
          <p:nvPr/>
        </p:nvSpPr>
        <p:spPr>
          <a:xfrm>
            <a:off x="4480560" y="1938528"/>
            <a:ext cx="3291840" cy="2560320"/>
          </a:xfrm>
          <a:prstGeom prst="rect">
            <a:avLst/>
          </a:prstGeom>
          <a:noFill/>
        </p:spPr>
        <p:txBody>
          <a:bodyPr wrap="square" lIns="0" tIns="0" rIns="0" bIns="0" rtlCol="0" anchor="t"/>
          <a:lstStyle/>
          <a:p>
            <a:pPr marL="342900" indent="-342900">
              <a:spcAft>
                <a:spcPts val="2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False off-chain evidence</a:t>
            </a:r>
            <a:endParaRPr lang="en-US" sz="1700" dirty="0"/>
          </a:p>
          <a:p>
            <a:pPr marL="342900" indent="-342900">
              <a:spcAft>
                <a:spcPts val="2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Reviewer collusion or stalling</a:t>
            </a:r>
            <a:endParaRPr lang="en-US" sz="1700" dirty="0"/>
          </a:p>
          <a:p>
            <a:pPr marL="342900" indent="-342900">
              <a:spcAft>
                <a:spcPts val="2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Privacy of public data</a:t>
            </a:r>
            <a:endParaRPr lang="en-US" sz="1700" dirty="0"/>
          </a:p>
          <a:p>
            <a:pPr marL="342900" indent="-342900">
              <a:spcAft>
                <a:spcPts val="2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Key management, lost wallets</a:t>
            </a:r>
            <a:endParaRPr lang="en-US" sz="1700" dirty="0"/>
          </a:p>
          <a:p>
            <a:pPr marL="342900" indent="-342900">
              <a:spcAft>
                <a:spcPts val="2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Contract vulnerabilities</a:t>
            </a:r>
            <a:endParaRPr lang="en-US" sz="1700" dirty="0"/>
          </a:p>
          <a:p>
            <a:pPr marL="342900" indent="-342900">
              <a:spcAft>
                <a:spcPts val="2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Operating and gas costs</a:t>
            </a:r>
            <a:endParaRPr lang="en-US" sz="1700" dirty="0"/>
          </a:p>
          <a:p>
            <a:pPr marL="342900" indent="-342900">
              <a:spcAft>
                <a:spcPts val="2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Payment and redemption links</a:t>
            </a:r>
            <a:endParaRPr lang="en-US" sz="1700" dirty="0"/>
          </a:p>
        </p:txBody>
      </p:sp>
      <p:sp>
        <p:nvSpPr>
          <p:cNvPr id="13" name="Shape 9"/>
          <p:cNvSpPr/>
          <p:nvPr/>
        </p:nvSpPr>
        <p:spPr>
          <a:xfrm>
            <a:off x="8046720" y="1325880"/>
            <a:ext cx="3611880" cy="3200400"/>
          </a:xfrm>
          <a:prstGeom prst="roundRect">
            <a:avLst>
              <a:gd name="adj" fmla="val 2286"/>
            </a:avLst>
          </a:prstGeom>
          <a:solidFill>
            <a:srgbClr val="F5FAF6"/>
          </a:solidFill>
          <a:ln w="15875">
            <a:solidFill>
              <a:srgbClr val="A6C8B1"/>
            </a:solidFill>
            <a:prstDash val="solid"/>
          </a:ln>
        </p:spPr>
        <p:txBody>
          <a:bodyPr/>
          <a:lstStyle/>
          <a:p>
            <a:endParaRPr lang="zh-CN" altLang="en-US"/>
          </a:p>
        </p:txBody>
      </p:sp>
      <p:pic>
        <p:nvPicPr>
          <p:cNvPr id="14" name="Image 2" descr="preencoded.png"/>
          <p:cNvPicPr>
            <a:picLocks noChangeAspect="1"/>
          </p:cNvPicPr>
          <p:nvPr/>
        </p:nvPicPr>
        <p:blipFill>
          <a:blip r:embed="rId5"/>
          <a:stretch>
            <a:fillRect/>
          </a:stretch>
        </p:blipFill>
        <p:spPr>
          <a:xfrm>
            <a:off x="8211312" y="1444752"/>
            <a:ext cx="365760" cy="365760"/>
          </a:xfrm>
          <a:prstGeom prst="rect">
            <a:avLst/>
          </a:prstGeom>
        </p:spPr>
      </p:pic>
      <p:sp>
        <p:nvSpPr>
          <p:cNvPr id="15" name="Text 10"/>
          <p:cNvSpPr txBox="1"/>
          <p:nvPr/>
        </p:nvSpPr>
        <p:spPr>
          <a:xfrm>
            <a:off x="8686800" y="1444752"/>
            <a:ext cx="2834640" cy="365760"/>
          </a:xfrm>
          <a:prstGeom prst="rect">
            <a:avLst/>
          </a:prstGeom>
          <a:noFill/>
        </p:spPr>
        <p:txBody>
          <a:bodyPr wrap="square" lIns="0" tIns="0" rIns="0" bIns="0" rtlCol="0" anchor="ctr"/>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Local demo limits</a:t>
            </a:r>
            <a:endParaRPr lang="en-US" sz="1800" dirty="0"/>
          </a:p>
        </p:txBody>
      </p:sp>
      <p:sp>
        <p:nvSpPr>
          <p:cNvPr id="16" name="Text 11"/>
          <p:cNvSpPr txBox="1"/>
          <p:nvPr/>
        </p:nvSpPr>
        <p:spPr>
          <a:xfrm>
            <a:off x="8229600" y="1938528"/>
            <a:ext cx="3291840" cy="2560320"/>
          </a:xfrm>
          <a:prstGeom prst="rect">
            <a:avLst/>
          </a:prstGeom>
          <a:noFill/>
        </p:spPr>
        <p:txBody>
          <a:bodyPr wrap="square" lIns="0" tIns="0" rIns="0" bIns="0" rtlCol="0" anchor="t"/>
          <a:lstStyle/>
          <a:p>
            <a:pPr marL="342900" indent="-342900">
              <a:spcAft>
                <a:spcPts val="9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History can be reset</a:t>
            </a:r>
            <a:endParaRPr lang="en-US" sz="1700" dirty="0"/>
          </a:p>
          <a:p>
            <a:pPr marL="342900" indent="-342900">
              <a:spcAft>
                <a:spcPts val="9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No validator security</a:t>
            </a:r>
            <a:endParaRPr lang="en-US" sz="1700" dirty="0"/>
          </a:p>
          <a:p>
            <a:pPr marL="342900" indent="-342900">
              <a:spcAft>
                <a:spcPts val="9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No real cash settlement</a:t>
            </a:r>
            <a:endParaRPr lang="en-US" sz="1700" dirty="0"/>
          </a:p>
          <a:p>
            <a:pPr marL="342900" indent="-342900">
              <a:spcAft>
                <a:spcPts val="900"/>
              </a:spcAft>
              <a:buSzPct val="100000"/>
              <a:buChar char="•"/>
            </a:pPr>
            <a:r>
              <a:rPr lang="en-US" sz="1700" dirty="0">
                <a:solidFill>
                  <a:srgbClr val="1C2A23"/>
                </a:solidFill>
                <a:latin typeface="Arial" panose="020B0604020202020204" pitchFamily="34" charset="0"/>
                <a:ea typeface="Arial" panose="020B0604020202020204" pitchFamily="34" charset="-122"/>
                <a:cs typeface="Arial" panose="020B0604020202020204" pitchFamily="34" charset="-120"/>
              </a:rPr>
              <a:t>Role switching ≠ governance</a:t>
            </a:r>
            <a:endParaRPr lang="en-US" sz="1700" dirty="0"/>
          </a:p>
        </p:txBody>
      </p:sp>
      <p:sp>
        <p:nvSpPr>
          <p:cNvPr id="17" name="Text 12"/>
          <p:cNvSpPr txBox="1"/>
          <p:nvPr/>
        </p:nvSpPr>
        <p:spPr>
          <a:xfrm>
            <a:off x="548640" y="4681728"/>
            <a:ext cx="4572000" cy="310896"/>
          </a:xfrm>
          <a:prstGeom prst="rect">
            <a:avLst/>
          </a:prstGeom>
          <a:noFill/>
        </p:spPr>
        <p:txBody>
          <a:bodyPr wrap="square" lIns="0" tIns="0" rIns="0" bIns="0" rtlCol="0" anchor="t"/>
          <a:lstStyle/>
          <a:p>
            <a:pPr marL="0" indent="0">
              <a:buNone/>
            </a:pPr>
            <a:r>
              <a:rPr lang="en-US" sz="1800" b="1" dirty="0">
                <a:solidFill>
                  <a:srgbClr val="174D3A"/>
                </a:solidFill>
                <a:latin typeface="Arial" panose="020B0604020202020204" pitchFamily="34" charset="0"/>
                <a:ea typeface="Arial" panose="020B0604020202020204" pitchFamily="34" charset="-122"/>
                <a:cs typeface="Arial" panose="020B0604020202020204" pitchFamily="34" charset="-120"/>
              </a:rPr>
              <a:t>Next steps, each mapped to a limitation</a:t>
            </a:r>
            <a:endParaRPr lang="en-US" sz="1800" dirty="0"/>
          </a:p>
        </p:txBody>
      </p:sp>
      <p:sp>
        <p:nvSpPr>
          <p:cNvPr id="18" name="Text 13"/>
          <p:cNvSpPr txBox="1"/>
          <p:nvPr/>
        </p:nvSpPr>
        <p:spPr>
          <a:xfrm>
            <a:off x="5257800" y="4700016"/>
            <a:ext cx="2011680" cy="274320"/>
          </a:xfrm>
          <a:prstGeom prst="roundRect">
            <a:avLst>
              <a:gd name="adj" fmla="val 50000"/>
            </a:avLst>
          </a:prstGeom>
          <a:solidFill>
            <a:srgbClr val="F7E4D4"/>
          </a:solidFill>
          <a:ln w="12700">
            <a:solidFill>
              <a:srgbClr val="9A4A22"/>
            </a:solidFill>
          </a:ln>
        </p:spPr>
        <p:txBody>
          <a:bodyPr wrap="square" lIns="0" tIns="0" rIns="0" bIns="0" rtlCol="0" anchor="ctr"/>
          <a:lstStyle/>
          <a:p>
            <a:pPr marL="0" indent="0" algn="ctr">
              <a:buNone/>
            </a:pPr>
            <a:r>
              <a:rPr lang="en-US" sz="1100" b="1" dirty="0">
                <a:solidFill>
                  <a:srgbClr val="9A4A22"/>
                </a:solidFill>
                <a:latin typeface="Arial" panose="020B0604020202020204" pitchFamily="34" charset="0"/>
                <a:ea typeface="Arial" panose="020B0604020202020204" pitchFamily="34" charset="-122"/>
                <a:cs typeface="Arial" panose="020B0604020202020204" pitchFamily="34" charset="-120"/>
              </a:rPr>
              <a:t>PROPOSED / NEXT STEP</a:t>
            </a:r>
            <a:endParaRPr lang="en-US" sz="1100" dirty="0"/>
          </a:p>
        </p:txBody>
      </p:sp>
      <p:sp>
        <p:nvSpPr>
          <p:cNvPr id="19" name="Shape 14"/>
          <p:cNvSpPr/>
          <p:nvPr/>
        </p:nvSpPr>
        <p:spPr>
          <a:xfrm>
            <a:off x="548640" y="5074920"/>
            <a:ext cx="2148840" cy="1170432"/>
          </a:xfrm>
          <a:prstGeom prst="roundRect">
            <a:avLst>
              <a:gd name="adj" fmla="val 6250"/>
            </a:avLst>
          </a:prstGeom>
          <a:solidFill>
            <a:srgbClr val="FFFFFF"/>
          </a:solidFill>
          <a:ln w="12700">
            <a:solidFill>
              <a:srgbClr val="9A4A22"/>
            </a:solidFill>
            <a:prstDash val="solid"/>
          </a:ln>
        </p:spPr>
        <p:txBody>
          <a:bodyPr/>
          <a:lstStyle/>
          <a:p>
            <a:endParaRPr lang="zh-CN" altLang="en-US"/>
          </a:p>
        </p:txBody>
      </p:sp>
      <p:sp>
        <p:nvSpPr>
          <p:cNvPr id="20" name="Text 15"/>
          <p:cNvSpPr txBox="1"/>
          <p:nvPr/>
        </p:nvSpPr>
        <p:spPr>
          <a:xfrm>
            <a:off x="658368" y="5138928"/>
            <a:ext cx="1901952" cy="5029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Public testnet pilot</a:t>
            </a:r>
            <a:endParaRPr lang="en-US" sz="1500" dirty="0"/>
          </a:p>
        </p:txBody>
      </p:sp>
      <p:sp>
        <p:nvSpPr>
          <p:cNvPr id="21" name="Text 16"/>
          <p:cNvSpPr txBox="1"/>
          <p:nvPr/>
        </p:nvSpPr>
        <p:spPr>
          <a:xfrm>
            <a:off x="658368" y="5504688"/>
            <a:ext cx="1938528" cy="640080"/>
          </a:xfrm>
          <a:prstGeom prst="rect">
            <a:avLst/>
          </a:prstGeom>
          <a:noFill/>
        </p:spPr>
        <p:txBody>
          <a:bodyPr wrap="square" lIns="0" tIns="0" rIns="0" bIns="0" rtlCol="0" anchor="t"/>
          <a:lstStyle/>
          <a:p>
            <a:pPr marL="0" indent="0">
              <a:buNone/>
            </a:pPr>
            <a:r>
              <a:rPr lang="en-US" sz="1500" dirty="0">
                <a:solidFill>
                  <a:srgbClr val="45624F"/>
                </a:solidFill>
                <a:latin typeface="Arial" panose="020B0604020202020204" pitchFamily="34" charset="0"/>
                <a:ea typeface="Arial" panose="020B0604020202020204" pitchFamily="34" charset="-122"/>
                <a:cs typeface="Arial" panose="020B0604020202020204" pitchFamily="34" charset="-120"/>
              </a:rPr>
              <a:t>→ reset history, validators</a:t>
            </a:r>
            <a:endParaRPr lang="en-US" sz="1500" dirty="0"/>
          </a:p>
        </p:txBody>
      </p:sp>
      <p:sp>
        <p:nvSpPr>
          <p:cNvPr id="22" name="Shape 17"/>
          <p:cNvSpPr/>
          <p:nvPr/>
        </p:nvSpPr>
        <p:spPr>
          <a:xfrm>
            <a:off x="2788920" y="5074920"/>
            <a:ext cx="2148840" cy="1170432"/>
          </a:xfrm>
          <a:prstGeom prst="roundRect">
            <a:avLst>
              <a:gd name="adj" fmla="val 6250"/>
            </a:avLst>
          </a:prstGeom>
          <a:solidFill>
            <a:srgbClr val="FFFFFF"/>
          </a:solidFill>
          <a:ln w="12700">
            <a:solidFill>
              <a:srgbClr val="9A4A22"/>
            </a:solidFill>
            <a:prstDash val="solid"/>
          </a:ln>
        </p:spPr>
        <p:txBody>
          <a:bodyPr/>
          <a:lstStyle/>
          <a:p>
            <a:endParaRPr lang="zh-CN" altLang="en-US"/>
          </a:p>
        </p:txBody>
      </p:sp>
      <p:sp>
        <p:nvSpPr>
          <p:cNvPr id="23" name="Text 18"/>
          <p:cNvSpPr txBox="1"/>
          <p:nvPr/>
        </p:nvSpPr>
        <p:spPr>
          <a:xfrm>
            <a:off x="2898648" y="5138928"/>
            <a:ext cx="1901952" cy="5029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Independent review</a:t>
            </a:r>
            <a:endParaRPr lang="en-US" sz="1500" dirty="0"/>
          </a:p>
        </p:txBody>
      </p:sp>
      <p:sp>
        <p:nvSpPr>
          <p:cNvPr id="24" name="Text 19"/>
          <p:cNvSpPr txBox="1"/>
          <p:nvPr/>
        </p:nvSpPr>
        <p:spPr>
          <a:xfrm>
            <a:off x="2898648" y="5504688"/>
            <a:ext cx="1938528" cy="640080"/>
          </a:xfrm>
          <a:prstGeom prst="rect">
            <a:avLst/>
          </a:prstGeom>
          <a:noFill/>
        </p:spPr>
        <p:txBody>
          <a:bodyPr wrap="square" lIns="0" tIns="0" rIns="0" bIns="0" rtlCol="0" anchor="t"/>
          <a:lstStyle/>
          <a:p>
            <a:pPr marL="0" indent="0">
              <a:buNone/>
            </a:pPr>
            <a:r>
              <a:rPr lang="en-US" sz="1500" dirty="0">
                <a:solidFill>
                  <a:srgbClr val="45624F"/>
                </a:solidFill>
                <a:latin typeface="Arial" panose="020B0604020202020204" pitchFamily="34" charset="0"/>
                <a:ea typeface="Arial" panose="020B0604020202020204" pitchFamily="34" charset="-122"/>
                <a:cs typeface="Arial" panose="020B0604020202020204" pitchFamily="34" charset="-120"/>
              </a:rPr>
              <a:t>→ collusion, false evidence</a:t>
            </a:r>
            <a:endParaRPr lang="en-US" sz="1500" dirty="0"/>
          </a:p>
        </p:txBody>
      </p:sp>
      <p:sp>
        <p:nvSpPr>
          <p:cNvPr id="25" name="Shape 20"/>
          <p:cNvSpPr/>
          <p:nvPr/>
        </p:nvSpPr>
        <p:spPr>
          <a:xfrm>
            <a:off x="5029200" y="5074920"/>
            <a:ext cx="2148840" cy="1170432"/>
          </a:xfrm>
          <a:prstGeom prst="roundRect">
            <a:avLst>
              <a:gd name="adj" fmla="val 6250"/>
            </a:avLst>
          </a:prstGeom>
          <a:solidFill>
            <a:srgbClr val="FFFFFF"/>
          </a:solidFill>
          <a:ln w="12700">
            <a:solidFill>
              <a:srgbClr val="9A4A22"/>
            </a:solidFill>
            <a:prstDash val="solid"/>
          </a:ln>
        </p:spPr>
        <p:txBody>
          <a:bodyPr/>
          <a:lstStyle/>
          <a:p>
            <a:endParaRPr lang="zh-CN" altLang="en-US"/>
          </a:p>
        </p:txBody>
      </p:sp>
      <p:sp>
        <p:nvSpPr>
          <p:cNvPr id="26" name="Text 21"/>
          <p:cNvSpPr txBox="1"/>
          <p:nvPr/>
        </p:nvSpPr>
        <p:spPr>
          <a:xfrm>
            <a:off x="5138928" y="5138928"/>
            <a:ext cx="1901952" cy="5029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Security review</a:t>
            </a:r>
            <a:endParaRPr lang="en-US" sz="1500" dirty="0"/>
          </a:p>
        </p:txBody>
      </p:sp>
      <p:sp>
        <p:nvSpPr>
          <p:cNvPr id="27" name="Text 22"/>
          <p:cNvSpPr txBox="1"/>
          <p:nvPr/>
        </p:nvSpPr>
        <p:spPr>
          <a:xfrm>
            <a:off x="5138928" y="5504688"/>
            <a:ext cx="1938528" cy="640080"/>
          </a:xfrm>
          <a:prstGeom prst="rect">
            <a:avLst/>
          </a:prstGeom>
          <a:noFill/>
        </p:spPr>
        <p:txBody>
          <a:bodyPr wrap="square" lIns="0" tIns="0" rIns="0" bIns="0" rtlCol="0" anchor="t"/>
          <a:lstStyle/>
          <a:p>
            <a:pPr marL="0" indent="0">
              <a:buNone/>
            </a:pPr>
            <a:r>
              <a:rPr lang="en-US" sz="1500" dirty="0">
                <a:solidFill>
                  <a:srgbClr val="45624F"/>
                </a:solidFill>
                <a:latin typeface="Arial" panose="020B0604020202020204" pitchFamily="34" charset="0"/>
                <a:ea typeface="Arial" panose="020B0604020202020204" pitchFamily="34" charset="-122"/>
                <a:cs typeface="Arial" panose="020B0604020202020204" pitchFamily="34" charset="-120"/>
              </a:rPr>
              <a:t>→ contract bugs, keys</a:t>
            </a:r>
            <a:endParaRPr lang="en-US" sz="1500" dirty="0"/>
          </a:p>
        </p:txBody>
      </p:sp>
      <p:sp>
        <p:nvSpPr>
          <p:cNvPr id="28" name="Shape 23"/>
          <p:cNvSpPr/>
          <p:nvPr/>
        </p:nvSpPr>
        <p:spPr>
          <a:xfrm>
            <a:off x="7269480" y="5074920"/>
            <a:ext cx="2148840" cy="1170432"/>
          </a:xfrm>
          <a:prstGeom prst="roundRect">
            <a:avLst>
              <a:gd name="adj" fmla="val 6250"/>
            </a:avLst>
          </a:prstGeom>
          <a:solidFill>
            <a:srgbClr val="FFFFFF"/>
          </a:solidFill>
          <a:ln w="12700">
            <a:solidFill>
              <a:srgbClr val="9A4A22"/>
            </a:solidFill>
            <a:prstDash val="solid"/>
          </a:ln>
        </p:spPr>
        <p:txBody>
          <a:bodyPr/>
          <a:lstStyle/>
          <a:p>
            <a:endParaRPr lang="zh-CN" altLang="en-US"/>
          </a:p>
        </p:txBody>
      </p:sp>
      <p:sp>
        <p:nvSpPr>
          <p:cNvPr id="29" name="Text 24"/>
          <p:cNvSpPr txBox="1"/>
          <p:nvPr/>
        </p:nvSpPr>
        <p:spPr>
          <a:xfrm>
            <a:off x="7379208" y="5138928"/>
            <a:ext cx="1901952" cy="5029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Privacy design</a:t>
            </a:r>
            <a:endParaRPr lang="en-US" sz="1500" dirty="0"/>
          </a:p>
        </p:txBody>
      </p:sp>
      <p:sp>
        <p:nvSpPr>
          <p:cNvPr id="30" name="Text 25"/>
          <p:cNvSpPr txBox="1"/>
          <p:nvPr/>
        </p:nvSpPr>
        <p:spPr>
          <a:xfrm>
            <a:off x="7379208" y="5504688"/>
            <a:ext cx="1938528" cy="640080"/>
          </a:xfrm>
          <a:prstGeom prst="rect">
            <a:avLst/>
          </a:prstGeom>
          <a:noFill/>
        </p:spPr>
        <p:txBody>
          <a:bodyPr wrap="square" lIns="0" tIns="0" rIns="0" bIns="0" rtlCol="0" anchor="t"/>
          <a:lstStyle/>
          <a:p>
            <a:pPr marL="0" indent="0">
              <a:buNone/>
            </a:pPr>
            <a:r>
              <a:rPr lang="en-US" sz="1500" dirty="0">
                <a:solidFill>
                  <a:srgbClr val="45624F"/>
                </a:solidFill>
                <a:latin typeface="Arial" panose="020B0604020202020204" pitchFamily="34" charset="0"/>
                <a:ea typeface="Arial" panose="020B0604020202020204" pitchFamily="34" charset="-122"/>
                <a:cs typeface="Arial" panose="020B0604020202020204" pitchFamily="34" charset="-120"/>
              </a:rPr>
              <a:t>→ public data</a:t>
            </a:r>
            <a:endParaRPr lang="en-US" sz="1500" dirty="0"/>
          </a:p>
        </p:txBody>
      </p:sp>
      <p:sp>
        <p:nvSpPr>
          <p:cNvPr id="31" name="Shape 26"/>
          <p:cNvSpPr/>
          <p:nvPr/>
        </p:nvSpPr>
        <p:spPr>
          <a:xfrm>
            <a:off x="9509760" y="5074920"/>
            <a:ext cx="2148840" cy="1170432"/>
          </a:xfrm>
          <a:prstGeom prst="roundRect">
            <a:avLst>
              <a:gd name="adj" fmla="val 6250"/>
            </a:avLst>
          </a:prstGeom>
          <a:solidFill>
            <a:srgbClr val="FFFFFF"/>
          </a:solidFill>
          <a:ln w="12700">
            <a:solidFill>
              <a:srgbClr val="9A4A22"/>
            </a:solidFill>
            <a:prstDash val="solid"/>
          </a:ln>
        </p:spPr>
        <p:txBody>
          <a:bodyPr/>
          <a:lstStyle/>
          <a:p>
            <a:endParaRPr lang="zh-CN" altLang="en-US"/>
          </a:p>
        </p:txBody>
      </p:sp>
      <p:sp>
        <p:nvSpPr>
          <p:cNvPr id="32" name="Text 27"/>
          <p:cNvSpPr txBox="1"/>
          <p:nvPr/>
        </p:nvSpPr>
        <p:spPr>
          <a:xfrm>
            <a:off x="9619488" y="5138928"/>
            <a:ext cx="1901952" cy="502920"/>
          </a:xfrm>
          <a:prstGeom prst="rect">
            <a:avLst/>
          </a:prstGeom>
          <a:noFill/>
        </p:spPr>
        <p:txBody>
          <a:bodyPr wrap="square" lIns="0" tIns="0" rIns="0" bIns="0" rtlCol="0" anchor="t"/>
          <a:lstStyle/>
          <a:p>
            <a:pPr marL="0" indent="0">
              <a:buNone/>
            </a:pPr>
            <a:r>
              <a:rPr lang="en-US" sz="1500" b="1" dirty="0">
                <a:solidFill>
                  <a:srgbClr val="174D3A"/>
                </a:solidFill>
                <a:latin typeface="Arial" panose="020B0604020202020204" pitchFamily="34" charset="0"/>
                <a:ea typeface="Arial" panose="020B0604020202020204" pitchFamily="34" charset="-122"/>
                <a:cs typeface="Arial" panose="020B0604020202020204" pitchFamily="34" charset="-120"/>
              </a:rPr>
              <a:t>Cost &amp; payment test</a:t>
            </a:r>
            <a:endParaRPr lang="en-US" sz="1500" dirty="0"/>
          </a:p>
        </p:txBody>
      </p:sp>
      <p:sp>
        <p:nvSpPr>
          <p:cNvPr id="33" name="Text 28"/>
          <p:cNvSpPr txBox="1"/>
          <p:nvPr/>
        </p:nvSpPr>
        <p:spPr>
          <a:xfrm>
            <a:off x="9619488" y="5504688"/>
            <a:ext cx="1938528" cy="640080"/>
          </a:xfrm>
          <a:prstGeom prst="rect">
            <a:avLst/>
          </a:prstGeom>
          <a:noFill/>
        </p:spPr>
        <p:txBody>
          <a:bodyPr wrap="square" lIns="0" tIns="0" rIns="0" bIns="0" rtlCol="0" anchor="t"/>
          <a:lstStyle/>
          <a:p>
            <a:pPr marL="0" indent="0">
              <a:buNone/>
            </a:pPr>
            <a:r>
              <a:rPr lang="en-US" sz="1500" dirty="0">
                <a:solidFill>
                  <a:srgbClr val="45624F"/>
                </a:solidFill>
                <a:latin typeface="Arial" panose="020B0604020202020204" pitchFamily="34" charset="0"/>
                <a:ea typeface="Arial" panose="020B0604020202020204" pitchFamily="34" charset="-122"/>
                <a:cs typeface="Arial" panose="020B0604020202020204" pitchFamily="34" charset="-120"/>
              </a:rPr>
              <a:t>→ fees, gas, settlement</a:t>
            </a:r>
            <a:endParaRPr lang="en-US" sz="1500" dirty="0"/>
          </a:p>
        </p:txBody>
      </p:sp>
      <p:sp>
        <p:nvSpPr>
          <p:cNvPr id="34"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92608"/>
            <a:ext cx="8229600" cy="228600"/>
          </a:xfrm>
          <a:prstGeom prst="rect">
            <a:avLst/>
          </a:prstGeom>
          <a:noFill/>
        </p:spPr>
        <p:txBody>
          <a:bodyPr wrap="square" lIns="0" tIns="0" rIns="0" bIns="0" rtlCol="0" anchor="t"/>
          <a:lstStyle/>
          <a:p>
            <a:pPr marL="0" indent="0">
              <a:buNone/>
            </a:pPr>
            <a:r>
              <a:rPr lang="en-US" sz="1200" b="1" kern="0" spc="100" dirty="0">
                <a:solidFill>
                  <a:srgbClr val="2B8060"/>
                </a:solidFill>
                <a:latin typeface="Arial" panose="020B0604020202020204" pitchFamily="34" charset="0"/>
                <a:ea typeface="Arial" panose="020B0604020202020204" pitchFamily="34" charset="-122"/>
                <a:cs typeface="Arial" panose="020B0604020202020204" pitchFamily="34" charset="-120"/>
              </a:rPr>
              <a:t>REFERENCES</a:t>
            </a:r>
            <a:endParaRPr lang="en-US" sz="1200" dirty="0"/>
          </a:p>
        </p:txBody>
      </p:sp>
      <p:sp>
        <p:nvSpPr>
          <p:cNvPr id="3" name="Text 1"/>
          <p:cNvSpPr txBox="1"/>
          <p:nvPr/>
        </p:nvSpPr>
        <p:spPr>
          <a:xfrm>
            <a:off x="548640" y="548640"/>
            <a:ext cx="11064240" cy="566928"/>
          </a:xfrm>
          <a:prstGeom prst="rect">
            <a:avLst/>
          </a:prstGeom>
          <a:noFill/>
        </p:spPr>
        <p:txBody>
          <a:bodyPr wrap="square" lIns="0" tIns="0" rIns="0" bIns="0" rtlCol="0" anchor="ctr"/>
          <a:lstStyle/>
          <a:p>
            <a:pPr marL="0" indent="0">
              <a:buNone/>
            </a:pPr>
            <a:r>
              <a:rPr lang="en-US" sz="3200" b="1" dirty="0">
                <a:solidFill>
                  <a:srgbClr val="174D3A"/>
                </a:solidFill>
                <a:latin typeface="Arial" panose="020B0604020202020204" pitchFamily="34" charset="0"/>
                <a:ea typeface="Arial" panose="020B0604020202020204" pitchFamily="34" charset="-122"/>
                <a:cs typeface="Arial" panose="020B0604020202020204" pitchFamily="34" charset="-120"/>
              </a:rPr>
              <a:t>Reference list</a:t>
            </a:r>
            <a:endParaRPr lang="en-US" sz="3200" dirty="0"/>
          </a:p>
        </p:txBody>
      </p:sp>
      <p:sp>
        <p:nvSpPr>
          <p:cNvPr id="4" name="Text 2"/>
          <p:cNvSpPr txBox="1"/>
          <p:nvPr/>
        </p:nvSpPr>
        <p:spPr>
          <a:xfrm>
            <a:off x="548640" y="6400800"/>
            <a:ext cx="10515600" cy="274320"/>
          </a:xfrm>
          <a:prstGeom prst="rect">
            <a:avLst/>
          </a:prstGeom>
          <a:noFill/>
        </p:spPr>
        <p:txBody>
          <a:bodyPr wrap="square" lIns="0" tIns="0" rIns="0" bIns="0" rtlCol="0" anchor="ctr"/>
          <a:lstStyle/>
          <a:p>
            <a:pPr marL="0" indent="0">
              <a:buNone/>
            </a:pPr>
            <a:r>
              <a:rPr lang="en-US" sz="1100" dirty="0">
                <a:solidFill>
                  <a:srgbClr val="45624F"/>
                </a:solidFill>
                <a:latin typeface="Arial" panose="020B0604020202020204" pitchFamily="34" charset="0"/>
                <a:ea typeface="Arial" panose="020B0604020202020204" pitchFamily="34" charset="-122"/>
                <a:cs typeface="Arial" panose="020B0604020202020204" pitchFamily="34" charset="-120"/>
              </a:rPr>
              <a:t>In-text citations use author–date form. Long report URLs are shown at publisher level; full links are in the speaker notes.</a:t>
            </a:r>
            <a:endParaRPr lang="en-US" sz="1100" dirty="0"/>
          </a:p>
        </p:txBody>
      </p:sp>
      <p:sp>
        <p:nvSpPr>
          <p:cNvPr id="6" name="Text 4"/>
          <p:cNvSpPr txBox="1"/>
          <p:nvPr/>
        </p:nvSpPr>
        <p:spPr>
          <a:xfrm>
            <a:off x="548640" y="1645920"/>
            <a:ext cx="5440680" cy="4572000"/>
          </a:xfrm>
          <a:prstGeom prst="rect">
            <a:avLst/>
          </a:prstGeom>
          <a:noFill/>
        </p:spPr>
        <p:txBody>
          <a:bodyPr wrap="square" lIns="0" tIns="0" rIns="0" bIns="0" rtlCol="0" anchor="t"/>
          <a:lstStyle/>
          <a:p>
            <a:pPr marL="228600" indent="-228600">
              <a:spcAft>
                <a:spcPts val="500"/>
              </a:spcAft>
              <a:buNone/>
            </a:pPr>
            <a:r>
              <a:rPr sz="1200" i="0">
                <a:solidFill>
                  <a:srgbClr val="1C2A23"/>
                </a:solidFill>
                <a:latin typeface="Arial" panose="020B0604020202020204"/>
              </a:rPr>
              <a:t>Charities Aid Foundation (2025) </a:t>
            </a:r>
            <a:r>
              <a:rPr sz="1200" i="1">
                <a:solidFill>
                  <a:srgbClr val="1C2A23"/>
                </a:solidFill>
                <a:latin typeface="Arial" panose="020B0604020202020204"/>
              </a:rPr>
              <a:t>World giving report 2025</a:t>
            </a:r>
            <a:r>
              <a:rPr sz="1200" i="0">
                <a:solidFill>
                  <a:srgbClr val="1C2A23"/>
                </a:solidFill>
                <a:latin typeface="Arial" panose="020B0604020202020204"/>
              </a:rPr>
              <a:t>. London: Charities Aid Foundation. Available at: https://www.worldgivingreport.org (Accessed: 16 October 2026).</a:t>
            </a:r>
            <a:endParaRPr lang="en-US" sz="1400" dirty="0"/>
          </a:p>
          <a:p>
            <a:pPr marL="228600" indent="-228600">
              <a:spcAft>
                <a:spcPts val="500"/>
              </a:spcAft>
              <a:buNone/>
            </a:pPr>
            <a:r>
              <a:rPr sz="1200" i="0">
                <a:solidFill>
                  <a:srgbClr val="1C2A23"/>
                </a:solidFill>
                <a:latin typeface="Arial" panose="020B0604020202020204"/>
              </a:rPr>
              <a:t>ClearGive (2026) </a:t>
            </a:r>
            <a:r>
              <a:rPr sz="1200" i="1">
                <a:solidFill>
                  <a:srgbClr val="1C2A23"/>
                </a:solidFill>
                <a:latin typeface="Arial" panose="020B0604020202020204"/>
              </a:rPr>
              <a:t>ClearGive demo</a:t>
            </a:r>
            <a:r>
              <a:rPr sz="1200" i="0">
                <a:solidFill>
                  <a:srgbClr val="1C2A23"/>
                </a:solidFill>
                <a:latin typeface="Arial" panose="020B0604020202020204"/>
              </a:rPr>
              <a:t>. Available at: https://cleargive.pages.dev/demo (Accessed: 17 October 2026).</a:t>
            </a:r>
          </a:p>
          <a:p>
            <a:pPr marL="228600" indent="-228600">
              <a:spcAft>
                <a:spcPts val="500"/>
              </a:spcAft>
              <a:buNone/>
            </a:pPr>
            <a:r>
              <a:rPr sz="1200" i="0">
                <a:solidFill>
                  <a:srgbClr val="1C2A23"/>
                </a:solidFill>
                <a:latin typeface="Arial" panose="020B0604020202020204"/>
              </a:rPr>
              <a:t>Ethereum.org (2026) </a:t>
            </a:r>
            <a:r>
              <a:rPr sz="1200" i="1">
                <a:solidFill>
                  <a:srgbClr val="1C2A23"/>
                </a:solidFill>
                <a:latin typeface="Arial" panose="020B0604020202020204"/>
              </a:rPr>
              <a:t>Ethereum gas and fees: technical overview</a:t>
            </a:r>
            <a:r>
              <a:rPr sz="1200" i="0">
                <a:solidFill>
                  <a:srgbClr val="1C2A23"/>
                </a:solidFill>
                <a:latin typeface="Arial" panose="020B0604020202020204"/>
              </a:rPr>
              <a:t>. Available at: https://ethereum.org/en/developers/docs/gas/ (Accessed: 17 October 2026).</a:t>
            </a:r>
          </a:p>
          <a:p>
            <a:pPr marL="228600" indent="-228600">
              <a:spcAft>
                <a:spcPts val="500"/>
              </a:spcAft>
              <a:buNone/>
            </a:pPr>
            <a:r>
              <a:rPr sz="1200" i="0">
                <a:solidFill>
                  <a:srgbClr val="1C2A23"/>
                </a:solidFill>
                <a:latin typeface="Arial" panose="020B0604020202020204"/>
              </a:rPr>
              <a:t>Giving.sg (2025a) </a:t>
            </a:r>
            <a:r>
              <a:rPr sz="1200" i="1">
                <a:solidFill>
                  <a:srgbClr val="1C2A23"/>
                </a:solidFill>
                <a:latin typeface="Arial" panose="020B0604020202020204"/>
              </a:rPr>
              <a:t>Specific terms of use for donors and volunteers</a:t>
            </a:r>
            <a:r>
              <a:rPr sz="1200" i="0">
                <a:solidFill>
                  <a:srgbClr val="1C2A23"/>
                </a:solidFill>
                <a:latin typeface="Arial" panose="020B0604020202020204"/>
              </a:rPr>
              <a:t>. Available at: https://www.giving.sg/doc/policy/2 (Accessed: 17 October 2026).</a:t>
            </a:r>
          </a:p>
          <a:p>
            <a:pPr marL="228600" indent="-228600">
              <a:spcAft>
                <a:spcPts val="500"/>
              </a:spcAft>
              <a:buNone/>
            </a:pPr>
            <a:r>
              <a:rPr sz="1200" i="0">
                <a:solidFill>
                  <a:srgbClr val="1C2A23"/>
                </a:solidFill>
                <a:latin typeface="Arial" panose="020B0604020202020204"/>
              </a:rPr>
              <a:t>Giving.sg (2025b) </a:t>
            </a:r>
            <a:r>
              <a:rPr sz="1200" i="1">
                <a:solidFill>
                  <a:srgbClr val="1C2A23"/>
                </a:solidFill>
                <a:latin typeface="Arial" panose="020B0604020202020204"/>
              </a:rPr>
              <a:t>Specific terms of use for registered charities, organisations and groundups</a:t>
            </a:r>
            <a:r>
              <a:rPr sz="1200" i="0">
                <a:solidFill>
                  <a:srgbClr val="1C2A23"/>
                </a:solidFill>
                <a:latin typeface="Arial" panose="020B0604020202020204"/>
              </a:rPr>
              <a:t>. Available at: https://www.giving.sg/doc/policy/4 (Accessed: 17 October 2026).</a:t>
            </a:r>
          </a:p>
          <a:p>
            <a:pPr marL="228600" indent="-228600">
              <a:spcAft>
                <a:spcPts val="500"/>
              </a:spcAft>
              <a:buNone/>
            </a:pPr>
            <a:r>
              <a:rPr sz="1200" i="0">
                <a:solidFill>
                  <a:srgbClr val="1C2A23"/>
                </a:solidFill>
                <a:latin typeface="Arial" panose="020B0604020202020204"/>
              </a:rPr>
              <a:t>Global Market Insights (2025) </a:t>
            </a:r>
            <a:r>
              <a:rPr sz="1200" i="1">
                <a:solidFill>
                  <a:srgbClr val="1C2A23"/>
                </a:solidFill>
                <a:latin typeface="Arial" panose="020B0604020202020204"/>
              </a:rPr>
              <a:t>Non-profit crowdfunding platform market size, forecasts 2034</a:t>
            </a:r>
            <a:r>
              <a:rPr sz="1200" i="0">
                <a:solidFill>
                  <a:srgbClr val="1C2A23"/>
                </a:solidFill>
                <a:latin typeface="Arial" panose="020B0604020202020204"/>
              </a:rPr>
              <a:t> (Report GMI13303). Available at: https://www.gminsights.com/industry-analysis/non-profit-crowdfunding-platform-market (Accessed: 16 October 2026).</a:t>
            </a:r>
          </a:p>
          <a:p>
            <a:pPr marL="228600" indent="-228600">
              <a:spcAft>
                <a:spcPts val="500"/>
              </a:spcAft>
              <a:buNone/>
            </a:pPr>
            <a:r>
              <a:rPr sz="1200" i="0">
                <a:solidFill>
                  <a:srgbClr val="1C2A23"/>
                </a:solidFill>
                <a:latin typeface="Arial" panose="020B0604020202020204"/>
              </a:rPr>
              <a:t>GoFundMe (2026a) </a:t>
            </a:r>
            <a:r>
              <a:rPr sz="1200" i="1">
                <a:solidFill>
                  <a:srgbClr val="1C2A23"/>
                </a:solidFill>
                <a:latin typeface="Arial" panose="020B0604020202020204"/>
              </a:rPr>
              <a:t>Bank transfer deadlines</a:t>
            </a:r>
            <a:r>
              <a:rPr sz="1200" i="0">
                <a:solidFill>
                  <a:srgbClr val="1C2A23"/>
                </a:solidFill>
                <a:latin typeface="Arial" panose="020B0604020202020204"/>
              </a:rPr>
              <a:t>. Available at: https://support.gofundme.com/hc/en-us/articles/204119238 (Accessed: 17 October 2026).</a:t>
            </a:r>
          </a:p>
        </p:txBody>
      </p:sp>
      <p:sp>
        <p:nvSpPr>
          <p:cNvPr id="9" name="Text 7"/>
          <p:cNvSpPr txBox="1"/>
          <p:nvPr/>
        </p:nvSpPr>
        <p:spPr>
          <a:xfrm>
            <a:off x="6217920" y="1645920"/>
            <a:ext cx="5440680" cy="4572000"/>
          </a:xfrm>
          <a:prstGeom prst="rect">
            <a:avLst/>
          </a:prstGeom>
          <a:noFill/>
        </p:spPr>
        <p:txBody>
          <a:bodyPr wrap="square" lIns="0" tIns="0" rIns="0" bIns="0" rtlCol="0" anchor="t"/>
          <a:lstStyle/>
          <a:p>
            <a:pPr marL="228600" indent="-228600">
              <a:spcAft>
                <a:spcPts val="500"/>
              </a:spcAft>
              <a:buNone/>
            </a:pPr>
            <a:r>
              <a:rPr sz="1200" i="0">
                <a:solidFill>
                  <a:srgbClr val="1C2A23"/>
                </a:solidFill>
                <a:latin typeface="Arial" panose="020B0604020202020204"/>
              </a:rPr>
              <a:t>GoFundMe (2026b) </a:t>
            </a:r>
            <a:r>
              <a:rPr sz="1200" i="1">
                <a:solidFill>
                  <a:srgbClr val="1C2A23"/>
                </a:solidFill>
                <a:latin typeface="Arial" panose="020B0604020202020204"/>
              </a:rPr>
              <a:t>Donor protection: the GoFundMe Giving Guarantee</a:t>
            </a:r>
            <a:r>
              <a:rPr sz="1200" i="0">
                <a:solidFill>
                  <a:srgbClr val="1C2A23"/>
                </a:solidFill>
                <a:latin typeface="Arial" panose="020B0604020202020204"/>
              </a:rPr>
              <a:t>. Available at: https://support.gofundme.com/hc/en-us/articles/203604704 (Accessed: 17 October 2026).</a:t>
            </a:r>
            <a:endParaRPr lang="en-US" sz="1500" dirty="0"/>
          </a:p>
          <a:p>
            <a:pPr marL="228600" indent="-228600">
              <a:spcAft>
                <a:spcPts val="500"/>
              </a:spcAft>
              <a:buNone/>
            </a:pPr>
            <a:r>
              <a:rPr sz="1200" i="0">
                <a:solidFill>
                  <a:srgbClr val="1C2A23"/>
                </a:solidFill>
                <a:latin typeface="Arial" panose="020B0604020202020204"/>
              </a:rPr>
              <a:t>National Volunteer &amp; Philanthropy Centre (2024) </a:t>
            </a:r>
            <a:r>
              <a:rPr sz="1200" i="1">
                <a:solidFill>
                  <a:srgbClr val="1C2A23"/>
                </a:solidFill>
                <a:latin typeface="Arial" panose="020B0604020202020204"/>
              </a:rPr>
              <a:t>Giving in Singapore remains resilient, according to NVPC’s National Giving Study 2023</a:t>
            </a:r>
            <a:r>
              <a:rPr sz="1200" i="0">
                <a:solidFill>
                  <a:srgbClr val="1C2A23"/>
                </a:solidFill>
                <a:latin typeface="Arial" panose="020B0604020202020204"/>
              </a:rPr>
              <a:t>, 12 June. Available at: https://nvpc.org.sg/newsroom/national-giving-study-2023/ (Accessed: 16 October 2026).</a:t>
            </a:r>
          </a:p>
          <a:p>
            <a:pPr marL="228600" indent="-228600">
              <a:spcAft>
                <a:spcPts val="500"/>
              </a:spcAft>
              <a:buNone/>
            </a:pPr>
            <a:r>
              <a:rPr sz="1200" i="0">
                <a:solidFill>
                  <a:srgbClr val="1C2A23"/>
                </a:solidFill>
                <a:latin typeface="Arial" panose="020B0604020202020204"/>
              </a:rPr>
              <a:t>Office of the Commissioner of Charities (2026) </a:t>
            </a:r>
            <a:r>
              <a:rPr sz="1200" i="1">
                <a:solidFill>
                  <a:srgbClr val="1C2A23"/>
                </a:solidFill>
                <a:latin typeface="Arial" panose="020B0604020202020204"/>
              </a:rPr>
              <a:t>Commissioner of Charities annual report 2024</a:t>
            </a:r>
            <a:r>
              <a:rPr sz="1200" i="0">
                <a:solidFill>
                  <a:srgbClr val="1C2A23"/>
                </a:solidFill>
                <a:latin typeface="Arial" panose="020B0604020202020204"/>
              </a:rPr>
              <a:t>. Singapore: Ministry of Culture, Community and Youth. Available at: https://www.charities.gov.sg (Accessed: 16 October 2026).</a:t>
            </a:r>
          </a:p>
          <a:p>
            <a:pPr marL="228600" indent="-228600">
              <a:spcAft>
                <a:spcPts val="500"/>
              </a:spcAft>
              <a:buNone/>
            </a:pPr>
            <a:r>
              <a:rPr sz="1200" i="0">
                <a:solidFill>
                  <a:srgbClr val="1C2A23"/>
                </a:solidFill>
                <a:latin typeface="Arial" panose="020B0604020202020204"/>
              </a:rPr>
              <a:t>The Giving Block (2021) </a:t>
            </a:r>
            <a:r>
              <a:rPr sz="1200" i="1">
                <a:solidFill>
                  <a:srgbClr val="1C2A23"/>
                </a:solidFill>
                <a:latin typeface="Arial" panose="020B0604020202020204"/>
              </a:rPr>
              <a:t>How to accept Bitcoin donations</a:t>
            </a:r>
            <a:r>
              <a:rPr sz="1200" i="0">
                <a:solidFill>
                  <a:srgbClr val="1C2A23"/>
                </a:solidFill>
                <a:latin typeface="Arial" panose="020B0604020202020204"/>
              </a:rPr>
              <a:t>. Available at: https://thegivingblock.com/resources/accept-bitcoin-donations (Accessed: 17 October 2026).</a:t>
            </a:r>
          </a:p>
          <a:p>
            <a:pPr marL="228600" indent="-228600">
              <a:spcAft>
                <a:spcPts val="500"/>
              </a:spcAft>
              <a:buNone/>
            </a:pPr>
            <a:r>
              <a:rPr sz="1200" i="0">
                <a:solidFill>
                  <a:srgbClr val="1C2A23"/>
                </a:solidFill>
                <a:latin typeface="Arial" panose="020B0604020202020204"/>
              </a:rPr>
              <a:t>The Giving Block (n.d.) </a:t>
            </a:r>
            <a:r>
              <a:rPr sz="1200" i="1">
                <a:solidFill>
                  <a:srgbClr val="1C2A23"/>
                </a:solidFill>
                <a:latin typeface="Arial" panose="020B0604020202020204"/>
              </a:rPr>
              <a:t>What is The Giving Block’s donation refund policy?</a:t>
            </a:r>
            <a:r>
              <a:rPr sz="1200" i="0">
                <a:solidFill>
                  <a:srgbClr val="1C2A23"/>
                </a:solidFill>
                <a:latin typeface="Arial" panose="020B0604020202020204"/>
              </a:rPr>
              <a:t> Available at: https://faq.thegivingblock.com (Accessed: 17 October 2026).</a:t>
            </a:r>
          </a:p>
          <a:p>
            <a:pPr marL="228600" indent="-228600">
              <a:spcAft>
                <a:spcPts val="500"/>
              </a:spcAft>
              <a:buNone/>
            </a:pPr>
            <a:r>
              <a:rPr sz="1200" i="0">
                <a:solidFill>
                  <a:srgbClr val="1C2A23"/>
                </a:solidFill>
                <a:latin typeface="Arial" panose="020B0604020202020204"/>
              </a:rPr>
              <a:t>Wüst, K. and Gervais, A. (2018) ‘Do you need a blockchain?’, </a:t>
            </a:r>
            <a:r>
              <a:rPr sz="1200" i="1">
                <a:solidFill>
                  <a:srgbClr val="1C2A23"/>
                </a:solidFill>
                <a:latin typeface="Arial" panose="020B0604020202020204"/>
              </a:rPr>
              <a:t>2018 Crypto Valley Conference on Blockchain Technology (CVCBT)</a:t>
            </a:r>
            <a:r>
              <a:rPr sz="1200" i="0">
                <a:solidFill>
                  <a:srgbClr val="1C2A23"/>
                </a:solidFill>
                <a:latin typeface="Arial" panose="020B0604020202020204"/>
              </a:rPr>
              <a:t>. Zug, Switzerland, 20–22 June. IEEE, pp. 45–54. doi: 10.1109/CVCBT.2018.00011.</a:t>
            </a:r>
          </a:p>
        </p:txBody>
      </p:sp>
      <p:sp>
        <p:nvSpPr>
          <p:cNvPr id="25" name="Slide Number Placeholder 0"/>
          <p:cNvSpPr>
            <a:spLocks noGrp="1"/>
          </p:cNvSpPr>
          <p:nvPr>
            <p:ph type="sldNum" sz="quarter" idx="4294967295"/>
          </p:nvPr>
        </p:nvSpPr>
        <p:spPr>
          <a:xfrm>
            <a:off x="11292840" y="6400800"/>
            <a:ext cx="457200" cy="274320"/>
          </a:xfrm>
          <a:prstGeom prst="rect">
            <a:avLst/>
          </a:prstGeom>
        </p:spPr>
        <p:txBody>
          <a:bodyPr/>
          <a:lstStyle>
            <a:lvl1pPr>
              <a:defRPr sz="1100">
                <a:solidFill>
                  <a:srgbClr val="45624F"/>
                </a:solidFill>
                <a:latin typeface="Arial" panose="020B0604020202020204"/>
                <a:ea typeface="Arial" panose="020B0604020202020204"/>
                <a:cs typeface="Arial" panose="020B0604020202020204"/>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edia/image.pn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85800" y="2514600"/>
            <a:ext cx="5943600" cy="1097280"/>
          </a:xfrm>
          <a:prstGeom prst="rect">
            <a:avLst/>
          </a:prstGeom>
          <a:noFill/>
        </p:spPr>
        <p:txBody>
          <a:bodyPr wrap="square" lIns="0" tIns="0" rIns="0" bIns="0" rtlCol="0" anchor="ctr"/>
          <a:lstStyle/>
          <a:p>
            <a:pPr marL="0" indent="0">
              <a:buNone/>
            </a:pPr>
            <a:r>
              <a:rPr lang="en-US" sz="6400" b="1" dirty="0">
                <a:solidFill>
                  <a:srgbClr val="174D3A"/>
                </a:solidFill>
                <a:latin typeface="Arial" panose="020B0604020202020204" pitchFamily="34" charset="0"/>
                <a:ea typeface="Arial" panose="020B0604020202020204" pitchFamily="34" charset="-122"/>
                <a:cs typeface="Arial" panose="020B0604020202020204" pitchFamily="34" charset="-120"/>
              </a:rPr>
              <a:t>Thank you</a:t>
            </a:r>
            <a:endParaRPr lang="en-US" sz="6400" dirty="0"/>
          </a:p>
        </p:txBody>
      </p:sp>
      <p:sp>
        <p:nvSpPr>
          <p:cNvPr id="4" name="Text 1"/>
          <p:cNvSpPr txBox="1"/>
          <p:nvPr/>
        </p:nvSpPr>
        <p:spPr>
          <a:xfrm>
            <a:off x="713232" y="3611880"/>
            <a:ext cx="5486400" cy="457200"/>
          </a:xfrm>
          <a:prstGeom prst="rect">
            <a:avLst/>
          </a:prstGeom>
          <a:noFill/>
        </p:spPr>
        <p:txBody>
          <a:bodyPr wrap="square" lIns="0" tIns="0" rIns="0" bIns="0" rtlCol="0" anchor="ctr"/>
          <a:lstStyle/>
          <a:p>
            <a:pPr marL="0" indent="0">
              <a:buNone/>
            </a:pPr>
            <a:r>
              <a:rPr lang="en-US" sz="2200" dirty="0">
                <a:solidFill>
                  <a:srgbClr val="2B8060"/>
                </a:solidFill>
                <a:latin typeface="Arial" panose="020B0604020202020204" pitchFamily="34" charset="0"/>
                <a:ea typeface="Arial" panose="020B0604020202020204" pitchFamily="34" charset="-122"/>
                <a:cs typeface="Arial" panose="020B0604020202020204" pitchFamily="34" charset="-120"/>
              </a:rPr>
              <a:t>cleargive.pages.dev/demo</a:t>
            </a:r>
            <a:endParaRPr lang="en-US" sz="2200" dirty="0"/>
          </a:p>
        </p:txBody>
      </p:sp>
    </p:spTree>
  </p:cSld>
  <p:clrMapOvr>
    <a:masterClrMapping/>
  </p:clrMapOvr>
</p:sld>
</file>

<file path=ppt/theme/theme1.xml><?xml version="1.0" encoding="utf-8"?>
<a:theme xmlns:a="http://schemas.openxmlformats.org/drawingml/2006/main" name="ClearGive Green">
  <a:themeElements>
    <a:clrScheme name="ClearGive Green">
      <a:dk1>
        <a:srgbClr val="1C2A23"/>
      </a:dk1>
      <a:lt1>
        <a:srgbClr val="FFFFFF"/>
      </a:lt1>
      <a:dk2>
        <a:srgbClr val="174D3A"/>
      </a:dk2>
      <a:lt2>
        <a:srgbClr val="DDEFE2"/>
      </a:lt2>
      <a:accent1>
        <a:srgbClr val="2B8060"/>
      </a:accent1>
      <a:accent2>
        <a:srgbClr val="9A4A22"/>
      </a:accent2>
      <a:accent3>
        <a:srgbClr val="A6C8B1"/>
      </a:accent3>
      <a:accent4>
        <a:srgbClr val="6FA98A"/>
      </a:accent4>
      <a:accent5>
        <a:srgbClr val="C98B5E"/>
      </a:accent5>
      <a:accent6>
        <a:srgbClr val="527160"/>
      </a:accent6>
      <a:hlink>
        <a:srgbClr val="2B8060"/>
      </a:hlink>
      <a:folHlink>
        <a:srgbClr val="45624F"/>
      </a:folHlink>
    </a:clrScheme>
    <a:fontScheme name="ClearGive Gree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6925</Words>
  <Application>Microsoft Office PowerPoint</Application>
  <PresentationFormat>Widescreen</PresentationFormat>
  <Paragraphs>536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ClearGive Green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ClearGive</dc:title>
  <dc:subject>PptxGenJS Presentation</dc:subject>
  <dc:creator>ClearGive project team</dc:creator>
  <cp:lastModifiedBy>ClearGive Project Team</cp:lastModifiedBy>
  <cp:revision>6</cp:revision>
  <dcterms:created xsi:type="dcterms:W3CDTF">2026-10-17T07:33:00Z</dcterms:created>
  <dcterms:modified xsi:type="dcterms:W3CDTF">2026-10-17T16:16:05Z</dcterms:modified>
</cp:coreProperties>
</file>